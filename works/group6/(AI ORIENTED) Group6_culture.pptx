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7"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143" d="100"/>
          <a:sy n="143" d="100"/>
        </p:scale>
        <p:origin x="852"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YOUR SECTION STARTS HERE.
Stand up straight, smile, take a breath before you begin.
You are Speaker 1 — you set the tone for the whole group.</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OPENING HOOK 】
Good morning, everyone. Have you ever helped a stranger — not because you had to, but because it just felt right?
That feeling has a name in Chinese philosophy. It is called 仁 — Rén. And today, we want to share why this 2,500-year-old idea still matters in our world.
---
📌 Pause after the opening question. Let the audience think for a moment before continuing.</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INTRODUCE THE TOPIC + CHARACTER BREAKDOWN 】
Our presentation today is about Rén — one of the most important ideas in Chinese civilization. Rén means benevolence. It means loving others, caring for people, and treating others the way you want to be treated. It is the heart of Confucian philosophy, and we believe it has something important to say to the world today.
Let us start with the character itself. 仁 is made of two parts: 人, which means 'person,' and 二, which means 'two.' Together they mean: two people. This tells us something very important right away — Rén is not about being alone. It is always about the relationship between people.
---
📌 Point to the character on screen when you explain 人 + 二. Use your hand to gesture — it helps the audience follow.</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CONFUCIUS 】
Confucius, who lived around 551 BCE, spoke about Rén more than any other idea. He gave us three key teachings.
First: 爱人 — 'Love others.' This is the simplest and most powerful definition of Rén.
Second: 己所不欲，勿施于人 — 'Do not do to others what you do not want done to yourself.' This is the Confucian Golden Rule — and it sounds almost exactly like ideas in Christianity, Islam, and Buddhism.
Third: 克己复礼为仁 — Rén is not just a feeling. It must be shown in your actions every day. Self-discipline and proper conduct are part of it.
---
📌 Read each Chinese phrase aloud slowly — the audience does not need to understand it, but hearing it makes it feel real and authoritative.</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MENCIUS 】
After Confucius, a philosopher named Mencius added something important. He said: 'The feeling of compassion is the beginning of Rén.'
He believed that every human being is born with natural kindness. When you see someone fall and you feel worried for them — that is your Rén. You do not need to learn it. You just need to let it grow.
So Rén is not some distant ideal. It is already inside you. Right now. The question is just whether you choose to let it guide your actions.
---
📌 Speak this section warmly and personally — it should feel like you are talking directly to each person in the audience, not reading from a script.</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TRANSITION TO SPEAKER 2 】
So now we know what Rén means and where it comes from. But how did this idea travel through history? How did it spread beyond China?
My teammate will tell you next.
---
📌 Smile and make eye contact with Speaker 2 as you hand over. Take a small step back — physically signal the handover to the audience.
📌 YOUR PART IS DONE — well done! Stay attentive while your teammates speak.</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SPEAKER 2 — YOUR SECTION STARTS HERE.
Wait for Speaker 1 to finish and step back, then step forward and begin.</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RÉN IN ANCIENT GOVERNANCE 】
Thank you. As we just heard, Rén is a powerful idea. But it did not stay in books — it shaped how China was actually governed for thousands of years. Chinese rulers were expected to practice 仁政, which means 'benevolent rule.' A good emperor must love his people, reduce their suffering, and make fair decisions.
A real example: during the Han Dynasty, Emperor Wen reduced taxes and helped poor farmers. He put the wellbeing of ordinary people first. During the Song Dynasty, Emperor Renzong — whose name literally means 'Benevolent Emperor' — was remembered as one of China's kindest rulers. These are not just stories. They show that Rén was a real standard for leadership.
---
📌 Say 'These are not just stories' with emphasis — it signals to the audience that you are connecting history to real life.</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THE SILK ROAD 】
Rén did not stay inside China. It traveled. Along the ancient Silk Road — the trade routes connecting China to Central Asia, the Middle East, and Europe — merchants, monks, and scholars carried ideas with them.
Buddhist monks traveling between India and China brought the concept of karuṇā, which means compassion in Sanskrit. When Buddhism entered China, it blended with Confucian Rén. Both traditions said the same thing in different words: care for all living beings.
---
📌 Use the flow diagram on screen — trace the route from left to right as you speak. Help the audience visualise the journey.</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SPREAD TO EAST ASIA 】
Rén also spread to neighboring countries. In Japan, it became 仁 (Jin) — part of the samurai code of Bushido. A warrior must show compassion, not just strength. In Korea, it became 인 (In) — used to test government officials in exams. In Vietnam, it shaped how rulers were judged. A good leader must love the people. The whole East Asian region was touched by this idea.
---
📌 Point to each country flag as you mention it. Keep this section brisk — one sentence per country, then move on.</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TRANSITION TO SPEAKER 3 】
So Rén has a long history inside and outside China. But how does it compare to similar ideas in other civilizations around the world? My teammate will explore that next.
---
📌 Pause briefly before the transition — it signals a new section to the audience.
📌 YOUR PART IS DONE — well done! Stay attentive while your teammates speak.</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SPEAKER 3 — YOUR SECTION STARTS HERE.
Step forward after Speaker 2. Use a warm, inviting tone — this section should feel inspiring and global.</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OPENING — CROSS-CULTURAL OVERVIEW 】
Thank you. One of the most fascinating things about Rén is that every major civilization seems to have its own version of this idea. Different names, different traditions — but the same core message: care for others. Let me take you on a quick journey around the world.
---
📌 Gesture to the four boxes on screen as you name each civilization. Keep this brief — the detail comes on the next two slides.</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ANCIENT GREECE — PHILIA 】
In ancient Greece, the philosopher Aristotle wrote about philia — a word often translated as friendship or love. He said true philia means genuinely wishing good things for another person, not because it benefits you, but because you care about them. Sound familiar? Both Rén and philia say that real human connection means putting others first.
【 CHRISTIANITY — AGAPE 】
In Christianity, the concept of agape means unconditional love — not just for family and friends, but for strangers and even enemies. Jesus taught: 'Love your neighbor as yourself.' This is strikingly similar to Confucius saying 'Love others' and 'Do not do to others what you do not want done to yourself.' Both traditions say love must go beyond the people we already know.
---
📌 Emphasise the '↔ Like Rén' lines — they are the key connection points. Say them clearly and slowly.</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ISLAM — RAHMAH 】
In Islam, rahmah means mercy and compassion. It is one of Allah's most important qualities, and Muslims are called to mirror this in how they treat others. The Prophet Muhammad said: 'Have mercy on those on earth, and the One in heaven will have mercy on you.' Again, we see the same pattern: compassion is not a weakness — it is a moral duty.
【 BUDDHISM — KARUṆĀ 】
In Buddhism, karuṇā means compassion for all suffering beings — not just humans, but animals and all living things. This is very close to the Neo-Confucian idea that Rén extends to all of nature. Both traditions say our care should have no boundaries.
---
📌 The quote from the Prophet is powerful — say it slowly. Let it land before moving on to Buddhism.</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WHAT MAKES RÉN UNIQUE? 】
These traditions are all similar — but Rén has one special quality. It grows in steps. You start with your family, then your friends, then your community, then all people, then all living things. It is not an abstract command to love everyone at once. It is a practical path that anyone can follow, starting right where you are.
【 TRANSITION TO SPEAKER 4 】
So Rén is not just a Chinese idea — it is a universal human value. But what does it mean for our lives today? My teammate will show you.
---
📌 Use a warm, inviting tone for the transition — leave the audience curious and ready.
📌 YOUR PART IS DONE — well done!</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SPEAKER 4 — YOUR SECTION STARTS HERE.
Thank you. My teammates have shown us that Rén is a profound philosophical idea, shared across many civilizations. Now I want to bring it into the present — into real policies, real crises, and real choices that people and governments face today.
Our question is this: what does Rén look like when it is actually put into practice? And what can it offer to the world's most urgent problems?
---
📌 Step forward confidently. Your section is the most contemporary and original — own it.</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Let me start with something small and close to our life. On our university campuses , students voluntarily feed stray cats, build shelters for them, take them to the vet, and — before graduating — carefully arrange for someone else to take over the responsibility. Nobody asks them to do any of this.</a:t>
            </a:r>
            <a:endParaRPr lang="en-US" dirty="0"/>
          </a:p>
          <a:p>
            <a:endParaRPr lang="en-US" dirty="0"/>
          </a:p>
          <a:p>
            <a:r>
              <a:rPr lang="en-US" dirty="0"/>
              <a:t>This might seem like a small thing. But look more closely. These students show self-restraint — they feed the cats scientifically, not carelessly. They show consideration — they think about how other people nearby might feel. And they show long-term responsibility — they do not abandon the cats when it becomes inconvenient.</a:t>
            </a:r>
            <a:endParaRPr lang="en-US" dirty="0"/>
          </a:p>
          <a:p>
            <a:endParaRPr lang="en-US" dirty="0"/>
          </a:p>
          <a:p>
            <a:r>
              <a:rPr lang="en-US" dirty="0"/>
              <a:t>This brings up an important question: does Rén only exist between humans? it said that the feeling of compassion — the instinct to care — is the beginning of Rén. That feeling extends naturally to all living things. The classical thinker Zhang Zai put it beautifully:  'All people are my siblings; all things are my companions.' Rén begins with people, but it does not end there.</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My second case is harder to look at, but I think it is the most powerful. Since June 2025, Russia has transferred over 12,000 bodies of Ukrainian soldiers back to Ukraine. The most recent exchange, in April 2026, returned 1,000 Russian remains in exchange for 41 Ukrainian ones. The ratio was deeply unequal — but both sides agreed.</a:t>
            </a:r>
            <a:endParaRPr lang="en-US" dirty="0"/>
          </a:p>
          <a:p>
            <a:endParaRPr lang="en-US" dirty="0"/>
          </a:p>
          <a:p>
            <a:r>
              <a:rPr lang="en-US" dirty="0"/>
              <a:t>Why? Not for military advantage. Not for political gain. The only purpose was to allow families on both sides to bury their loved ones.</a:t>
            </a:r>
            <a:endParaRPr lang="en-US" dirty="0"/>
          </a:p>
          <a:p>
            <a:endParaRPr lang="en-US" dirty="0"/>
          </a:p>
          <a:p>
            <a:r>
              <a:rPr lang="en-US" dirty="0"/>
              <a:t>In the middle of one of the most brutal conflicts of our time, both sides found a way to remember something: the enemy soldier is also a son, a father, a husband. His family's grief is no different from ours. There is a moral floor below which we must not fall — even in war. This exchange holds that floor.</a:t>
            </a:r>
            <a:endParaRPr lang="en-US" dirty="0"/>
          </a:p>
          <a:p>
            <a:endParaRPr lang="en-US" dirty="0"/>
          </a:p>
          <a:p>
            <a:r>
              <a:rPr lang="en-US" dirty="0"/>
              <a:t>it said that :  Do not do to others what you do not want done to yourself. Even in armed conflict, something of Rén survives. This is its most radical claim: that our shared humanity cannot be entirely destroyed, even by hatred.</a:t>
            </a:r>
            <a:endParaRPr lang="en-US" dirty="0"/>
          </a:p>
          <a:p>
            <a:endParaRPr lang="en-US" dirty="0"/>
          </a:p>
          <a:p>
            <a:r>
              <a:rPr lang="en-US" dirty="0"/>
              <a:t>-</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FROM INTEREST POLITICS TO SHARED RESPONSIBILITY 】
This brings me to my original argument. Current global governance is largely built around a politics of interests — states asserting their rights, competing for advantage, building coalitions against rivals. What Rén offers is a different grammar: a politics of responsibility.
The principle of 忠恕之道 — reciprocity and empathy — is not a Chinese rule. It is the minimum moral grammar that every civilization shares. It could serve as the ethical foundation of global governance.
Practically, this means: international institutions should not only protect rights. They should assess obligations. I propose a 'Global Policy Externality Assessment Mechanism' — a way to quantify how one country's decisions impact the poorest people in other nations. Make the invisible visible. Make the consequences count.
City diplomacy and civil society networks should also become supplementary channels for global governance — connecting people across borders at a human level.
---
📌 'Politics of responsibility' is your key phrase — say it slowly and clearly the first time you use it.</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ORIGINAL ARGUMENT — EMPATHIC GLOBAL DEVELOPMENT 】
Solving global crises requires not only technical solutions, but decision-makers with the ability to 能近取譬 — to reason from nearby experience to distant suffering.
Three proposals:
1. Global Policy Externality Assessment — Establish a mechanism to quantify how one country's domestic and foreign decisions impact the poorest people in other nations. Make the invisible visible. Make the consequences count.
2. City Diplomacy &amp; Civic Empathy — Urban networks and civil society should become supplementary channels for global governance, connecting people across borders at a human level.
3. Restore sensitivity to distant suffering — Leaders must cultivate the capacity to feel what others feel across borders. Rén is not a foreign policy strategy — it is a precondition for any genuine strategy.
---
📌 These are YOUR original ideas — say them with confidence. You are not just summarising history, you are making an argument.</a:t>
            </a:r>
            <a:endParaRPr lang="en-US"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p:nvPr>
            <p:ph type="sldImg"/>
          </p:nvPr>
        </p:nvSpPr>
        <p:spPr/>
      </p:sp>
      <p:sp>
        <p:nvSpPr>
          <p:cNvPr id="3" name="Notes Placeholder 2"/>
          <p:cNvSpPr/>
          <p:nvPr>
            <p:ph type="body" idx="1"/>
          </p:nvPr>
        </p:nvSpPr>
        <p:spPr/>
        <p:txBody>
          <a:bodyPr/>
          <a:lstStyle/>
          <a:p>
            <a:r>
              <a:rPr lang="en-US" dirty="0"/>
              <a:t>To close, let me return to one sentence that captures everything we have discussed today.</a:t>
            </a:r>
            <a:endParaRPr lang="en-US" dirty="0"/>
          </a:p>
          <a:p>
            <a:endParaRPr lang="en-US" dirty="0"/>
          </a:p>
          <a:p>
            <a:r>
              <a:rPr lang="en-US" dirty="0"/>
              <a:t>From campus to community — Rén is the hand that institutions extend.</a:t>
            </a:r>
            <a:endParaRPr lang="en-US" dirty="0"/>
          </a:p>
          <a:p>
            <a:endParaRPr lang="en-US" dirty="0"/>
          </a:p>
          <a:p>
            <a:r>
              <a:rPr lang="en-US" dirty="0"/>
              <a:t>From national borders to the global — Rén is the moral floor that survives even in war.</a:t>
            </a:r>
            <a:endParaRPr lang="en-US" dirty="0"/>
          </a:p>
          <a:p>
            <a:endParaRPr lang="en-US" dirty="0"/>
          </a:p>
          <a:p>
            <a:r>
              <a:rPr lang="en-US" dirty="0"/>
              <a:t>Across species — Rén begins with people, but it does not end there.</a:t>
            </a:r>
            <a:endParaRPr lang="en-US" dirty="0"/>
          </a:p>
          <a:p>
            <a:endParaRPr lang="en-US" dirty="0"/>
          </a:p>
          <a:p>
            <a:r>
              <a:rPr lang="en-US" dirty="0"/>
              <a:t>The Chinese character </a:t>
            </a:r>
            <a:r>
              <a:rPr lang="zh-CN" altLang="en-US" dirty="0"/>
              <a:t>仁</a:t>
            </a:r>
            <a:r>
              <a:rPr lang="zh-CN" altLang="zh-CN" dirty="0"/>
              <a:t> shows two people standing together. That is where Rén starts. But as Zhang Zai showed us, it does not stop at two people, or at one nation, or even at one species. It keeps growing — until it reaches the whole world.</a:t>
            </a:r>
            <a:endParaRPr lang="zh-CN" altLang="zh-CN" dirty="0"/>
          </a:p>
          <a:p>
            <a:endParaRPr lang="en-US" altLang="zh-CN" dirty="0"/>
          </a:p>
          <a:p>
            <a:r>
              <a:rPr lang="en-US" altLang="zh-CN" dirty="0"/>
              <a:t>Thank you for listening. We are happy to take your questions.</a:t>
            </a:r>
            <a:endParaRPr lang="en-US" altLang="zh-CN" dirty="0"/>
          </a:p>
          <a:p>
            <a:endParaRPr lang="en-US" altLang="zh-CN" dirty="0"/>
          </a:p>
          <a:p>
            <a:r>
              <a:rPr lang="en-US" altLang="zh-CN" dirty="0"/>
              <a:t>---</a:t>
            </a:r>
            <a:endParaRPr lang="en-US" altLang="zh-CN" dirty="0"/>
          </a:p>
          <a:p>
            <a:endParaRPr lang="en-US" altLang="zh-CN" dirty="0"/>
          </a:p>
        </p:txBody>
      </p:sp>
      <p:sp>
        <p:nvSpPr>
          <p:cNvPr id="4" name="Slide Number Placeholder 3"/>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1097280" y="-822960"/>
            <a:ext cx="5303520" cy="5303520"/>
          </a:xfrm>
          <a:prstGeom prst="ellipse">
            <a:avLst/>
          </a:prstGeom>
          <a:solidFill>
            <a:srgbClr val="C0392B">
              <a:alpha val="21000"/>
            </a:srgbClr>
          </a:solidFill>
          <a:ln w="12700">
            <a:solidFill>
              <a:srgbClr val="C0392B"/>
            </a:solidFill>
            <a:prstDash val="solid"/>
          </a:ln>
        </p:spPr>
        <p:txBody>
          <a:bodyPr/>
          <a:lstStyle/>
          <a:p>
            <a:endParaRPr lang="zh-CN" altLang="en-US"/>
          </a:p>
        </p:txBody>
      </p:sp>
      <p:sp>
        <p:nvSpPr>
          <p:cNvPr id="3" name="Shape 1"/>
          <p:cNvSpPr/>
          <p:nvPr/>
        </p:nvSpPr>
        <p:spPr>
          <a:xfrm>
            <a:off x="5669280" y="1828800"/>
            <a:ext cx="4389120" cy="4389120"/>
          </a:xfrm>
          <a:prstGeom prst="ellipse">
            <a:avLst/>
          </a:prstGeom>
          <a:solidFill>
            <a:srgbClr val="7B0000">
              <a:alpha val="18000"/>
            </a:srgbClr>
          </a:solidFill>
          <a:ln w="12700">
            <a:solidFill>
              <a:srgbClr val="7B0000"/>
            </a:solidFill>
            <a:prstDash val="solid"/>
          </a:ln>
        </p:spPr>
        <p:txBody>
          <a:bodyPr/>
          <a:lstStyle/>
          <a:p>
            <a:endParaRPr lang="zh-CN" altLang="en-US"/>
          </a:p>
        </p:txBody>
      </p:sp>
      <p:sp>
        <p:nvSpPr>
          <p:cNvPr id="4" name="Shape 2"/>
          <p:cNvSpPr/>
          <p:nvPr/>
        </p:nvSpPr>
        <p:spPr>
          <a:xfrm>
            <a:off x="7315200" y="-548640"/>
            <a:ext cx="2743200" cy="2743200"/>
          </a:xfrm>
          <a:prstGeom prst="ellipse">
            <a:avLst/>
          </a:prstGeom>
          <a:solidFill>
            <a:srgbClr val="C0392B">
              <a:alpha val="14000"/>
            </a:srgbClr>
          </a:solidFill>
          <a:ln w="12700">
            <a:solidFill>
              <a:srgbClr val="C0392B"/>
            </a:solidFill>
            <a:prstDash val="solid"/>
          </a:ln>
        </p:spPr>
        <p:txBody>
          <a:bodyPr/>
          <a:lstStyle/>
          <a:p>
            <a:endParaRPr lang="zh-CN" altLang="en-US"/>
          </a:p>
        </p:txBody>
      </p:sp>
      <p:sp>
        <p:nvSpPr>
          <p:cNvPr id="5" name="Shape 3"/>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6" name="Text 4"/>
          <p:cNvSpPr/>
          <p:nvPr/>
        </p:nvSpPr>
        <p:spPr>
          <a:xfrm>
            <a:off x="182880" y="137160"/>
            <a:ext cx="3566160" cy="4663440"/>
          </a:xfrm>
          <a:prstGeom prst="rect">
            <a:avLst/>
          </a:prstGeom>
          <a:noFill/>
        </p:spPr>
        <p:txBody>
          <a:bodyPr wrap="square" lIns="0" tIns="0" rIns="0" bIns="0" rtlCol="0" anchor="ctr"/>
          <a:lstStyle/>
          <a:p>
            <a:pPr marL="0" indent="0" algn="ctr">
              <a:buNone/>
            </a:pPr>
            <a:r>
              <a:rPr lang="en-US" sz="21500" dirty="0">
                <a:solidFill>
                  <a:srgbClr val="C0392B">
                    <a:alpha val="88000"/>
                  </a:srgbClr>
                </a:solidFill>
                <a:latin typeface="Georgia" panose="02040502050405020303" pitchFamily="34" charset="0"/>
                <a:ea typeface="Georgia" panose="02040502050405020303" pitchFamily="34" charset="0"/>
                <a:cs typeface="Georgia" panose="02040502050405020303" pitchFamily="34" charset="0"/>
              </a:rPr>
              <a:t>仁</a:t>
            </a:r>
            <a:endParaRPr lang="en-US" sz="21500" dirty="0"/>
          </a:p>
        </p:txBody>
      </p:sp>
      <p:sp>
        <p:nvSpPr>
          <p:cNvPr id="7" name="Text 5"/>
          <p:cNvSpPr/>
          <p:nvPr/>
        </p:nvSpPr>
        <p:spPr>
          <a:xfrm>
            <a:off x="3657600" y="777240"/>
            <a:ext cx="5212080" cy="960120"/>
          </a:xfrm>
          <a:prstGeom prst="rect">
            <a:avLst/>
          </a:prstGeom>
          <a:noFill/>
        </p:spPr>
        <p:txBody>
          <a:bodyPr wrap="square" lIns="0" tIns="0" rIns="0" bIns="0" rtlCol="0" anchor="ctr"/>
          <a:lstStyle/>
          <a:p>
            <a:pPr marL="0" indent="0" algn="l">
              <a:buNone/>
            </a:pPr>
            <a:r>
              <a:rPr lang="en-US" sz="7600" b="1" kern="0" spc="1400" dirty="0">
                <a:solidFill>
                  <a:srgbClr val="FFFFFF"/>
                </a:solidFill>
                <a:latin typeface="Georgia" panose="02040502050405020303" pitchFamily="34" charset="0"/>
                <a:ea typeface="Georgia" panose="02040502050405020303" pitchFamily="34" charset="0"/>
                <a:cs typeface="Georgia" panose="02040502050405020303" pitchFamily="34" charset="0"/>
              </a:rPr>
              <a:t>RÉN </a:t>
            </a:r>
            <a:endParaRPr lang="en-US" sz="7600" dirty="0"/>
          </a:p>
        </p:txBody>
      </p:sp>
      <p:sp>
        <p:nvSpPr>
          <p:cNvPr id="8" name="Text 6"/>
          <p:cNvSpPr/>
          <p:nvPr/>
        </p:nvSpPr>
        <p:spPr>
          <a:xfrm>
            <a:off x="3657600" y="1828800"/>
            <a:ext cx="5212080" cy="475488"/>
          </a:xfrm>
          <a:prstGeom prst="rect">
            <a:avLst/>
          </a:prstGeom>
          <a:noFill/>
        </p:spPr>
        <p:txBody>
          <a:bodyPr wrap="square" lIns="0" tIns="0" rIns="0" bIns="0" rtlCol="0" anchor="ctr"/>
          <a:lstStyle/>
          <a:p>
            <a:pPr marL="0" indent="0" algn="l">
              <a:buNone/>
            </a:pPr>
            <a:r>
              <a:rPr lang="en-US" sz="2000" i="1" dirty="0">
                <a:solidFill>
                  <a:srgbClr val="C9A84C"/>
                </a:solidFill>
                <a:latin typeface="Calibri" panose="020F0502020204030204" pitchFamily="34" charset="0"/>
                <a:ea typeface="Calibri" panose="020F0502020204030204" pitchFamily="34" charset="0"/>
                <a:cs typeface="Calibri" panose="020F0502020204030204" pitchFamily="34" charset="0"/>
              </a:rPr>
              <a:t>The Heart of Chinese Civilization</a:t>
            </a:r>
            <a:endParaRPr lang="en-US" sz="2000" dirty="0"/>
          </a:p>
        </p:txBody>
      </p:sp>
      <p:sp>
        <p:nvSpPr>
          <p:cNvPr id="9" name="Shape 7"/>
          <p:cNvSpPr/>
          <p:nvPr/>
        </p:nvSpPr>
        <p:spPr>
          <a:xfrm>
            <a:off x="3657600" y="2395728"/>
            <a:ext cx="5029200" cy="0"/>
          </a:xfrm>
          <a:prstGeom prst="line">
            <a:avLst/>
          </a:prstGeom>
          <a:noFill/>
          <a:ln w="19050">
            <a:solidFill>
              <a:srgbClr val="C0392B"/>
            </a:solidFill>
            <a:prstDash val="solid"/>
          </a:ln>
        </p:spPr>
        <p:txBody>
          <a:bodyPr/>
          <a:lstStyle/>
          <a:p>
            <a:endParaRPr lang="zh-CN" altLang="en-US"/>
          </a:p>
        </p:txBody>
      </p:sp>
      <p:sp>
        <p:nvSpPr>
          <p:cNvPr id="10" name="Text 8"/>
          <p:cNvSpPr/>
          <p:nvPr/>
        </p:nvSpPr>
        <p:spPr>
          <a:xfrm>
            <a:off x="3657600" y="2523744"/>
            <a:ext cx="5212080" cy="347472"/>
          </a:xfrm>
          <a:prstGeom prst="rect">
            <a:avLst/>
          </a:prstGeom>
          <a:noFill/>
        </p:spPr>
        <p:txBody>
          <a:bodyPr wrap="square" lIns="0" tIns="0" rIns="0" bIns="0" rtlCol="0" anchor="ctr"/>
          <a:lstStyle/>
          <a:p>
            <a:pPr marL="0" indent="0" algn="l">
              <a:buNone/>
            </a:pPr>
            <a:r>
              <a:rPr lang="en-US" sz="1200" dirty="0">
                <a:solidFill>
                  <a:srgbClr val="D0B090"/>
                </a:solidFill>
                <a:latin typeface="Calibri" panose="020F0502020204030204" pitchFamily="34" charset="0"/>
                <a:ea typeface="Calibri" panose="020F0502020204030204" pitchFamily="34" charset="0"/>
                <a:cs typeface="Calibri" panose="020F0502020204030204" pitchFamily="34" charset="0"/>
              </a:rPr>
              <a:t>Benevolence  ·  Compassion  ·  Human Connection</a:t>
            </a:r>
            <a:endParaRPr lang="en-US" sz="1200" dirty="0"/>
          </a:p>
        </p:txBody>
      </p:sp>
      <p:sp>
        <p:nvSpPr>
          <p:cNvPr id="11" name="Text 9"/>
          <p:cNvSpPr/>
          <p:nvPr/>
        </p:nvSpPr>
        <p:spPr>
          <a:xfrm>
            <a:off x="3657600" y="4114800"/>
            <a:ext cx="5212080" cy="329184"/>
          </a:xfrm>
          <a:prstGeom prst="rect">
            <a:avLst/>
          </a:prstGeom>
          <a:noFill/>
        </p:spPr>
        <p:txBody>
          <a:bodyPr wrap="square" lIns="0" tIns="0" rIns="0" bIns="0" rtlCol="0" anchor="ctr"/>
          <a:lstStyle/>
          <a:p>
            <a:pPr marL="0" indent="0" algn="l">
              <a:buNone/>
            </a:pPr>
            <a:r>
              <a:rPr lang="en-US" sz="1100" dirty="0">
                <a:solidFill>
                  <a:srgbClr val="7F8C8D"/>
                </a:solidFill>
                <a:latin typeface="Calibri" panose="020F0502020204030204" pitchFamily="34" charset="0"/>
                <a:ea typeface="Calibri" panose="020F0502020204030204" pitchFamily="34" charset="0"/>
                <a:cs typeface="Calibri" panose="020F0502020204030204" pitchFamily="34" charset="0"/>
              </a:rPr>
              <a:t>Group Presentation  |  4 Speakers</a:t>
            </a:r>
            <a:endParaRPr lang="en-US" sz="1100" dirty="0"/>
          </a:p>
        </p:txBody>
      </p:sp>
      <p:sp>
        <p:nvSpPr>
          <p:cNvPr id="12" name="Shape 10"/>
          <p:cNvSpPr/>
          <p:nvPr/>
        </p:nvSpPr>
        <p:spPr>
          <a:xfrm>
            <a:off x="0" y="4846320"/>
            <a:ext cx="9144000" cy="292608"/>
          </a:xfrm>
          <a:prstGeom prst="rect">
            <a:avLst/>
          </a:prstGeom>
          <a:solidFill>
            <a:srgbClr val="C0392B">
              <a:alpha val="60000"/>
            </a:srgbClr>
          </a:solidFill>
          <a:ln w="12700">
            <a:solidFill>
              <a:srgbClr val="C0392B"/>
            </a:solidFill>
            <a:prstDash val="solid"/>
          </a:ln>
        </p:spPr>
        <p:txBody>
          <a:bodyPr/>
          <a:lstStyle/>
          <a:p>
            <a:endParaRPr lang="zh-CN" altLang="en-US"/>
          </a:p>
        </p:txBody>
      </p:sp>
      <p:sp>
        <p:nvSpPr>
          <p:cNvPr id="13" name="文本框 12"/>
          <p:cNvSpPr txBox="1"/>
          <p:nvPr/>
        </p:nvSpPr>
        <p:spPr>
          <a:xfrm>
            <a:off x="3840480" y="2870835"/>
            <a:ext cx="5029200" cy="1188720"/>
          </a:xfrm>
          <a:prstGeom prst="rect">
            <a:avLst/>
          </a:prstGeom>
          <a:noFill/>
        </p:spPr>
        <p:txBody>
          <a:bodyPr vert="horz" wrap="square" rtlCol="0">
            <a:noAutofit/>
          </a:bodyPr>
          <a:p>
            <a:pPr indent="0" algn="l">
              <a:lnSpc>
                <a:spcPct val="100000"/>
              </a:lnSpc>
              <a:buNone/>
            </a:pPr>
            <a:r>
              <a:rPr lang="zh-CN" altLang="en-US" sz="1600">
                <a:solidFill>
                  <a:schemeClr val="bg1"/>
                </a:solidFill>
                <a:latin typeface="Calibri" panose="020F0502020204030204" pitchFamily="34" charset="0"/>
              </a:rPr>
              <a:t>廖政恺2330024127</a:t>
            </a:r>
            <a:endParaRPr lang="zh-CN" altLang="en-US" sz="1600">
              <a:solidFill>
                <a:schemeClr val="bg1"/>
              </a:solidFill>
              <a:latin typeface="Calibri" panose="020F0502020204030204" pitchFamily="34" charset="0"/>
            </a:endParaRPr>
          </a:p>
          <a:p>
            <a:pPr indent="0" algn="l">
              <a:lnSpc>
                <a:spcPct val="100000"/>
              </a:lnSpc>
              <a:buNone/>
            </a:pPr>
            <a:r>
              <a:rPr lang="zh-CN" altLang="en-US" sz="1600">
                <a:solidFill>
                  <a:schemeClr val="bg1"/>
                </a:solidFill>
                <a:latin typeface="Calibri" panose="020F0502020204030204" pitchFamily="34" charset="0"/>
              </a:rPr>
              <a:t>王子敬 2530031296</a:t>
            </a:r>
            <a:endParaRPr lang="zh-CN" altLang="en-US" sz="1600">
              <a:solidFill>
                <a:schemeClr val="bg1"/>
              </a:solidFill>
              <a:latin typeface="Calibri" panose="020F0502020204030204" pitchFamily="34" charset="0"/>
            </a:endParaRPr>
          </a:p>
          <a:p>
            <a:pPr indent="0" algn="l">
              <a:lnSpc>
                <a:spcPct val="100000"/>
              </a:lnSpc>
              <a:buNone/>
            </a:pPr>
            <a:r>
              <a:rPr lang="zh-CN" altLang="en-US" sz="1600">
                <a:solidFill>
                  <a:schemeClr val="bg1"/>
                </a:solidFill>
                <a:latin typeface="Calibri" panose="020F0502020204030204" pitchFamily="34" charset="0"/>
              </a:rPr>
              <a:t>贾轶涵2530031110</a:t>
            </a:r>
            <a:endParaRPr lang="zh-CN" altLang="en-US" sz="1600">
              <a:solidFill>
                <a:schemeClr val="bg1"/>
              </a:solidFill>
              <a:latin typeface="Calibri" panose="020F0502020204030204" pitchFamily="34" charset="0"/>
            </a:endParaRPr>
          </a:p>
          <a:p>
            <a:pPr indent="0" algn="l">
              <a:lnSpc>
                <a:spcPct val="100000"/>
              </a:lnSpc>
              <a:buNone/>
            </a:pPr>
            <a:r>
              <a:rPr lang="zh-CN" altLang="en-US" sz="1600">
                <a:solidFill>
                  <a:schemeClr val="bg1"/>
                </a:solidFill>
                <a:latin typeface="Calibri" panose="020F0502020204030204" pitchFamily="34" charset="0"/>
              </a:rPr>
              <a:t>徐子夏2430031288</a:t>
            </a:r>
            <a:endParaRPr lang="zh-CN" altLang="en-US" sz="1600">
              <a:solidFill>
                <a:schemeClr val="bg1"/>
              </a:solidFill>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6858000" y="-457200"/>
            <a:ext cx="3840480" cy="3840480"/>
          </a:xfrm>
          <a:prstGeom prst="ellipse">
            <a:avLst/>
          </a:prstGeom>
          <a:solidFill>
            <a:srgbClr val="C0392B">
              <a:alpha val="12000"/>
            </a:srgbClr>
          </a:solidFill>
          <a:ln w="12700">
            <a:solidFill>
              <a:srgbClr val="C0392B"/>
            </a:solidFill>
            <a:prstDash val="solid"/>
          </a:ln>
        </p:spPr>
        <p:txBody>
          <a:bodyPr/>
          <a:lstStyle/>
          <a:p>
            <a:endParaRPr lang="zh-CN" altLang="en-US"/>
          </a:p>
        </p:txBody>
      </p:sp>
      <p:sp>
        <p:nvSpPr>
          <p:cNvPr id="3" name="Shape 1"/>
          <p:cNvSpPr/>
          <p:nvPr/>
        </p:nvSpPr>
        <p:spPr>
          <a:xfrm>
            <a:off x="-457200" y="2926080"/>
            <a:ext cx="2743200" cy="2743200"/>
          </a:xfrm>
          <a:prstGeom prst="ellipse">
            <a:avLst/>
          </a:prstGeom>
          <a:solidFill>
            <a:srgbClr val="8B0000">
              <a:alpha val="10000"/>
            </a:srgbClr>
          </a:solidFill>
          <a:ln w="12700">
            <a:solidFill>
              <a:srgbClr val="8B0000"/>
            </a:solidFill>
            <a:prstDash val="solid"/>
          </a:ln>
        </p:spPr>
        <p:txBody>
          <a:bodyPr/>
          <a:lstStyle/>
          <a:p>
            <a:endParaRPr lang="zh-CN" altLang="en-US"/>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37160"/>
            <a:ext cx="8229600" cy="594360"/>
          </a:xfrm>
          <a:prstGeom prst="rect">
            <a:avLst/>
          </a:prstGeom>
          <a:noFill/>
        </p:spPr>
        <p:txBody>
          <a:bodyPr wrap="square" lIns="0" tIns="0" rIns="0" bIns="0" rtlCol="0" anchor="ctr"/>
          <a:lstStyle/>
          <a:p>
            <a:pPr marL="0" indent="0">
              <a:buNone/>
            </a:pPr>
            <a:r>
              <a:rPr lang="en-US" sz="3200" b="1" dirty="0">
                <a:solidFill>
                  <a:srgbClr val="922B21"/>
                </a:solidFill>
                <a:latin typeface="Georgia" panose="02040502050405020303" pitchFamily="34" charset="0"/>
                <a:ea typeface="Georgia" panose="02040502050405020303" pitchFamily="34" charset="0"/>
                <a:cs typeface="Georgia" panose="02040502050405020303" pitchFamily="34" charset="0"/>
              </a:rPr>
              <a:t>Overview</a:t>
            </a:r>
            <a:endParaRPr lang="en-US" sz="3200" dirty="0"/>
          </a:p>
        </p:txBody>
      </p:sp>
      <p:sp>
        <p:nvSpPr>
          <p:cNvPr id="6" name="Shape 4"/>
          <p:cNvSpPr/>
          <p:nvPr/>
        </p:nvSpPr>
        <p:spPr>
          <a:xfrm>
            <a:off x="365760" y="987552"/>
            <a:ext cx="4114800" cy="162763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7" name="Shape 5"/>
          <p:cNvSpPr/>
          <p:nvPr/>
        </p:nvSpPr>
        <p:spPr>
          <a:xfrm>
            <a:off x="365760" y="987552"/>
            <a:ext cx="64008" cy="1627632"/>
          </a:xfrm>
          <a:prstGeom prst="rect">
            <a:avLst/>
          </a:prstGeom>
          <a:solidFill>
            <a:srgbClr val="C0392B"/>
          </a:solidFill>
          <a:ln w="12700">
            <a:solidFill>
              <a:srgbClr val="C0392B"/>
            </a:solidFill>
            <a:prstDash val="solid"/>
          </a:ln>
        </p:spPr>
        <p:txBody>
          <a:bodyPr/>
          <a:lstStyle/>
          <a:p>
            <a:endParaRPr lang="zh-CN" altLang="en-US"/>
          </a:p>
        </p:txBody>
      </p:sp>
      <p:sp>
        <p:nvSpPr>
          <p:cNvPr id="8" name="Text 6"/>
          <p:cNvSpPr/>
          <p:nvPr/>
        </p:nvSpPr>
        <p:spPr>
          <a:xfrm>
            <a:off x="502920" y="1078992"/>
            <a:ext cx="640080" cy="475488"/>
          </a:xfrm>
          <a:prstGeom prst="rect">
            <a:avLst/>
          </a:prstGeom>
          <a:noFill/>
        </p:spPr>
        <p:txBody>
          <a:bodyPr wrap="square" lIns="0" tIns="0" rIns="0" bIns="0" rtlCol="0" anchor="ctr"/>
          <a:lstStyle/>
          <a:p>
            <a:pPr marL="0" indent="0">
              <a:buNone/>
            </a:pPr>
            <a:r>
              <a:rPr lang="en-US" sz="2600" b="1" dirty="0">
                <a:solidFill>
                  <a:srgbClr val="C0392B"/>
                </a:solidFill>
                <a:latin typeface="Georgia" panose="02040502050405020303" pitchFamily="34" charset="0"/>
                <a:ea typeface="Georgia" panose="02040502050405020303" pitchFamily="34" charset="0"/>
                <a:cs typeface="Georgia" panose="02040502050405020303" pitchFamily="34" charset="0"/>
              </a:rPr>
              <a:t>01</a:t>
            </a:r>
            <a:endParaRPr lang="en-US" sz="2600" dirty="0"/>
          </a:p>
        </p:txBody>
      </p:sp>
      <p:sp>
        <p:nvSpPr>
          <p:cNvPr id="9" name="Text 7"/>
          <p:cNvSpPr/>
          <p:nvPr/>
        </p:nvSpPr>
        <p:spPr>
          <a:xfrm>
            <a:off x="1207008" y="1097280"/>
            <a:ext cx="3108960" cy="402336"/>
          </a:xfrm>
          <a:prstGeom prst="rect">
            <a:avLst/>
          </a:prstGeom>
          <a:noFill/>
        </p:spPr>
        <p:txBody>
          <a:bodyPr wrap="square" lIns="0" tIns="0" rIns="0" bIns="0" rtlCol="0" anchor="ctr"/>
          <a:lstStyle/>
          <a:p>
            <a:pPr marL="0" indent="0">
              <a:buNone/>
            </a:pPr>
            <a:r>
              <a:rPr lang="en-US" sz="1400" b="1" dirty="0">
                <a:solidFill>
                  <a:srgbClr val="2C2C2C"/>
                </a:solidFill>
                <a:latin typeface="Georgia" panose="02040502050405020303" pitchFamily="34" charset="0"/>
                <a:ea typeface="Georgia" panose="02040502050405020303" pitchFamily="34" charset="0"/>
                <a:cs typeface="Georgia" panose="02040502050405020303" pitchFamily="34" charset="0"/>
              </a:rPr>
              <a:t>Introduction &amp; Philosophical Foundations</a:t>
            </a:r>
            <a:endParaRPr lang="en-US" sz="1400" dirty="0"/>
          </a:p>
        </p:txBody>
      </p:sp>
      <p:sp>
        <p:nvSpPr>
          <p:cNvPr id="10" name="Text 8"/>
          <p:cNvSpPr/>
          <p:nvPr/>
        </p:nvSpPr>
        <p:spPr>
          <a:xfrm>
            <a:off x="1207008" y="1517904"/>
            <a:ext cx="3108960" cy="237744"/>
          </a:xfrm>
          <a:prstGeom prst="rect">
            <a:avLst/>
          </a:prstGeom>
          <a:noFill/>
        </p:spPr>
        <p:txBody>
          <a:bodyPr wrap="square" lIns="0" tIns="0" rIns="0" bIns="0" rtlCol="0" anchor="ctr"/>
          <a:lstStyle/>
          <a:p>
            <a:pPr marL="0" indent="0">
              <a:buNone/>
            </a:pPr>
            <a:r>
              <a:rPr lang="en-US" sz="1000" i="1" dirty="0">
                <a:solidFill>
                  <a:srgbClr val="C0392B"/>
                </a:solidFill>
                <a:latin typeface="Calibri" panose="020F0502020204030204" pitchFamily="34" charset="0"/>
                <a:ea typeface="Calibri" panose="020F0502020204030204" pitchFamily="34" charset="0"/>
                <a:cs typeface="Calibri" panose="020F0502020204030204" pitchFamily="34" charset="0"/>
              </a:rPr>
              <a:t>Speaker 1</a:t>
            </a:r>
            <a:endParaRPr lang="en-US" sz="1000" dirty="0"/>
          </a:p>
        </p:txBody>
      </p:sp>
      <p:sp>
        <p:nvSpPr>
          <p:cNvPr id="11" name="Text 9"/>
          <p:cNvSpPr/>
          <p:nvPr/>
        </p:nvSpPr>
        <p:spPr>
          <a:xfrm>
            <a:off x="502920" y="1883664"/>
            <a:ext cx="3840480" cy="566928"/>
          </a:xfrm>
          <a:prstGeom prst="rect">
            <a:avLst/>
          </a:prstGeom>
          <a:noFill/>
        </p:spPr>
        <p:txBody>
          <a:bodyPr wrap="square" lIns="0" tIns="0" rIns="0" bIns="0" rtlCol="0" anchor="ctr"/>
          <a:lstStyle/>
          <a:p>
            <a:pPr marL="0" indent="0">
              <a:buNone/>
            </a:pPr>
            <a:r>
              <a:rPr lang="en-US" sz="1050" dirty="0">
                <a:solidFill>
                  <a:srgbClr val="7F8C8D"/>
                </a:solidFill>
                <a:latin typeface="Calibri" panose="020F0502020204030204" pitchFamily="34" charset="0"/>
                <a:ea typeface="Calibri" panose="020F0502020204030204" pitchFamily="34" charset="0"/>
                <a:cs typeface="Calibri" panose="020F0502020204030204" pitchFamily="34" charset="0"/>
              </a:rPr>
              <a:t>Hook · What is Rén? · Confucius · Mencius</a:t>
            </a:r>
            <a:endParaRPr lang="en-US" sz="1050" dirty="0"/>
          </a:p>
        </p:txBody>
      </p:sp>
      <p:sp>
        <p:nvSpPr>
          <p:cNvPr id="12" name="Shape 10"/>
          <p:cNvSpPr/>
          <p:nvPr/>
        </p:nvSpPr>
        <p:spPr>
          <a:xfrm>
            <a:off x="365760" y="2816352"/>
            <a:ext cx="4114800" cy="162763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Shape 11"/>
          <p:cNvSpPr/>
          <p:nvPr/>
        </p:nvSpPr>
        <p:spPr>
          <a:xfrm>
            <a:off x="365760" y="2816352"/>
            <a:ext cx="64008" cy="1627632"/>
          </a:xfrm>
          <a:prstGeom prst="rect">
            <a:avLst/>
          </a:prstGeom>
          <a:solidFill>
            <a:srgbClr val="C0392B"/>
          </a:solidFill>
          <a:ln w="12700">
            <a:solidFill>
              <a:srgbClr val="C0392B"/>
            </a:solidFill>
            <a:prstDash val="solid"/>
          </a:ln>
        </p:spPr>
        <p:txBody>
          <a:bodyPr/>
          <a:lstStyle/>
          <a:p>
            <a:endParaRPr lang="zh-CN" altLang="en-US"/>
          </a:p>
        </p:txBody>
      </p:sp>
      <p:sp>
        <p:nvSpPr>
          <p:cNvPr id="14" name="Text 12"/>
          <p:cNvSpPr/>
          <p:nvPr/>
        </p:nvSpPr>
        <p:spPr>
          <a:xfrm>
            <a:off x="502920" y="2907792"/>
            <a:ext cx="640080" cy="475488"/>
          </a:xfrm>
          <a:prstGeom prst="rect">
            <a:avLst/>
          </a:prstGeom>
          <a:noFill/>
        </p:spPr>
        <p:txBody>
          <a:bodyPr wrap="square" lIns="0" tIns="0" rIns="0" bIns="0" rtlCol="0" anchor="ctr"/>
          <a:lstStyle/>
          <a:p>
            <a:pPr marL="0" indent="0">
              <a:buNone/>
            </a:pPr>
            <a:r>
              <a:rPr lang="en-US" sz="2600" b="1" dirty="0">
                <a:solidFill>
                  <a:srgbClr val="C0392B"/>
                </a:solidFill>
                <a:latin typeface="Georgia" panose="02040502050405020303" pitchFamily="34" charset="0"/>
                <a:ea typeface="Georgia" panose="02040502050405020303" pitchFamily="34" charset="0"/>
                <a:cs typeface="Georgia" panose="02040502050405020303" pitchFamily="34" charset="0"/>
              </a:rPr>
              <a:t>02</a:t>
            </a:r>
            <a:endParaRPr lang="en-US" sz="2600" dirty="0"/>
          </a:p>
        </p:txBody>
      </p:sp>
      <p:sp>
        <p:nvSpPr>
          <p:cNvPr id="15" name="Text 13"/>
          <p:cNvSpPr/>
          <p:nvPr/>
        </p:nvSpPr>
        <p:spPr>
          <a:xfrm>
            <a:off x="1207008" y="2926080"/>
            <a:ext cx="3108960" cy="402336"/>
          </a:xfrm>
          <a:prstGeom prst="rect">
            <a:avLst/>
          </a:prstGeom>
          <a:noFill/>
        </p:spPr>
        <p:txBody>
          <a:bodyPr wrap="square" lIns="0" tIns="0" rIns="0" bIns="0" rtlCol="0" anchor="ctr"/>
          <a:lstStyle/>
          <a:p>
            <a:pPr marL="0" indent="0">
              <a:buNone/>
            </a:pPr>
            <a:r>
              <a:rPr lang="en-US" sz="1400" b="1" dirty="0">
                <a:solidFill>
                  <a:srgbClr val="2C2C2C"/>
                </a:solidFill>
                <a:latin typeface="Georgia" panose="02040502050405020303" pitchFamily="34" charset="0"/>
                <a:ea typeface="Georgia" panose="02040502050405020303" pitchFamily="34" charset="0"/>
                <a:cs typeface="Georgia" panose="02040502050405020303" pitchFamily="34" charset="0"/>
              </a:rPr>
              <a:t>Historical Spread</a:t>
            </a:r>
            <a:endParaRPr lang="en-US" sz="1400" dirty="0"/>
          </a:p>
        </p:txBody>
      </p:sp>
      <p:sp>
        <p:nvSpPr>
          <p:cNvPr id="16" name="Text 14"/>
          <p:cNvSpPr/>
          <p:nvPr/>
        </p:nvSpPr>
        <p:spPr>
          <a:xfrm>
            <a:off x="1207008" y="3346704"/>
            <a:ext cx="3108960" cy="237744"/>
          </a:xfrm>
          <a:prstGeom prst="rect">
            <a:avLst/>
          </a:prstGeom>
          <a:noFill/>
        </p:spPr>
        <p:txBody>
          <a:bodyPr wrap="square" lIns="0" tIns="0" rIns="0" bIns="0" rtlCol="0" anchor="ctr"/>
          <a:lstStyle/>
          <a:p>
            <a:pPr marL="0" indent="0">
              <a:buNone/>
            </a:pPr>
            <a:r>
              <a:rPr lang="en-US" sz="1000" i="1" dirty="0">
                <a:solidFill>
                  <a:srgbClr val="C0392B"/>
                </a:solidFill>
                <a:latin typeface="Calibri" panose="020F0502020204030204" pitchFamily="34" charset="0"/>
                <a:ea typeface="Calibri" panose="020F0502020204030204" pitchFamily="34" charset="0"/>
                <a:cs typeface="Calibri" panose="020F0502020204030204" pitchFamily="34" charset="0"/>
              </a:rPr>
              <a:t>Speaker 2</a:t>
            </a:r>
            <a:endParaRPr lang="en-US" sz="1000" dirty="0"/>
          </a:p>
        </p:txBody>
      </p:sp>
      <p:sp>
        <p:nvSpPr>
          <p:cNvPr id="17" name="Text 15"/>
          <p:cNvSpPr/>
          <p:nvPr/>
        </p:nvSpPr>
        <p:spPr>
          <a:xfrm>
            <a:off x="502920" y="3712464"/>
            <a:ext cx="3840480" cy="566928"/>
          </a:xfrm>
          <a:prstGeom prst="rect">
            <a:avLst/>
          </a:prstGeom>
          <a:noFill/>
        </p:spPr>
        <p:txBody>
          <a:bodyPr wrap="square" lIns="0" tIns="0" rIns="0" bIns="0" rtlCol="0" anchor="ctr"/>
          <a:lstStyle/>
          <a:p>
            <a:pPr marL="0" indent="0">
              <a:buNone/>
            </a:pPr>
            <a:r>
              <a:rPr lang="en-US" sz="1050" dirty="0">
                <a:solidFill>
                  <a:srgbClr val="7F8C8D"/>
                </a:solidFill>
                <a:latin typeface="Calibri" panose="020F0502020204030204" pitchFamily="34" charset="0"/>
                <a:ea typeface="Calibri" panose="020F0502020204030204" pitchFamily="34" charset="0"/>
                <a:cs typeface="Calibri" panose="020F0502020204030204" pitchFamily="34" charset="0"/>
              </a:rPr>
              <a:t>Benevolent rule · Silk Road · Japan · Korea · Vietnam</a:t>
            </a:r>
            <a:endParaRPr lang="en-US" sz="1050" dirty="0"/>
          </a:p>
        </p:txBody>
      </p:sp>
      <p:sp>
        <p:nvSpPr>
          <p:cNvPr id="18" name="Shape 16"/>
          <p:cNvSpPr/>
          <p:nvPr/>
        </p:nvSpPr>
        <p:spPr>
          <a:xfrm>
            <a:off x="4754880" y="987552"/>
            <a:ext cx="4114800" cy="162763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9" name="Shape 17"/>
          <p:cNvSpPr/>
          <p:nvPr/>
        </p:nvSpPr>
        <p:spPr>
          <a:xfrm>
            <a:off x="4754880" y="987552"/>
            <a:ext cx="64008" cy="1627632"/>
          </a:xfrm>
          <a:prstGeom prst="rect">
            <a:avLst/>
          </a:prstGeom>
          <a:solidFill>
            <a:srgbClr val="C0392B"/>
          </a:solidFill>
          <a:ln w="12700">
            <a:solidFill>
              <a:srgbClr val="C0392B"/>
            </a:solidFill>
            <a:prstDash val="solid"/>
          </a:ln>
        </p:spPr>
        <p:txBody>
          <a:bodyPr/>
          <a:lstStyle/>
          <a:p>
            <a:endParaRPr lang="zh-CN" altLang="en-US"/>
          </a:p>
        </p:txBody>
      </p:sp>
      <p:sp>
        <p:nvSpPr>
          <p:cNvPr id="20" name="Text 18"/>
          <p:cNvSpPr/>
          <p:nvPr/>
        </p:nvSpPr>
        <p:spPr>
          <a:xfrm>
            <a:off x="4892040" y="1078992"/>
            <a:ext cx="640080" cy="475488"/>
          </a:xfrm>
          <a:prstGeom prst="rect">
            <a:avLst/>
          </a:prstGeom>
          <a:noFill/>
        </p:spPr>
        <p:txBody>
          <a:bodyPr wrap="square" lIns="0" tIns="0" rIns="0" bIns="0" rtlCol="0" anchor="ctr"/>
          <a:lstStyle/>
          <a:p>
            <a:pPr marL="0" indent="0">
              <a:buNone/>
            </a:pPr>
            <a:r>
              <a:rPr lang="en-US" sz="2600" b="1" dirty="0">
                <a:solidFill>
                  <a:srgbClr val="C0392B"/>
                </a:solidFill>
                <a:latin typeface="Georgia" panose="02040502050405020303" pitchFamily="34" charset="0"/>
                <a:ea typeface="Georgia" panose="02040502050405020303" pitchFamily="34" charset="0"/>
                <a:cs typeface="Georgia" panose="02040502050405020303" pitchFamily="34" charset="0"/>
              </a:rPr>
              <a:t>03</a:t>
            </a:r>
            <a:endParaRPr lang="en-US" sz="2600" dirty="0"/>
          </a:p>
        </p:txBody>
      </p:sp>
      <p:sp>
        <p:nvSpPr>
          <p:cNvPr id="21" name="Text 19"/>
          <p:cNvSpPr/>
          <p:nvPr/>
        </p:nvSpPr>
        <p:spPr>
          <a:xfrm>
            <a:off x="5596128" y="1097280"/>
            <a:ext cx="3108960" cy="402336"/>
          </a:xfrm>
          <a:prstGeom prst="rect">
            <a:avLst/>
          </a:prstGeom>
          <a:noFill/>
        </p:spPr>
        <p:txBody>
          <a:bodyPr wrap="square" lIns="0" tIns="0" rIns="0" bIns="0" rtlCol="0" anchor="ctr"/>
          <a:lstStyle/>
          <a:p>
            <a:pPr marL="0" indent="0">
              <a:buNone/>
            </a:pPr>
            <a:r>
              <a:rPr lang="en-US" sz="1400" b="1" dirty="0">
                <a:solidFill>
                  <a:srgbClr val="2C2C2C"/>
                </a:solidFill>
                <a:latin typeface="Georgia" panose="02040502050405020303" pitchFamily="34" charset="0"/>
                <a:ea typeface="Georgia" panose="02040502050405020303" pitchFamily="34" charset="0"/>
                <a:cs typeface="Georgia" panose="02040502050405020303" pitchFamily="34" charset="0"/>
              </a:rPr>
              <a:t>Cross-Cultural Comparisons</a:t>
            </a:r>
            <a:endParaRPr lang="en-US" sz="1400" dirty="0"/>
          </a:p>
        </p:txBody>
      </p:sp>
      <p:sp>
        <p:nvSpPr>
          <p:cNvPr id="22" name="Text 20"/>
          <p:cNvSpPr/>
          <p:nvPr/>
        </p:nvSpPr>
        <p:spPr>
          <a:xfrm>
            <a:off x="5596128" y="1517904"/>
            <a:ext cx="3108960" cy="237744"/>
          </a:xfrm>
          <a:prstGeom prst="rect">
            <a:avLst/>
          </a:prstGeom>
          <a:noFill/>
        </p:spPr>
        <p:txBody>
          <a:bodyPr wrap="square" lIns="0" tIns="0" rIns="0" bIns="0" rtlCol="0" anchor="ctr"/>
          <a:lstStyle/>
          <a:p>
            <a:pPr marL="0" indent="0">
              <a:buNone/>
            </a:pPr>
            <a:r>
              <a:rPr lang="en-US" sz="1000" i="1" dirty="0">
                <a:solidFill>
                  <a:srgbClr val="C0392B"/>
                </a:solidFill>
                <a:latin typeface="Calibri" panose="020F0502020204030204" pitchFamily="34" charset="0"/>
                <a:ea typeface="Calibri" panose="020F0502020204030204" pitchFamily="34" charset="0"/>
                <a:cs typeface="Calibri" panose="020F0502020204030204" pitchFamily="34" charset="0"/>
              </a:rPr>
              <a:t>Speaker 3</a:t>
            </a:r>
            <a:endParaRPr lang="en-US" sz="1000" dirty="0"/>
          </a:p>
        </p:txBody>
      </p:sp>
      <p:sp>
        <p:nvSpPr>
          <p:cNvPr id="23" name="Text 21"/>
          <p:cNvSpPr/>
          <p:nvPr/>
        </p:nvSpPr>
        <p:spPr>
          <a:xfrm>
            <a:off x="4892040" y="1883664"/>
            <a:ext cx="3840480" cy="566928"/>
          </a:xfrm>
          <a:prstGeom prst="rect">
            <a:avLst/>
          </a:prstGeom>
          <a:noFill/>
        </p:spPr>
        <p:txBody>
          <a:bodyPr wrap="square" lIns="0" tIns="0" rIns="0" bIns="0" rtlCol="0" anchor="ctr"/>
          <a:lstStyle/>
          <a:p>
            <a:pPr marL="0" indent="0">
              <a:buNone/>
            </a:pPr>
            <a:r>
              <a:rPr lang="en-US" sz="1050" dirty="0">
                <a:solidFill>
                  <a:srgbClr val="7F8C8D"/>
                </a:solidFill>
                <a:latin typeface="Calibri" panose="020F0502020204030204" pitchFamily="34" charset="0"/>
                <a:ea typeface="Calibri" panose="020F0502020204030204" pitchFamily="34" charset="0"/>
                <a:cs typeface="Calibri" panose="020F0502020204030204" pitchFamily="34" charset="0"/>
              </a:rPr>
              <a:t>Greek Philia · Christian Agape · Islamic Rahmah · Buddhist Karuṇā</a:t>
            </a:r>
            <a:endParaRPr lang="en-US" sz="1050" dirty="0"/>
          </a:p>
        </p:txBody>
      </p:sp>
      <p:sp>
        <p:nvSpPr>
          <p:cNvPr id="24" name="Shape 22"/>
          <p:cNvSpPr/>
          <p:nvPr/>
        </p:nvSpPr>
        <p:spPr>
          <a:xfrm>
            <a:off x="4754880" y="2816352"/>
            <a:ext cx="4114800" cy="162763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25" name="Shape 23"/>
          <p:cNvSpPr/>
          <p:nvPr/>
        </p:nvSpPr>
        <p:spPr>
          <a:xfrm>
            <a:off x="4754880" y="2816352"/>
            <a:ext cx="64008" cy="1627632"/>
          </a:xfrm>
          <a:prstGeom prst="rect">
            <a:avLst/>
          </a:prstGeom>
          <a:solidFill>
            <a:srgbClr val="C0392B"/>
          </a:solidFill>
          <a:ln w="12700">
            <a:solidFill>
              <a:srgbClr val="C0392B"/>
            </a:solidFill>
            <a:prstDash val="solid"/>
          </a:ln>
        </p:spPr>
        <p:txBody>
          <a:bodyPr/>
          <a:lstStyle/>
          <a:p>
            <a:endParaRPr lang="zh-CN" altLang="en-US"/>
          </a:p>
        </p:txBody>
      </p:sp>
      <p:sp>
        <p:nvSpPr>
          <p:cNvPr id="26" name="Text 24"/>
          <p:cNvSpPr/>
          <p:nvPr/>
        </p:nvSpPr>
        <p:spPr>
          <a:xfrm>
            <a:off x="4892040" y="2907792"/>
            <a:ext cx="640080" cy="475488"/>
          </a:xfrm>
          <a:prstGeom prst="rect">
            <a:avLst/>
          </a:prstGeom>
          <a:noFill/>
        </p:spPr>
        <p:txBody>
          <a:bodyPr wrap="square" lIns="0" tIns="0" rIns="0" bIns="0" rtlCol="0" anchor="ctr"/>
          <a:lstStyle/>
          <a:p>
            <a:pPr marL="0" indent="0">
              <a:buNone/>
            </a:pPr>
            <a:r>
              <a:rPr lang="en-US" sz="2600" b="1" dirty="0">
                <a:solidFill>
                  <a:srgbClr val="C0392B"/>
                </a:solidFill>
                <a:latin typeface="Georgia" panose="02040502050405020303" pitchFamily="34" charset="0"/>
                <a:ea typeface="Georgia" panose="02040502050405020303" pitchFamily="34" charset="0"/>
                <a:cs typeface="Georgia" panose="02040502050405020303" pitchFamily="34" charset="0"/>
              </a:rPr>
              <a:t>04</a:t>
            </a:r>
            <a:endParaRPr lang="en-US" sz="2600" dirty="0"/>
          </a:p>
        </p:txBody>
      </p:sp>
      <p:sp>
        <p:nvSpPr>
          <p:cNvPr id="27" name="Text 25"/>
          <p:cNvSpPr/>
          <p:nvPr/>
        </p:nvSpPr>
        <p:spPr>
          <a:xfrm>
            <a:off x="5596128" y="2926080"/>
            <a:ext cx="3108960" cy="402336"/>
          </a:xfrm>
          <a:prstGeom prst="rect">
            <a:avLst/>
          </a:prstGeom>
          <a:noFill/>
        </p:spPr>
        <p:txBody>
          <a:bodyPr wrap="square" lIns="0" tIns="0" rIns="0" bIns="0" rtlCol="0" anchor="ctr"/>
          <a:lstStyle/>
          <a:p>
            <a:pPr marL="0" indent="0">
              <a:buNone/>
            </a:pPr>
            <a:r>
              <a:rPr lang="en-US" sz="1400" b="1" dirty="0">
                <a:solidFill>
                  <a:srgbClr val="2C2C2C"/>
                </a:solidFill>
                <a:latin typeface="Georgia" panose="02040502050405020303" pitchFamily="34" charset="0"/>
                <a:ea typeface="Georgia" panose="02040502050405020303" pitchFamily="34" charset="0"/>
                <a:cs typeface="Georgia" panose="02040502050405020303" pitchFamily="34" charset="0"/>
              </a:rPr>
              <a:t>Modern Applications &amp; Conclusion</a:t>
            </a:r>
            <a:endParaRPr lang="en-US" sz="1400" dirty="0"/>
          </a:p>
        </p:txBody>
      </p:sp>
      <p:sp>
        <p:nvSpPr>
          <p:cNvPr id="28" name="Text 26"/>
          <p:cNvSpPr/>
          <p:nvPr/>
        </p:nvSpPr>
        <p:spPr>
          <a:xfrm>
            <a:off x="5596128" y="3346704"/>
            <a:ext cx="3108960" cy="237744"/>
          </a:xfrm>
          <a:prstGeom prst="rect">
            <a:avLst/>
          </a:prstGeom>
          <a:noFill/>
        </p:spPr>
        <p:txBody>
          <a:bodyPr wrap="square" lIns="0" tIns="0" rIns="0" bIns="0" rtlCol="0" anchor="ctr"/>
          <a:lstStyle/>
          <a:p>
            <a:pPr marL="0" indent="0">
              <a:buNone/>
            </a:pPr>
            <a:r>
              <a:rPr lang="en-US" sz="1000" i="1" dirty="0">
                <a:solidFill>
                  <a:srgbClr val="C0392B"/>
                </a:solidFill>
                <a:latin typeface="Calibri" panose="020F0502020204030204" pitchFamily="34" charset="0"/>
                <a:ea typeface="Calibri" panose="020F0502020204030204" pitchFamily="34" charset="0"/>
                <a:cs typeface="Calibri" panose="020F0502020204030204" pitchFamily="34" charset="0"/>
              </a:rPr>
              <a:t>Speaker 4</a:t>
            </a:r>
            <a:endParaRPr lang="en-US" sz="1000" dirty="0"/>
          </a:p>
        </p:txBody>
      </p:sp>
      <p:sp>
        <p:nvSpPr>
          <p:cNvPr id="29" name="Text 27"/>
          <p:cNvSpPr/>
          <p:nvPr/>
        </p:nvSpPr>
        <p:spPr>
          <a:xfrm>
            <a:off x="4892040" y="3712464"/>
            <a:ext cx="3840480" cy="566928"/>
          </a:xfrm>
          <a:prstGeom prst="rect">
            <a:avLst/>
          </a:prstGeom>
          <a:noFill/>
        </p:spPr>
        <p:txBody>
          <a:bodyPr wrap="square" lIns="0" tIns="0" rIns="0" bIns="0" rtlCol="0" anchor="ctr"/>
          <a:lstStyle/>
          <a:p>
            <a:pPr marL="0" indent="0">
              <a:buNone/>
            </a:pPr>
            <a:r>
              <a:rPr lang="en-US" sz="1050" dirty="0">
                <a:solidFill>
                  <a:srgbClr val="7F8C8D"/>
                </a:solidFill>
                <a:latin typeface="Calibri" panose="020F0502020204030204" pitchFamily="34" charset="0"/>
                <a:ea typeface="Calibri" panose="020F0502020204030204" pitchFamily="34" charset="0"/>
                <a:cs typeface="Calibri" panose="020F0502020204030204" pitchFamily="34" charset="0"/>
              </a:rPr>
              <a:t>Daily life · Environment · SDGs · Closing</a:t>
            </a:r>
            <a:endParaRPr lang="en-US" sz="1050" dirty="0"/>
          </a:p>
        </p:txBody>
      </p:sp>
      <p:sp>
        <p:nvSpPr>
          <p:cNvPr id="30" name="Shape 28"/>
          <p:cNvSpPr/>
          <p:nvPr/>
        </p:nvSpPr>
        <p:spPr>
          <a:xfrm>
            <a:off x="0" y="4846320"/>
            <a:ext cx="9144000" cy="292608"/>
          </a:xfrm>
          <a:prstGeom prst="rect">
            <a:avLst/>
          </a:prstGeom>
          <a:solidFill>
            <a:srgbClr val="C0392B"/>
          </a:solidFill>
          <a:ln w="12700">
            <a:solidFill>
              <a:srgbClr val="C0392B"/>
            </a:solidFill>
            <a:prstDash val="solid"/>
          </a:ln>
        </p:spPr>
        <p:txBody>
          <a:bodyPr/>
          <a:lstStyle/>
          <a:p>
            <a:endParaRPr lang="zh-CN" altLang="en-US"/>
          </a:p>
        </p:txBody>
      </p:sp>
      <p:sp>
        <p:nvSpPr>
          <p:cNvPr id="31" name="Text 29"/>
          <p:cNvSpPr/>
          <p:nvPr/>
        </p:nvSpPr>
        <p:spPr>
          <a:xfrm>
            <a:off x="8412480" y="4837176"/>
            <a:ext cx="594360" cy="274320"/>
          </a:xfrm>
          <a:prstGeom prst="rect">
            <a:avLst/>
          </a:prstGeom>
          <a:noFill/>
        </p:spPr>
        <p:txBody>
          <a:bodyPr wrap="square" lIns="0" tIns="0" rIns="0" bIns="0" rtlCol="0" anchor="ctr"/>
          <a:lstStyle/>
          <a:p>
            <a:pPr marL="0" indent="0" algn="ctr">
              <a:buNone/>
            </a:pPr>
            <a:r>
              <a:rPr lang="en-US" sz="1700" dirty="0">
                <a:solidFill>
                  <a:srgbClr val="FFFFFF"/>
                </a:solidFill>
                <a:latin typeface="Georgia" panose="02040502050405020303" pitchFamily="34" charset="0"/>
                <a:ea typeface="Georgia" panose="02040502050405020303" pitchFamily="34" charset="0"/>
                <a:cs typeface="Georgia" panose="02040502050405020303" pitchFamily="34" charset="0"/>
              </a:rPr>
              <a:t>仁</a:t>
            </a:r>
            <a:endParaRPr lang="en-US" sz="1700" dirty="0"/>
          </a:p>
        </p:txBody>
      </p:sp>
      <p:sp>
        <p:nvSpPr>
          <p:cNvPr id="32" name="Text 30"/>
          <p:cNvSpPr/>
          <p:nvPr/>
        </p:nvSpPr>
        <p:spPr>
          <a:xfrm>
            <a:off x="274320" y="4873752"/>
            <a:ext cx="1371600" cy="228600"/>
          </a:xfrm>
          <a:prstGeom prst="rect">
            <a:avLst/>
          </a:prstGeom>
          <a:noFill/>
        </p:spPr>
        <p:txBody>
          <a:bodyPr wrap="square" lIns="0" tIns="0" rIns="0" bIns="0" rtlCol="0" anchor="ctr"/>
          <a:lstStyle/>
          <a:p>
            <a:pPr marL="0" indent="0">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1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1097280" y="-914400"/>
            <a:ext cx="5943600" cy="5943600"/>
          </a:xfrm>
          <a:prstGeom prst="ellipse">
            <a:avLst/>
          </a:prstGeom>
          <a:solidFill>
            <a:srgbClr val="C0392B">
              <a:alpha val="21000"/>
            </a:srgbClr>
          </a:solidFill>
          <a:ln w="12700">
            <a:solidFill>
              <a:srgbClr val="C0392B"/>
            </a:solidFill>
            <a:prstDash val="solid"/>
          </a:ln>
        </p:spPr>
        <p:txBody>
          <a:bodyPr/>
          <a:lstStyle/>
          <a:p>
            <a:endParaRPr lang="zh-CN" altLang="en-US"/>
          </a:p>
        </p:txBody>
      </p:sp>
      <p:sp>
        <p:nvSpPr>
          <p:cNvPr id="3" name="Shape 1"/>
          <p:cNvSpPr/>
          <p:nvPr/>
        </p:nvSpPr>
        <p:spPr>
          <a:xfrm>
            <a:off x="5029200" y="1371600"/>
            <a:ext cx="5303520" cy="5303520"/>
          </a:xfrm>
          <a:prstGeom prst="ellipse">
            <a:avLst/>
          </a:prstGeom>
          <a:solidFill>
            <a:srgbClr val="7B0000">
              <a:alpha val="18000"/>
            </a:srgbClr>
          </a:solidFill>
          <a:ln w="12700">
            <a:solidFill>
              <a:srgbClr val="7B0000"/>
            </a:solidFill>
            <a:prstDash val="solid"/>
          </a:ln>
        </p:spPr>
        <p:txBody>
          <a:bodyPr/>
          <a:lstStyle/>
          <a:p>
            <a:endParaRPr lang="zh-CN" altLang="en-US"/>
          </a:p>
        </p:txBody>
      </p:sp>
      <p:sp>
        <p:nvSpPr>
          <p:cNvPr id="4" name="Text 2"/>
          <p:cNvSpPr/>
          <p:nvPr/>
        </p:nvSpPr>
        <p:spPr>
          <a:xfrm>
            <a:off x="914400" y="457200"/>
            <a:ext cx="7315200" cy="1280160"/>
          </a:xfrm>
          <a:prstGeom prst="rect">
            <a:avLst/>
          </a:prstGeom>
          <a:noFill/>
        </p:spPr>
        <p:txBody>
          <a:bodyPr wrap="square" lIns="0" tIns="0" rIns="0" bIns="0" rtlCol="0" anchor="ctr"/>
          <a:lstStyle/>
          <a:p>
            <a:pPr marL="0" indent="0" algn="ctr">
              <a:buNone/>
            </a:pPr>
            <a:r>
              <a:rPr lang="en-US" sz="10000" b="1" dirty="0">
                <a:solidFill>
                  <a:srgbClr val="C0392B">
                    <a:alpha val="82000"/>
                  </a:srgbClr>
                </a:solidFill>
                <a:latin typeface="Georgia" panose="02040502050405020303" pitchFamily="34" charset="0"/>
                <a:ea typeface="Georgia" panose="02040502050405020303" pitchFamily="34" charset="0"/>
                <a:cs typeface="Georgia" panose="02040502050405020303" pitchFamily="34" charset="0"/>
              </a:rPr>
              <a:t>01</a:t>
            </a:r>
            <a:endParaRPr lang="en-US" sz="10000" dirty="0"/>
          </a:p>
        </p:txBody>
      </p:sp>
      <p:sp>
        <p:nvSpPr>
          <p:cNvPr id="5" name="Text 3"/>
          <p:cNvSpPr/>
          <p:nvPr/>
        </p:nvSpPr>
        <p:spPr>
          <a:xfrm>
            <a:off x="914400" y="1828800"/>
            <a:ext cx="7315200" cy="1325880"/>
          </a:xfrm>
          <a:prstGeom prst="rect">
            <a:avLst/>
          </a:prstGeom>
          <a:noFill/>
        </p:spPr>
        <p:txBody>
          <a:bodyPr wrap="square" lIns="0" tIns="0" rIns="0" bIns="0" rtlCol="0" anchor="ctr"/>
          <a:lstStyle/>
          <a:p>
            <a:pPr marL="0" indent="0" algn="ctr">
              <a:buNone/>
            </a:pPr>
            <a:r>
              <a:rPr lang="en-US" sz="3600" b="1" dirty="0">
                <a:solidFill>
                  <a:srgbClr val="FFFFFF"/>
                </a:solidFill>
                <a:latin typeface="Georgia" panose="02040502050405020303" pitchFamily="34" charset="0"/>
                <a:ea typeface="Georgia" panose="02040502050405020303" pitchFamily="34" charset="0"/>
                <a:cs typeface="Georgia" panose="02040502050405020303" pitchFamily="34" charset="0"/>
              </a:rPr>
              <a:t>Introduction &amp;</a:t>
            </a:r>
            <a:endParaRPr lang="en-US" sz="3600" dirty="0"/>
          </a:p>
          <a:p>
            <a:pPr marL="0" indent="0" algn="ctr">
              <a:buNone/>
            </a:pPr>
            <a:r>
              <a:rPr lang="en-US" sz="3600" b="1" dirty="0">
                <a:solidFill>
                  <a:srgbClr val="FFFFFF"/>
                </a:solidFill>
                <a:latin typeface="Georgia" panose="02040502050405020303" pitchFamily="34" charset="0"/>
                <a:ea typeface="Georgia" panose="02040502050405020303" pitchFamily="34" charset="0"/>
                <a:cs typeface="Georgia" panose="02040502050405020303" pitchFamily="34" charset="0"/>
              </a:rPr>
              <a:t>Philosophical Foundations</a:t>
            </a:r>
            <a:endParaRPr lang="en-US" sz="3600" dirty="0"/>
          </a:p>
        </p:txBody>
      </p:sp>
      <p:sp>
        <p:nvSpPr>
          <p:cNvPr id="6" name="Shape 4"/>
          <p:cNvSpPr/>
          <p:nvPr/>
        </p:nvSpPr>
        <p:spPr>
          <a:xfrm>
            <a:off x="2743200" y="3246120"/>
            <a:ext cx="3657600" cy="0"/>
          </a:xfrm>
          <a:prstGeom prst="line">
            <a:avLst/>
          </a:prstGeom>
          <a:noFill/>
          <a:ln w="19050">
            <a:solidFill>
              <a:srgbClr val="C9A84C"/>
            </a:solidFill>
            <a:prstDash val="solid"/>
          </a:ln>
        </p:spPr>
        <p:txBody>
          <a:bodyPr/>
          <a:lstStyle/>
          <a:p>
            <a:endParaRPr lang="zh-CN" altLang="en-US"/>
          </a:p>
        </p:txBody>
      </p:sp>
      <p:sp>
        <p:nvSpPr>
          <p:cNvPr id="7" name="Text 5"/>
          <p:cNvSpPr/>
          <p:nvPr/>
        </p:nvSpPr>
        <p:spPr>
          <a:xfrm>
            <a:off x="914400" y="3364992"/>
            <a:ext cx="7315200" cy="384048"/>
          </a:xfrm>
          <a:prstGeom prst="rect">
            <a:avLst/>
          </a:prstGeom>
          <a:noFill/>
        </p:spPr>
        <p:txBody>
          <a:bodyPr wrap="square" lIns="0" tIns="0" rIns="0" bIns="0" rtlCol="0" anchor="ctr"/>
          <a:lstStyle/>
          <a:p>
            <a:pPr marL="0" indent="0" algn="ctr">
              <a:buNone/>
            </a:pPr>
            <a:r>
              <a:rPr lang="en-US" sz="1500" i="1" dirty="0">
                <a:solidFill>
                  <a:srgbClr val="C9A84C"/>
                </a:solidFill>
                <a:latin typeface="Calibri" panose="020F0502020204030204" pitchFamily="34" charset="0"/>
                <a:ea typeface="Calibri" panose="020F0502020204030204" pitchFamily="34" charset="0"/>
                <a:cs typeface="Calibri" panose="020F0502020204030204" pitchFamily="34" charset="0"/>
              </a:rPr>
              <a:t>Speaker 1</a:t>
            </a:r>
            <a:endParaRPr lang="en-US" sz="1500" dirty="0"/>
          </a:p>
        </p:txBody>
      </p:sp>
      <p:sp>
        <p:nvSpPr>
          <p:cNvPr id="8" name="Shape 6"/>
          <p:cNvSpPr/>
          <p:nvPr/>
        </p:nvSpPr>
        <p:spPr>
          <a:xfrm>
            <a:off x="0" y="4846320"/>
            <a:ext cx="9144000" cy="292608"/>
          </a:xfrm>
          <a:prstGeom prst="rect">
            <a:avLst/>
          </a:prstGeom>
          <a:solidFill>
            <a:srgbClr val="C0392B">
              <a:alpha val="60000"/>
            </a:srgbClr>
          </a:solidFill>
          <a:ln w="12700">
            <a:solidFill>
              <a:srgbClr val="C0392B"/>
            </a:solidFill>
            <a:prstDash val="solid"/>
          </a:ln>
        </p:spPr>
        <p:txBody>
          <a:bodyPr/>
          <a:lstStyle/>
          <a:p>
            <a:endParaRPr lang="zh-CN" altLang="en-US"/>
          </a:p>
        </p:txBody>
      </p:sp>
      <p:sp>
        <p:nvSpPr>
          <p:cNvPr id="9" name="Text 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2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914400" y="-731520"/>
            <a:ext cx="5029200" cy="5029200"/>
          </a:xfrm>
          <a:prstGeom prst="ellipse">
            <a:avLst/>
          </a:prstGeom>
          <a:solidFill>
            <a:srgbClr val="C0392B">
              <a:alpha val="19000"/>
            </a:srgbClr>
          </a:solidFill>
          <a:ln w="12700">
            <a:solidFill>
              <a:srgbClr val="C0392B"/>
            </a:solidFill>
            <a:prstDash val="solid"/>
          </a:ln>
        </p:spPr>
        <p:txBody>
          <a:bodyPr/>
          <a:lstStyle/>
          <a:p>
            <a:endParaRPr lang="zh-CN" altLang="en-US"/>
          </a:p>
        </p:txBody>
      </p:sp>
      <p:sp>
        <p:nvSpPr>
          <p:cNvPr id="3" name="Shape 1"/>
          <p:cNvSpPr/>
          <p:nvPr/>
        </p:nvSpPr>
        <p:spPr>
          <a:xfrm>
            <a:off x="5029200" y="1371600"/>
            <a:ext cx="5029200" cy="5029200"/>
          </a:xfrm>
          <a:prstGeom prst="ellipse">
            <a:avLst/>
          </a:prstGeom>
          <a:solidFill>
            <a:srgbClr val="7B0000">
              <a:alpha val="17000"/>
            </a:srgbClr>
          </a:solidFill>
          <a:ln w="12700">
            <a:solidFill>
              <a:srgbClr val="7B0000"/>
            </a:solidFill>
            <a:prstDash val="solid"/>
          </a:ln>
        </p:spPr>
        <p:txBody>
          <a:bodyPr/>
          <a:lstStyle/>
          <a:p>
            <a:endParaRPr lang="zh-CN" altLang="en-US"/>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1</a:t>
            </a:r>
            <a:endParaRPr lang="en-US" sz="900" dirty="0"/>
          </a:p>
        </p:txBody>
      </p:sp>
      <p:sp>
        <p:nvSpPr>
          <p:cNvPr id="6" name="Text 4"/>
          <p:cNvSpPr/>
          <p:nvPr/>
        </p:nvSpPr>
        <p:spPr>
          <a:xfrm>
            <a:off x="457200" y="137160"/>
            <a:ext cx="6858000" cy="594360"/>
          </a:xfrm>
          <a:prstGeom prst="rect">
            <a:avLst/>
          </a:prstGeom>
          <a:noFill/>
        </p:spPr>
        <p:txBody>
          <a:bodyPr wrap="square" lIns="0" tIns="0" rIns="0" bIns="0" rtlCol="0" anchor="ctr"/>
          <a:lstStyle/>
          <a:p>
            <a:pPr marL="0" indent="0">
              <a:buNone/>
            </a:pPr>
            <a:r>
              <a:rPr lang="en-US" sz="2800" b="1" dirty="0">
                <a:solidFill>
                  <a:srgbClr val="FFFFFF"/>
                </a:solidFill>
                <a:latin typeface="Georgia" panose="02040502050405020303" pitchFamily="34" charset="0"/>
                <a:ea typeface="Georgia" panose="02040502050405020303" pitchFamily="34" charset="0"/>
                <a:cs typeface="Georgia" panose="02040502050405020303" pitchFamily="34" charset="0"/>
              </a:rPr>
              <a:t>Opening Hook</a:t>
            </a:r>
            <a:endParaRPr lang="en-US" sz="2800" dirty="0"/>
          </a:p>
        </p:txBody>
      </p:sp>
      <p:sp>
        <p:nvSpPr>
          <p:cNvPr id="7" name="Shape 5"/>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8" name="Text 6"/>
          <p:cNvSpPr/>
          <p:nvPr/>
        </p:nvSpPr>
        <p:spPr>
          <a:xfrm>
            <a:off x="731520" y="1097280"/>
            <a:ext cx="7680960" cy="822960"/>
          </a:xfrm>
          <a:prstGeom prst="rect">
            <a:avLst/>
          </a:prstGeom>
          <a:noFill/>
        </p:spPr>
        <p:txBody>
          <a:bodyPr wrap="square" lIns="0" tIns="0" rIns="0" bIns="0" rtlCol="0" anchor="ctr"/>
          <a:lstStyle/>
          <a:p>
            <a:pPr marL="0" indent="0" algn="ctr">
              <a:buNone/>
            </a:pPr>
            <a:r>
              <a:rPr lang="en-US" sz="2200" b="1" dirty="0">
                <a:solidFill>
                  <a:srgbClr val="FFFFFF"/>
                </a:solidFill>
                <a:latin typeface="Georgia" panose="02040502050405020303" pitchFamily="34" charset="0"/>
                <a:ea typeface="Georgia" panose="02040502050405020303" pitchFamily="34" charset="0"/>
                <a:cs typeface="Georgia" panose="02040502050405020303" pitchFamily="34" charset="0"/>
              </a:rPr>
              <a:t>Have you ever helped a stranger — not because you had to, but because it just felt right?</a:t>
            </a:r>
            <a:endParaRPr lang="en-US" sz="2200" dirty="0"/>
          </a:p>
        </p:txBody>
      </p:sp>
      <p:sp>
        <p:nvSpPr>
          <p:cNvPr id="9" name="Shape 7"/>
          <p:cNvSpPr/>
          <p:nvPr/>
        </p:nvSpPr>
        <p:spPr>
          <a:xfrm>
            <a:off x="1828800" y="2084832"/>
            <a:ext cx="5486400" cy="0"/>
          </a:xfrm>
          <a:prstGeom prst="line">
            <a:avLst/>
          </a:prstGeom>
          <a:noFill/>
          <a:ln w="19050">
            <a:solidFill>
              <a:srgbClr val="C9A84C"/>
            </a:solidFill>
            <a:prstDash val="solid"/>
          </a:ln>
        </p:spPr>
        <p:txBody>
          <a:bodyPr/>
          <a:lstStyle/>
          <a:p>
            <a:endParaRPr lang="zh-CN" altLang="en-US"/>
          </a:p>
        </p:txBody>
      </p:sp>
      <p:sp>
        <p:nvSpPr>
          <p:cNvPr id="10" name="Text 8"/>
          <p:cNvSpPr/>
          <p:nvPr/>
        </p:nvSpPr>
        <p:spPr>
          <a:xfrm>
            <a:off x="731520" y="2240280"/>
            <a:ext cx="7680960" cy="475488"/>
          </a:xfrm>
          <a:prstGeom prst="rect">
            <a:avLst/>
          </a:prstGeom>
          <a:noFill/>
        </p:spPr>
        <p:txBody>
          <a:bodyPr wrap="square" lIns="0" tIns="0" rIns="0" bIns="0" rtlCol="0" anchor="ctr"/>
          <a:lstStyle/>
          <a:p>
            <a:pPr marL="0" indent="0" algn="ctr">
              <a:buNone/>
            </a:pPr>
            <a:r>
              <a:rPr lang="en-US" sz="1600" i="1" dirty="0">
                <a:solidFill>
                  <a:srgbClr val="D0C0A0"/>
                </a:solidFill>
                <a:latin typeface="Calibri" panose="020F0502020204030204" pitchFamily="34" charset="0"/>
                <a:ea typeface="Calibri" panose="020F0502020204030204" pitchFamily="34" charset="0"/>
                <a:cs typeface="Calibri" panose="020F0502020204030204" pitchFamily="34" charset="0"/>
              </a:rPr>
              <a:t>That feeling has a name in Chinese philosophy.</a:t>
            </a:r>
            <a:endParaRPr lang="en-US" sz="1600" dirty="0"/>
          </a:p>
        </p:txBody>
      </p:sp>
      <p:sp>
        <p:nvSpPr>
          <p:cNvPr id="11" name="Text 9"/>
          <p:cNvSpPr/>
          <p:nvPr/>
        </p:nvSpPr>
        <p:spPr>
          <a:xfrm>
            <a:off x="731520" y="2880360"/>
            <a:ext cx="7680960" cy="868680"/>
          </a:xfrm>
          <a:prstGeom prst="rect">
            <a:avLst/>
          </a:prstGeom>
          <a:noFill/>
        </p:spPr>
        <p:txBody>
          <a:bodyPr wrap="square" lIns="0" tIns="0" rIns="0" bIns="0" rtlCol="0" anchor="ctr"/>
          <a:lstStyle/>
          <a:p>
            <a:pPr marL="0" indent="0" algn="ctr">
              <a:buNone/>
            </a:pPr>
            <a:r>
              <a:rPr lang="en-US" sz="5200" b="1" dirty="0">
                <a:solidFill>
                  <a:srgbClr val="C9A84C"/>
                </a:solidFill>
                <a:latin typeface="Georgia" panose="02040502050405020303" pitchFamily="34" charset="0"/>
                <a:ea typeface="Georgia" panose="02040502050405020303" pitchFamily="34" charset="0"/>
                <a:cs typeface="Georgia" panose="02040502050405020303" pitchFamily="34" charset="0"/>
              </a:rPr>
              <a:t>仁  —  Rén</a:t>
            </a:r>
            <a:endParaRPr lang="en-US" sz="5200" dirty="0"/>
          </a:p>
        </p:txBody>
      </p:sp>
      <p:sp>
        <p:nvSpPr>
          <p:cNvPr id="12" name="Text 10"/>
          <p:cNvSpPr/>
          <p:nvPr/>
        </p:nvSpPr>
        <p:spPr>
          <a:xfrm>
            <a:off x="731520" y="3858768"/>
            <a:ext cx="7680960" cy="384048"/>
          </a:xfrm>
          <a:prstGeom prst="rect">
            <a:avLst/>
          </a:prstGeom>
          <a:noFill/>
        </p:spPr>
        <p:txBody>
          <a:bodyPr wrap="square" lIns="0" tIns="0" rIns="0" bIns="0" rtlCol="0" anchor="ctr"/>
          <a:lstStyle/>
          <a:p>
            <a:pPr marL="0" indent="0" algn="ctr">
              <a:buNone/>
            </a:pPr>
            <a:r>
              <a:rPr lang="en-US" sz="1400" i="1" dirty="0">
                <a:solidFill>
                  <a:srgbClr val="FFFFFF"/>
                </a:solidFill>
                <a:latin typeface="Calibri" panose="020F0502020204030204" pitchFamily="34" charset="0"/>
                <a:ea typeface="Calibri" panose="020F0502020204030204" pitchFamily="34" charset="0"/>
                <a:cs typeface="Calibri" panose="020F0502020204030204" pitchFamily="34" charset="0"/>
              </a:rPr>
              <a:t>A 2,500-year-old idea that still matters today.</a:t>
            </a:r>
            <a:endParaRPr lang="en-US" sz="1400" dirty="0"/>
          </a:p>
        </p:txBody>
      </p:sp>
      <p:sp>
        <p:nvSpPr>
          <p:cNvPr id="13" name="Shape 11"/>
          <p:cNvSpPr/>
          <p:nvPr/>
        </p:nvSpPr>
        <p:spPr>
          <a:xfrm>
            <a:off x="0" y="4846320"/>
            <a:ext cx="9144000" cy="292608"/>
          </a:xfrm>
          <a:prstGeom prst="rect">
            <a:avLst/>
          </a:prstGeom>
          <a:solidFill>
            <a:srgbClr val="C0392B">
              <a:alpha val="60000"/>
            </a:srgbClr>
          </a:solidFill>
          <a:ln w="12700">
            <a:solidFill>
              <a:srgbClr val="C0392B"/>
            </a:solidFill>
            <a:prstDash val="solid"/>
          </a:ln>
        </p:spPr>
        <p:txBody>
          <a:bodyPr/>
          <a:lstStyle/>
          <a:p>
            <a:endParaRPr lang="zh-CN" altLang="en-US"/>
          </a:p>
        </p:txBody>
      </p:sp>
      <p:sp>
        <p:nvSpPr>
          <p:cNvPr id="14" name="Text 12"/>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3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仁</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1</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What is Rén?</a:t>
            </a:r>
            <a:endParaRPr lang="en-US" sz="1000" dirty="0"/>
          </a:p>
        </p:txBody>
      </p:sp>
      <p:sp>
        <p:nvSpPr>
          <p:cNvPr id="9" name="Text 7"/>
          <p:cNvSpPr/>
          <p:nvPr/>
        </p:nvSpPr>
        <p:spPr>
          <a:xfrm>
            <a:off x="2971800" y="137160"/>
            <a:ext cx="5897880" cy="594360"/>
          </a:xfrm>
          <a:prstGeom prst="rect">
            <a:avLst/>
          </a:prstGeom>
          <a:noFill/>
        </p:spPr>
        <p:txBody>
          <a:bodyPr wrap="square" lIns="0" tIns="0" rIns="0" bIns="0" rtlCol="0" anchor="ctr"/>
          <a:lstStyle/>
          <a:p>
            <a:pPr marL="0" indent="0">
              <a:buNone/>
            </a:pPr>
            <a:r>
              <a:rPr lang="en-US" sz="2600" b="1" dirty="0">
                <a:solidFill>
                  <a:srgbClr val="922B21"/>
                </a:solidFill>
                <a:latin typeface="Georgia" panose="02040502050405020303" pitchFamily="34" charset="0"/>
                <a:ea typeface="Georgia" panose="02040502050405020303" pitchFamily="34" charset="0"/>
                <a:cs typeface="Georgia" panose="02040502050405020303" pitchFamily="34" charset="0"/>
              </a:rPr>
              <a:t>What Does 仁 Mean?</a:t>
            </a:r>
            <a:endParaRPr lang="en-US" sz="26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Shape 9"/>
          <p:cNvSpPr/>
          <p:nvPr/>
        </p:nvSpPr>
        <p:spPr>
          <a:xfrm>
            <a:off x="2971800" y="960120"/>
            <a:ext cx="2331720" cy="3401568"/>
          </a:xfrm>
          <a:prstGeom prst="rect">
            <a:avLst/>
          </a:prstGeom>
          <a:solidFill>
            <a:srgbClr val="C0392B"/>
          </a:solidFill>
          <a:ln w="12700">
            <a:solidFill>
              <a:srgbClr val="C0392B"/>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2" name="Text 10"/>
          <p:cNvSpPr/>
          <p:nvPr/>
        </p:nvSpPr>
        <p:spPr>
          <a:xfrm>
            <a:off x="2971800" y="987552"/>
            <a:ext cx="2331720" cy="1920240"/>
          </a:xfrm>
          <a:prstGeom prst="rect">
            <a:avLst/>
          </a:prstGeom>
          <a:noFill/>
        </p:spPr>
        <p:txBody>
          <a:bodyPr wrap="square" lIns="0" tIns="0" rIns="0" bIns="0" rtlCol="0" anchor="ctr"/>
          <a:lstStyle/>
          <a:p>
            <a:pPr marL="0" indent="0" algn="ctr">
              <a:buNone/>
            </a:pPr>
            <a:r>
              <a:rPr lang="en-US" sz="12800" dirty="0">
                <a:solidFill>
                  <a:srgbClr val="FFFFFF">
                    <a:alpha val="84000"/>
                  </a:srgbClr>
                </a:solidFill>
                <a:latin typeface="Georgia" panose="02040502050405020303" pitchFamily="34" charset="0"/>
                <a:ea typeface="Georgia" panose="02040502050405020303" pitchFamily="34" charset="0"/>
                <a:cs typeface="Georgia" panose="02040502050405020303" pitchFamily="34" charset="0"/>
              </a:rPr>
              <a:t>仁</a:t>
            </a:r>
            <a:endParaRPr lang="en-US" sz="12800" dirty="0"/>
          </a:p>
        </p:txBody>
      </p:sp>
      <p:sp>
        <p:nvSpPr>
          <p:cNvPr id="13" name="Shape 11"/>
          <p:cNvSpPr/>
          <p:nvPr/>
        </p:nvSpPr>
        <p:spPr>
          <a:xfrm>
            <a:off x="3108960" y="2971800"/>
            <a:ext cx="2057400" cy="0"/>
          </a:xfrm>
          <a:prstGeom prst="line">
            <a:avLst/>
          </a:prstGeom>
          <a:noFill/>
          <a:ln w="12700">
            <a:solidFill>
              <a:srgbClr val="FFFFFF">
                <a:alpha val="55000"/>
              </a:srgbClr>
            </a:solidFill>
            <a:prstDash val="solid"/>
          </a:ln>
        </p:spPr>
        <p:txBody>
          <a:bodyPr/>
          <a:lstStyle/>
          <a:p>
            <a:endParaRPr lang="zh-CN" altLang="en-US"/>
          </a:p>
        </p:txBody>
      </p:sp>
      <p:sp>
        <p:nvSpPr>
          <p:cNvPr id="14" name="Text 12"/>
          <p:cNvSpPr/>
          <p:nvPr/>
        </p:nvSpPr>
        <p:spPr>
          <a:xfrm>
            <a:off x="3035808" y="3035808"/>
            <a:ext cx="2194560" cy="292608"/>
          </a:xfrm>
          <a:prstGeom prst="rect">
            <a:avLst/>
          </a:prstGeom>
          <a:noFill/>
        </p:spPr>
        <p:txBody>
          <a:bodyPr wrap="square" lIns="0" tIns="0" rIns="0" bIns="0" rtlCol="0" anchor="ctr"/>
          <a:lstStyle/>
          <a:p>
            <a:pPr marL="0" indent="0" algn="ctr">
              <a:buNone/>
            </a:pPr>
            <a:r>
              <a:rPr lang="en-US" sz="1050" dirty="0">
                <a:solidFill>
                  <a:srgbClr val="FFFFFF"/>
                </a:solidFill>
                <a:latin typeface="Calibri" panose="020F0502020204030204" pitchFamily="34" charset="0"/>
                <a:ea typeface="Calibri" panose="020F0502020204030204" pitchFamily="34" charset="0"/>
                <a:cs typeface="Calibri" panose="020F0502020204030204" pitchFamily="34" charset="0"/>
              </a:rPr>
              <a:t>人 (person) + 二 (two)</a:t>
            </a:r>
            <a:endParaRPr lang="en-US" sz="1050" dirty="0"/>
          </a:p>
        </p:txBody>
      </p:sp>
      <p:sp>
        <p:nvSpPr>
          <p:cNvPr id="15" name="Text 13"/>
          <p:cNvSpPr/>
          <p:nvPr/>
        </p:nvSpPr>
        <p:spPr>
          <a:xfrm>
            <a:off x="3035808" y="3337560"/>
            <a:ext cx="2194560" cy="292608"/>
          </a:xfrm>
          <a:prstGeom prst="rect">
            <a:avLst/>
          </a:prstGeom>
          <a:noFill/>
        </p:spPr>
        <p:txBody>
          <a:bodyPr wrap="square" lIns="0" tIns="0" rIns="0" bIns="0" rtlCol="0" anchor="ctr"/>
          <a:lstStyle/>
          <a:p>
            <a:pPr marL="0" indent="0" algn="ctr">
              <a:buNone/>
            </a:pPr>
            <a:r>
              <a:rPr lang="en-US" sz="1000" i="1" dirty="0">
                <a:solidFill>
                  <a:srgbClr val="C9A84C"/>
                </a:solidFill>
                <a:latin typeface="Calibri" panose="020F0502020204030204" pitchFamily="34" charset="0"/>
                <a:ea typeface="Calibri" panose="020F0502020204030204" pitchFamily="34" charset="0"/>
                <a:cs typeface="Calibri" panose="020F0502020204030204" pitchFamily="34" charset="0"/>
              </a:rPr>
              <a:t>= Two people together</a:t>
            </a:r>
            <a:endParaRPr lang="en-US" sz="1000" dirty="0"/>
          </a:p>
        </p:txBody>
      </p:sp>
      <p:sp>
        <p:nvSpPr>
          <p:cNvPr id="16" name="Text 14"/>
          <p:cNvSpPr/>
          <p:nvPr/>
        </p:nvSpPr>
        <p:spPr>
          <a:xfrm>
            <a:off x="3035808" y="3858768"/>
            <a:ext cx="2194560" cy="274320"/>
          </a:xfrm>
          <a:prstGeom prst="rect">
            <a:avLst/>
          </a:prstGeom>
          <a:noFill/>
        </p:spPr>
        <p:txBody>
          <a:bodyPr wrap="square" lIns="0" tIns="0" rIns="0" bIns="0" rtlCol="0" anchor="ctr"/>
          <a:lstStyle/>
          <a:p>
            <a:pPr marL="0" indent="0" algn="ctr">
              <a:buNone/>
            </a:pPr>
            <a:r>
              <a:rPr lang="en-US" sz="1300" b="1" dirty="0">
                <a:solidFill>
                  <a:srgbClr val="FFFFFF"/>
                </a:solidFill>
                <a:latin typeface="Georgia" panose="02040502050405020303" pitchFamily="34" charset="0"/>
                <a:ea typeface="Georgia" panose="02040502050405020303" pitchFamily="34" charset="0"/>
                <a:cs typeface="Georgia" panose="02040502050405020303" pitchFamily="34" charset="0"/>
              </a:rPr>
              <a:t>仁  Rén</a:t>
            </a:r>
            <a:endParaRPr lang="en-US" sz="1300" dirty="0"/>
          </a:p>
        </p:txBody>
      </p:sp>
      <p:sp>
        <p:nvSpPr>
          <p:cNvPr id="17" name="Shape 15"/>
          <p:cNvSpPr/>
          <p:nvPr/>
        </p:nvSpPr>
        <p:spPr>
          <a:xfrm>
            <a:off x="5559552" y="960120"/>
            <a:ext cx="1188720" cy="475488"/>
          </a:xfrm>
          <a:prstGeom prst="rect">
            <a:avLst/>
          </a:prstGeom>
          <a:solidFill>
            <a:srgbClr val="C0392B"/>
          </a:solidFill>
          <a:ln w="12700">
            <a:solidFill>
              <a:srgbClr val="C0392B"/>
            </a:solidFill>
            <a:prstDash val="solid"/>
          </a:ln>
        </p:spPr>
        <p:txBody>
          <a:bodyPr/>
          <a:lstStyle/>
          <a:p>
            <a:endParaRPr lang="zh-CN" altLang="en-US"/>
          </a:p>
        </p:txBody>
      </p:sp>
      <p:sp>
        <p:nvSpPr>
          <p:cNvPr id="18" name="Text 16"/>
          <p:cNvSpPr/>
          <p:nvPr/>
        </p:nvSpPr>
        <p:spPr>
          <a:xfrm>
            <a:off x="5559552" y="960120"/>
            <a:ext cx="1188720" cy="475488"/>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0"/>
                <a:cs typeface="Calibri" panose="020F0502020204030204" pitchFamily="34" charset="0"/>
              </a:rPr>
              <a:t>Meaning</a:t>
            </a:r>
            <a:endParaRPr lang="en-US" sz="950" dirty="0"/>
          </a:p>
        </p:txBody>
      </p:sp>
      <p:sp>
        <p:nvSpPr>
          <p:cNvPr id="19" name="Text 17"/>
          <p:cNvSpPr/>
          <p:nvPr/>
        </p:nvSpPr>
        <p:spPr>
          <a:xfrm>
            <a:off x="6839712" y="996696"/>
            <a:ext cx="2029968" cy="420624"/>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Benevolence — loving and genuinely caring for others.</a:t>
            </a:r>
            <a:endParaRPr lang="en-US" sz="1100" dirty="0"/>
          </a:p>
        </p:txBody>
      </p:sp>
      <p:sp>
        <p:nvSpPr>
          <p:cNvPr id="20" name="Shape 18"/>
          <p:cNvSpPr/>
          <p:nvPr/>
        </p:nvSpPr>
        <p:spPr>
          <a:xfrm>
            <a:off x="5559552" y="1728216"/>
            <a:ext cx="1188720" cy="475488"/>
          </a:xfrm>
          <a:prstGeom prst="rect">
            <a:avLst/>
          </a:prstGeom>
          <a:solidFill>
            <a:srgbClr val="C0392B"/>
          </a:solidFill>
          <a:ln w="12700">
            <a:solidFill>
              <a:srgbClr val="C0392B"/>
            </a:solidFill>
            <a:prstDash val="solid"/>
          </a:ln>
        </p:spPr>
        <p:txBody>
          <a:bodyPr/>
          <a:lstStyle/>
          <a:p>
            <a:endParaRPr lang="zh-CN" altLang="en-US"/>
          </a:p>
        </p:txBody>
      </p:sp>
      <p:sp>
        <p:nvSpPr>
          <p:cNvPr id="21" name="Text 19"/>
          <p:cNvSpPr/>
          <p:nvPr/>
        </p:nvSpPr>
        <p:spPr>
          <a:xfrm>
            <a:off x="5559552" y="1728216"/>
            <a:ext cx="1188720" cy="475488"/>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0"/>
                <a:cs typeface="Calibri" panose="020F0502020204030204" pitchFamily="34" charset="0"/>
              </a:rPr>
              <a:t>Key insight</a:t>
            </a:r>
            <a:endParaRPr lang="en-US" sz="950" dirty="0"/>
          </a:p>
        </p:txBody>
      </p:sp>
      <p:sp>
        <p:nvSpPr>
          <p:cNvPr id="22" name="Text 20"/>
          <p:cNvSpPr/>
          <p:nvPr/>
        </p:nvSpPr>
        <p:spPr>
          <a:xfrm>
            <a:off x="6839712" y="1764792"/>
            <a:ext cx="2029968" cy="420624"/>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Rén is not about being alone — it lives between people.</a:t>
            </a:r>
            <a:endParaRPr lang="en-US" sz="1100" dirty="0"/>
          </a:p>
        </p:txBody>
      </p:sp>
      <p:sp>
        <p:nvSpPr>
          <p:cNvPr id="23" name="Shape 21"/>
          <p:cNvSpPr/>
          <p:nvPr/>
        </p:nvSpPr>
        <p:spPr>
          <a:xfrm>
            <a:off x="5559552" y="2496312"/>
            <a:ext cx="1188720" cy="475488"/>
          </a:xfrm>
          <a:prstGeom prst="rect">
            <a:avLst/>
          </a:prstGeom>
          <a:solidFill>
            <a:srgbClr val="C0392B"/>
          </a:solidFill>
          <a:ln w="12700">
            <a:solidFill>
              <a:srgbClr val="C0392B"/>
            </a:solidFill>
            <a:prstDash val="solid"/>
          </a:ln>
        </p:spPr>
        <p:txBody>
          <a:bodyPr/>
          <a:lstStyle/>
          <a:p>
            <a:endParaRPr lang="zh-CN" altLang="en-US"/>
          </a:p>
        </p:txBody>
      </p:sp>
      <p:sp>
        <p:nvSpPr>
          <p:cNvPr id="24" name="Text 22"/>
          <p:cNvSpPr/>
          <p:nvPr/>
        </p:nvSpPr>
        <p:spPr>
          <a:xfrm>
            <a:off x="5559552" y="2496312"/>
            <a:ext cx="1188720" cy="475488"/>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0"/>
                <a:cs typeface="Calibri" panose="020F0502020204030204" pitchFamily="34" charset="0"/>
              </a:rPr>
              <a:t>Grows outward</a:t>
            </a:r>
            <a:endParaRPr lang="en-US" sz="950" dirty="0"/>
          </a:p>
        </p:txBody>
      </p:sp>
      <p:sp>
        <p:nvSpPr>
          <p:cNvPr id="25" name="Text 23"/>
          <p:cNvSpPr/>
          <p:nvPr/>
        </p:nvSpPr>
        <p:spPr>
          <a:xfrm>
            <a:off x="6839712" y="2532888"/>
            <a:ext cx="2029968" cy="420624"/>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Self → Family → Society → All living things.</a:t>
            </a:r>
            <a:endParaRPr lang="en-US" sz="1100" dirty="0"/>
          </a:p>
        </p:txBody>
      </p:sp>
      <p:sp>
        <p:nvSpPr>
          <p:cNvPr id="26" name="Shape 24"/>
          <p:cNvSpPr/>
          <p:nvPr/>
        </p:nvSpPr>
        <p:spPr>
          <a:xfrm>
            <a:off x="5559552" y="3264408"/>
            <a:ext cx="1188720" cy="475488"/>
          </a:xfrm>
          <a:prstGeom prst="rect">
            <a:avLst/>
          </a:prstGeom>
          <a:solidFill>
            <a:srgbClr val="C0392B"/>
          </a:solidFill>
          <a:ln w="12700">
            <a:solidFill>
              <a:srgbClr val="C0392B"/>
            </a:solidFill>
            <a:prstDash val="solid"/>
          </a:ln>
        </p:spPr>
        <p:txBody>
          <a:bodyPr/>
          <a:lstStyle/>
          <a:p>
            <a:endParaRPr lang="zh-CN" altLang="en-US"/>
          </a:p>
        </p:txBody>
      </p:sp>
      <p:sp>
        <p:nvSpPr>
          <p:cNvPr id="27" name="Text 25"/>
          <p:cNvSpPr/>
          <p:nvPr/>
        </p:nvSpPr>
        <p:spPr>
          <a:xfrm>
            <a:off x="5559552" y="3264408"/>
            <a:ext cx="1188720" cy="475488"/>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0"/>
                <a:cs typeface="Calibri" panose="020F0502020204030204" pitchFamily="34" charset="0"/>
              </a:rPr>
              <a:t>Golden Rule</a:t>
            </a:r>
            <a:endParaRPr lang="en-US" sz="950" dirty="0"/>
          </a:p>
        </p:txBody>
      </p:sp>
      <p:sp>
        <p:nvSpPr>
          <p:cNvPr id="28" name="Text 26"/>
          <p:cNvSpPr/>
          <p:nvPr/>
        </p:nvSpPr>
        <p:spPr>
          <a:xfrm>
            <a:off x="6839712" y="3300984"/>
            <a:ext cx="2029968" cy="420624"/>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Do not do to others what you don't want done to yourself.</a:t>
            </a:r>
            <a:endParaRPr lang="en-US" sz="1100" dirty="0"/>
          </a:p>
        </p:txBody>
      </p:sp>
      <p:sp>
        <p:nvSpPr>
          <p:cNvPr id="29" name="Shape 27"/>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30" name="Text 28"/>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4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1</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Confucius — Three Key Teachings</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Text 5"/>
          <p:cNvSpPr/>
          <p:nvPr/>
        </p:nvSpPr>
        <p:spPr>
          <a:xfrm>
            <a:off x="457200" y="914400"/>
            <a:ext cx="8229600" cy="347472"/>
          </a:xfrm>
          <a:prstGeom prst="rect">
            <a:avLst/>
          </a:prstGeom>
          <a:noFill/>
        </p:spPr>
        <p:txBody>
          <a:bodyPr wrap="square" lIns="0" tIns="0" rIns="0" bIns="0" rtlCol="0" anchor="ctr"/>
          <a:lstStyle/>
          <a:p>
            <a:pPr marL="0" indent="0">
              <a:buNone/>
            </a:pPr>
            <a:r>
              <a:rPr lang="en-US" sz="1250" i="1" dirty="0">
                <a:solidFill>
                  <a:srgbClr val="7F8C8D"/>
                </a:solidFill>
                <a:latin typeface="Calibri" panose="020F0502020204030204" pitchFamily="34" charset="0"/>
                <a:ea typeface="Calibri" panose="020F0502020204030204" pitchFamily="34" charset="0"/>
                <a:cs typeface="Calibri" panose="020F0502020204030204" pitchFamily="34" charset="0"/>
              </a:rPr>
              <a:t>Confucius (551 BCE) spoke about Rén more than any other virtue. He gave us three teachings.</a:t>
            </a:r>
            <a:endParaRPr lang="en-US" sz="1250" dirty="0"/>
          </a:p>
        </p:txBody>
      </p:sp>
      <p:sp>
        <p:nvSpPr>
          <p:cNvPr id="8" name="Shape 6"/>
          <p:cNvSpPr/>
          <p:nvPr/>
        </p:nvSpPr>
        <p:spPr>
          <a:xfrm>
            <a:off x="365760" y="1353312"/>
            <a:ext cx="8412480" cy="987552"/>
          </a:xfrm>
          <a:prstGeom prst="rect">
            <a:avLst/>
          </a:prstGeom>
          <a:solidFill>
            <a:srgbClr val="922B21"/>
          </a:solidFill>
          <a:ln w="12700">
            <a:solidFill>
              <a:srgbClr val="922B21"/>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9" name="Text 7"/>
          <p:cNvSpPr/>
          <p:nvPr/>
        </p:nvSpPr>
        <p:spPr>
          <a:xfrm>
            <a:off x="548640" y="1417320"/>
            <a:ext cx="8229600" cy="347472"/>
          </a:xfrm>
          <a:prstGeom prst="rect">
            <a:avLst/>
          </a:prstGeom>
          <a:noFill/>
        </p:spPr>
        <p:txBody>
          <a:bodyPr wrap="square" lIns="0" tIns="0" rIns="0" bIns="0" rtlCol="0" anchor="ctr"/>
          <a:lstStyle/>
          <a:p>
            <a:pPr marL="0" indent="0">
              <a:buNone/>
            </a:pPr>
            <a:r>
              <a:rPr lang="en-US" sz="2000" b="1" dirty="0">
                <a:solidFill>
                  <a:srgbClr val="C9A84C"/>
                </a:solidFill>
                <a:latin typeface="Georgia" panose="02040502050405020303" pitchFamily="34" charset="0"/>
                <a:ea typeface="Georgia" panose="02040502050405020303" pitchFamily="34" charset="0"/>
                <a:cs typeface="Georgia" panose="02040502050405020303" pitchFamily="34" charset="0"/>
              </a:rPr>
              <a:t>爱人</a:t>
            </a:r>
            <a:endParaRPr lang="en-US" sz="2000" dirty="0"/>
          </a:p>
        </p:txBody>
      </p:sp>
      <p:sp>
        <p:nvSpPr>
          <p:cNvPr id="10" name="Text 8"/>
          <p:cNvSpPr/>
          <p:nvPr/>
        </p:nvSpPr>
        <p:spPr>
          <a:xfrm>
            <a:off x="548640" y="1764792"/>
            <a:ext cx="8229600" cy="256032"/>
          </a:xfrm>
          <a:prstGeom prst="rect">
            <a:avLst/>
          </a:prstGeom>
          <a:noFill/>
        </p:spPr>
        <p:txBody>
          <a:bodyPr wrap="square" lIns="0" tIns="0" rIns="0" bIns="0" rtlCol="0" anchor="ctr"/>
          <a:lstStyle/>
          <a:p>
            <a:pPr marL="0" indent="0">
              <a:buNone/>
            </a:pPr>
            <a:r>
              <a:rPr lang="en-US" sz="1150" i="1" dirty="0">
                <a:solidFill>
                  <a:srgbClr val="FFFFFF"/>
                </a:solidFill>
                <a:latin typeface="Calibri" panose="020F0502020204030204" pitchFamily="34" charset="0"/>
                <a:ea typeface="Calibri" panose="020F0502020204030204" pitchFamily="34" charset="0"/>
                <a:cs typeface="Calibri" panose="020F0502020204030204" pitchFamily="34" charset="0"/>
              </a:rPr>
              <a:t>"Love others."</a:t>
            </a:r>
            <a:endParaRPr lang="en-US" sz="1150" dirty="0"/>
          </a:p>
        </p:txBody>
      </p:sp>
      <p:sp>
        <p:nvSpPr>
          <p:cNvPr id="11" name="Text 9"/>
          <p:cNvSpPr/>
          <p:nvPr/>
        </p:nvSpPr>
        <p:spPr>
          <a:xfrm>
            <a:off x="548640" y="2029968"/>
            <a:ext cx="8229600" cy="219456"/>
          </a:xfrm>
          <a:prstGeom prst="rect">
            <a:avLst/>
          </a:prstGeom>
          <a:noFill/>
        </p:spPr>
        <p:txBody>
          <a:bodyPr wrap="square" lIns="0" tIns="0" rIns="0" bIns="0" rtlCol="0" anchor="ctr"/>
          <a:lstStyle/>
          <a:p>
            <a:pPr marL="0" indent="0">
              <a:buNone/>
            </a:pPr>
            <a:r>
              <a:rPr lang="en-US" sz="1000" dirty="0">
                <a:solidFill>
                  <a:srgbClr val="D0C0A0"/>
                </a:solidFill>
                <a:latin typeface="Calibri" panose="020F0502020204030204" pitchFamily="34" charset="0"/>
                <a:ea typeface="Calibri" panose="020F0502020204030204" pitchFamily="34" charset="0"/>
                <a:cs typeface="Calibri" panose="020F0502020204030204" pitchFamily="34" charset="0"/>
              </a:rPr>
              <a:t>The simplest definition of Rén — it starts here.</a:t>
            </a:r>
            <a:endParaRPr lang="en-US" sz="1000" dirty="0"/>
          </a:p>
        </p:txBody>
      </p:sp>
      <p:sp>
        <p:nvSpPr>
          <p:cNvPr id="12" name="Shape 10"/>
          <p:cNvSpPr/>
          <p:nvPr/>
        </p:nvSpPr>
        <p:spPr>
          <a:xfrm>
            <a:off x="365760" y="2523744"/>
            <a:ext cx="8412480" cy="987552"/>
          </a:xfrm>
          <a:prstGeom prst="rect">
            <a:avLst/>
          </a:prstGeom>
          <a:solidFill>
            <a:srgbClr val="C0392B"/>
          </a:solidFill>
          <a:ln w="12700">
            <a:solidFill>
              <a:srgbClr val="C0392B"/>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Text 11"/>
          <p:cNvSpPr/>
          <p:nvPr/>
        </p:nvSpPr>
        <p:spPr>
          <a:xfrm>
            <a:off x="548640" y="2587752"/>
            <a:ext cx="8229600" cy="347472"/>
          </a:xfrm>
          <a:prstGeom prst="rect">
            <a:avLst/>
          </a:prstGeom>
          <a:noFill/>
        </p:spPr>
        <p:txBody>
          <a:bodyPr wrap="square" lIns="0" tIns="0" rIns="0" bIns="0" rtlCol="0" anchor="ctr"/>
          <a:lstStyle/>
          <a:p>
            <a:pPr marL="0" indent="0">
              <a:buNone/>
            </a:pPr>
            <a:r>
              <a:rPr lang="en-US" sz="2000" b="1" dirty="0">
                <a:solidFill>
                  <a:srgbClr val="C9A84C"/>
                </a:solidFill>
                <a:latin typeface="Georgia" panose="02040502050405020303" pitchFamily="34" charset="0"/>
                <a:ea typeface="Georgia" panose="02040502050405020303" pitchFamily="34" charset="0"/>
                <a:cs typeface="Georgia" panose="02040502050405020303" pitchFamily="34" charset="0"/>
              </a:rPr>
              <a:t>己所不欲，勿施于人</a:t>
            </a:r>
            <a:endParaRPr lang="en-US" sz="2000" dirty="0"/>
          </a:p>
        </p:txBody>
      </p:sp>
      <p:sp>
        <p:nvSpPr>
          <p:cNvPr id="14" name="Text 12"/>
          <p:cNvSpPr/>
          <p:nvPr/>
        </p:nvSpPr>
        <p:spPr>
          <a:xfrm>
            <a:off x="548640" y="2935224"/>
            <a:ext cx="8229600" cy="256032"/>
          </a:xfrm>
          <a:prstGeom prst="rect">
            <a:avLst/>
          </a:prstGeom>
          <a:noFill/>
        </p:spPr>
        <p:txBody>
          <a:bodyPr wrap="square" lIns="0" tIns="0" rIns="0" bIns="0" rtlCol="0" anchor="ctr"/>
          <a:lstStyle/>
          <a:p>
            <a:pPr marL="0" indent="0">
              <a:buNone/>
            </a:pPr>
            <a:r>
              <a:rPr lang="en-US" sz="1150" i="1" dirty="0">
                <a:solidFill>
                  <a:srgbClr val="FFFFFF"/>
                </a:solidFill>
                <a:latin typeface="Calibri" panose="020F0502020204030204" pitchFamily="34" charset="0"/>
                <a:ea typeface="Calibri" panose="020F0502020204030204" pitchFamily="34" charset="0"/>
                <a:cs typeface="Calibri" panose="020F0502020204030204" pitchFamily="34" charset="0"/>
              </a:rPr>
              <a:t>"Do not do to others what you do not want done to yourself."</a:t>
            </a:r>
            <a:endParaRPr lang="en-US" sz="1150" dirty="0"/>
          </a:p>
        </p:txBody>
      </p:sp>
      <p:sp>
        <p:nvSpPr>
          <p:cNvPr id="15" name="Text 13"/>
          <p:cNvSpPr/>
          <p:nvPr/>
        </p:nvSpPr>
        <p:spPr>
          <a:xfrm>
            <a:off x="548640" y="3200400"/>
            <a:ext cx="8229600" cy="219456"/>
          </a:xfrm>
          <a:prstGeom prst="rect">
            <a:avLst/>
          </a:prstGeom>
          <a:noFill/>
        </p:spPr>
        <p:txBody>
          <a:bodyPr wrap="square" lIns="0" tIns="0" rIns="0" bIns="0" rtlCol="0" anchor="ctr"/>
          <a:lstStyle/>
          <a:p>
            <a:pPr marL="0" indent="0">
              <a:buNone/>
            </a:pPr>
            <a:r>
              <a:rPr lang="en-US" sz="1000" dirty="0">
                <a:solidFill>
                  <a:srgbClr val="D0C0A0"/>
                </a:solidFill>
                <a:latin typeface="Calibri" panose="020F0502020204030204" pitchFamily="34" charset="0"/>
                <a:ea typeface="Calibri" panose="020F0502020204030204" pitchFamily="34" charset="0"/>
                <a:cs typeface="Calibri" panose="020F0502020204030204" pitchFamily="34" charset="0"/>
              </a:rPr>
              <a:t>The Confucian Golden Rule — almost identical in Christianity, Islam and Buddhism.</a:t>
            </a:r>
            <a:endParaRPr lang="en-US" sz="1000" dirty="0"/>
          </a:p>
        </p:txBody>
      </p:sp>
      <p:sp>
        <p:nvSpPr>
          <p:cNvPr id="16" name="Shape 14"/>
          <p:cNvSpPr/>
          <p:nvPr/>
        </p:nvSpPr>
        <p:spPr>
          <a:xfrm>
            <a:off x="365760" y="3694176"/>
            <a:ext cx="8412480" cy="987552"/>
          </a:xfrm>
          <a:prstGeom prst="rect">
            <a:avLst/>
          </a:prstGeom>
          <a:solidFill>
            <a:srgbClr val="8B1A1A"/>
          </a:solidFill>
          <a:ln w="12700">
            <a:solidFill>
              <a:srgbClr val="8B1A1A"/>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7" name="Text 15"/>
          <p:cNvSpPr/>
          <p:nvPr/>
        </p:nvSpPr>
        <p:spPr>
          <a:xfrm>
            <a:off x="548640" y="3758184"/>
            <a:ext cx="8229600" cy="347472"/>
          </a:xfrm>
          <a:prstGeom prst="rect">
            <a:avLst/>
          </a:prstGeom>
          <a:noFill/>
        </p:spPr>
        <p:txBody>
          <a:bodyPr wrap="square" lIns="0" tIns="0" rIns="0" bIns="0" rtlCol="0" anchor="ctr"/>
          <a:lstStyle/>
          <a:p>
            <a:pPr marL="0" indent="0">
              <a:buNone/>
            </a:pPr>
            <a:r>
              <a:rPr lang="en-US" sz="2000" b="1" dirty="0">
                <a:solidFill>
                  <a:srgbClr val="C9A84C"/>
                </a:solidFill>
                <a:latin typeface="Georgia" panose="02040502050405020303" pitchFamily="34" charset="0"/>
                <a:ea typeface="Georgia" panose="02040502050405020303" pitchFamily="34" charset="0"/>
                <a:cs typeface="Georgia" panose="02040502050405020303" pitchFamily="34" charset="0"/>
              </a:rPr>
              <a:t>克己复礼为仁</a:t>
            </a:r>
            <a:endParaRPr lang="en-US" sz="2000" dirty="0"/>
          </a:p>
        </p:txBody>
      </p:sp>
      <p:sp>
        <p:nvSpPr>
          <p:cNvPr id="18" name="Text 16"/>
          <p:cNvSpPr/>
          <p:nvPr/>
        </p:nvSpPr>
        <p:spPr>
          <a:xfrm>
            <a:off x="548640" y="4105656"/>
            <a:ext cx="8229600" cy="256032"/>
          </a:xfrm>
          <a:prstGeom prst="rect">
            <a:avLst/>
          </a:prstGeom>
          <a:noFill/>
        </p:spPr>
        <p:txBody>
          <a:bodyPr wrap="square" lIns="0" tIns="0" rIns="0" bIns="0" rtlCol="0" anchor="ctr"/>
          <a:lstStyle/>
          <a:p>
            <a:pPr marL="0" indent="0">
              <a:buNone/>
            </a:pPr>
            <a:r>
              <a:rPr lang="en-US" sz="1150" i="1" dirty="0">
                <a:solidFill>
                  <a:srgbClr val="FFFFFF"/>
                </a:solidFill>
                <a:latin typeface="Calibri" panose="020F0502020204030204" pitchFamily="34" charset="0"/>
                <a:ea typeface="Calibri" panose="020F0502020204030204" pitchFamily="34" charset="0"/>
                <a:cs typeface="Calibri" panose="020F0502020204030204" pitchFamily="34" charset="0"/>
              </a:rPr>
              <a:t>"Rén means restraining yourself and returning to proper conduct."</a:t>
            </a:r>
            <a:endParaRPr lang="en-US" sz="1150" dirty="0"/>
          </a:p>
        </p:txBody>
      </p:sp>
      <p:sp>
        <p:nvSpPr>
          <p:cNvPr id="19" name="Text 17"/>
          <p:cNvSpPr/>
          <p:nvPr/>
        </p:nvSpPr>
        <p:spPr>
          <a:xfrm>
            <a:off x="548640" y="4370832"/>
            <a:ext cx="8229600" cy="219456"/>
          </a:xfrm>
          <a:prstGeom prst="rect">
            <a:avLst/>
          </a:prstGeom>
          <a:noFill/>
        </p:spPr>
        <p:txBody>
          <a:bodyPr wrap="square" lIns="0" tIns="0" rIns="0" bIns="0" rtlCol="0" anchor="ctr"/>
          <a:lstStyle/>
          <a:p>
            <a:pPr marL="0" indent="0">
              <a:buNone/>
            </a:pPr>
            <a:r>
              <a:rPr lang="en-US" sz="1000" dirty="0">
                <a:solidFill>
                  <a:srgbClr val="D0C0A0"/>
                </a:solidFill>
                <a:latin typeface="Calibri" panose="020F0502020204030204" pitchFamily="34" charset="0"/>
                <a:ea typeface="Calibri" panose="020F0502020204030204" pitchFamily="34" charset="0"/>
                <a:cs typeface="Calibri" panose="020F0502020204030204" pitchFamily="34" charset="0"/>
              </a:rPr>
              <a:t>Rén is not just a feeling — it must be shown through action every day.</a:t>
            </a:r>
            <a:endParaRPr lang="en-US" sz="1000" dirty="0"/>
          </a:p>
        </p:txBody>
      </p:sp>
      <p:sp>
        <p:nvSpPr>
          <p:cNvPr id="20" name="Shape 18"/>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1" name="Text 19"/>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5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孟</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1</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Mencius</a:t>
            </a:r>
            <a:endParaRPr lang="en-US" sz="1000" dirty="0"/>
          </a:p>
        </p:txBody>
      </p:sp>
      <p:sp>
        <p:nvSpPr>
          <p:cNvPr id="9" name="Text 7"/>
          <p:cNvSpPr/>
          <p:nvPr/>
        </p:nvSpPr>
        <p:spPr>
          <a:xfrm>
            <a:off x="2971800" y="137160"/>
            <a:ext cx="5897880" cy="594360"/>
          </a:xfrm>
          <a:prstGeom prst="rect">
            <a:avLst/>
          </a:prstGeom>
          <a:noFill/>
        </p:spPr>
        <p:txBody>
          <a:bodyPr wrap="square" lIns="0" tIns="0" rIns="0" bIns="0" rtlCol="0" anchor="ctr"/>
          <a:lstStyle/>
          <a:p>
            <a:pPr marL="0" indent="0">
              <a:buNone/>
            </a:pPr>
            <a:r>
              <a:rPr lang="en-US" sz="2600" b="1" dirty="0">
                <a:solidFill>
                  <a:srgbClr val="922B21"/>
                </a:solidFill>
                <a:latin typeface="Georgia" panose="02040502050405020303" pitchFamily="34" charset="0"/>
                <a:ea typeface="Georgia" panose="02040502050405020303" pitchFamily="34" charset="0"/>
                <a:cs typeface="Georgia" panose="02040502050405020303" pitchFamily="34" charset="0"/>
              </a:rPr>
              <a:t>Mencius — The Seed of Compassion</a:t>
            </a:r>
            <a:endParaRPr lang="en-US" sz="26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Shape 9"/>
          <p:cNvSpPr/>
          <p:nvPr/>
        </p:nvSpPr>
        <p:spPr>
          <a:xfrm>
            <a:off x="2971800" y="960120"/>
            <a:ext cx="5897880" cy="1508760"/>
          </a:xfrm>
          <a:prstGeom prst="rect">
            <a:avLst/>
          </a:prstGeom>
          <a:solidFill>
            <a:srgbClr val="922B21"/>
          </a:solidFill>
          <a:ln w="12700">
            <a:solidFill>
              <a:srgbClr val="922B21"/>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2" name="Text 10"/>
          <p:cNvSpPr/>
          <p:nvPr/>
        </p:nvSpPr>
        <p:spPr>
          <a:xfrm>
            <a:off x="3154680" y="1024128"/>
            <a:ext cx="5577840" cy="502920"/>
          </a:xfrm>
          <a:prstGeom prst="rect">
            <a:avLst/>
          </a:prstGeom>
          <a:noFill/>
        </p:spPr>
        <p:txBody>
          <a:bodyPr wrap="square" lIns="0" tIns="0" rIns="0" bIns="0" rtlCol="0" anchor="ctr"/>
          <a:lstStyle/>
          <a:p>
            <a:pPr marL="0" indent="0">
              <a:buNone/>
            </a:pPr>
            <a:r>
              <a:rPr lang="en-US" sz="2600" b="1" dirty="0">
                <a:solidFill>
                  <a:srgbClr val="C9A84C"/>
                </a:solidFill>
                <a:latin typeface="Georgia" panose="02040502050405020303" pitchFamily="34" charset="0"/>
                <a:ea typeface="Georgia" panose="02040502050405020303" pitchFamily="34" charset="0"/>
                <a:cs typeface="Georgia" panose="02040502050405020303" pitchFamily="34" charset="0"/>
              </a:rPr>
              <a:t>恻隐之心，仁之端也</a:t>
            </a:r>
            <a:endParaRPr lang="en-US" sz="2600" dirty="0"/>
          </a:p>
        </p:txBody>
      </p:sp>
      <p:sp>
        <p:nvSpPr>
          <p:cNvPr id="13" name="Text 11"/>
          <p:cNvSpPr/>
          <p:nvPr/>
        </p:nvSpPr>
        <p:spPr>
          <a:xfrm>
            <a:off x="3154680" y="1527048"/>
            <a:ext cx="5577840" cy="320040"/>
          </a:xfrm>
          <a:prstGeom prst="rect">
            <a:avLst/>
          </a:prstGeom>
          <a:noFill/>
        </p:spPr>
        <p:txBody>
          <a:bodyPr wrap="square" lIns="0" tIns="0" rIns="0" bIns="0" rtlCol="0" anchor="ctr"/>
          <a:lstStyle/>
          <a:p>
            <a:pPr marL="0" indent="0">
              <a:buNone/>
            </a:pPr>
            <a:r>
              <a:rPr lang="en-US" sz="1300" i="1" dirty="0">
                <a:solidFill>
                  <a:srgbClr val="FFFFFF"/>
                </a:solidFill>
                <a:latin typeface="Calibri" panose="020F0502020204030204" pitchFamily="34" charset="0"/>
                <a:ea typeface="Calibri" panose="020F0502020204030204" pitchFamily="34" charset="0"/>
                <a:cs typeface="Calibri" panose="020F0502020204030204" pitchFamily="34" charset="0"/>
              </a:rPr>
              <a:t>"The feeling of compassion is the beginning of Rén."</a:t>
            </a:r>
            <a:endParaRPr lang="en-US" sz="1300" dirty="0"/>
          </a:p>
        </p:txBody>
      </p:sp>
      <p:sp>
        <p:nvSpPr>
          <p:cNvPr id="14" name="Text 12"/>
          <p:cNvSpPr/>
          <p:nvPr/>
        </p:nvSpPr>
        <p:spPr>
          <a:xfrm>
            <a:off x="2971800" y="2633472"/>
            <a:ext cx="5897880" cy="329184"/>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What does this mean?</a:t>
            </a:r>
            <a:endParaRPr lang="en-US" sz="1300" dirty="0"/>
          </a:p>
        </p:txBody>
      </p:sp>
      <p:sp>
        <p:nvSpPr>
          <p:cNvPr id="15" name="Shape 13"/>
          <p:cNvSpPr/>
          <p:nvPr/>
        </p:nvSpPr>
        <p:spPr>
          <a:xfrm>
            <a:off x="2971800" y="3054096"/>
            <a:ext cx="438912" cy="438912"/>
          </a:xfrm>
          <a:prstGeom prst="ellipse">
            <a:avLst/>
          </a:prstGeom>
          <a:solidFill>
            <a:srgbClr val="FADBD8"/>
          </a:solidFill>
          <a:ln w="12700">
            <a:solidFill>
              <a:srgbClr val="C0392B"/>
            </a:solidFill>
            <a:prstDash val="solid"/>
          </a:ln>
        </p:spPr>
        <p:txBody>
          <a:bodyPr/>
          <a:lstStyle/>
          <a:p>
            <a:endParaRPr lang="zh-CN" altLang="en-US"/>
          </a:p>
        </p:txBody>
      </p:sp>
      <p:sp>
        <p:nvSpPr>
          <p:cNvPr id="16" name="Text 14"/>
          <p:cNvSpPr/>
          <p:nvPr/>
        </p:nvSpPr>
        <p:spPr>
          <a:xfrm>
            <a:off x="2971800" y="3054096"/>
            <a:ext cx="438912" cy="438912"/>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3493008" y="3035808"/>
            <a:ext cx="1371600" cy="228600"/>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Born with it</a:t>
            </a:r>
            <a:endParaRPr lang="en-US" sz="1200" dirty="0"/>
          </a:p>
        </p:txBody>
      </p:sp>
      <p:sp>
        <p:nvSpPr>
          <p:cNvPr id="18" name="Text 16"/>
          <p:cNvSpPr/>
          <p:nvPr/>
        </p:nvSpPr>
        <p:spPr>
          <a:xfrm>
            <a:off x="3493008" y="3273552"/>
            <a:ext cx="5376672" cy="27432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Mencius believed every human is born with natural kindness — you do not need to learn it.</a:t>
            </a:r>
            <a:endParaRPr lang="en-US" sz="1150" dirty="0"/>
          </a:p>
        </p:txBody>
      </p:sp>
      <p:sp>
        <p:nvSpPr>
          <p:cNvPr id="19" name="Shape 17"/>
          <p:cNvSpPr/>
          <p:nvPr/>
        </p:nvSpPr>
        <p:spPr>
          <a:xfrm>
            <a:off x="2971800" y="3675888"/>
            <a:ext cx="438912" cy="438912"/>
          </a:xfrm>
          <a:prstGeom prst="ellipse">
            <a:avLst/>
          </a:prstGeom>
          <a:solidFill>
            <a:srgbClr val="FADBD8"/>
          </a:solidFill>
          <a:ln w="12700">
            <a:solidFill>
              <a:srgbClr val="C0392B"/>
            </a:solidFill>
            <a:prstDash val="solid"/>
          </a:ln>
        </p:spPr>
        <p:txBody>
          <a:bodyPr/>
          <a:lstStyle/>
          <a:p>
            <a:endParaRPr lang="zh-CN" altLang="en-US"/>
          </a:p>
        </p:txBody>
      </p:sp>
      <p:sp>
        <p:nvSpPr>
          <p:cNvPr id="20" name="Text 18"/>
          <p:cNvSpPr/>
          <p:nvPr/>
        </p:nvSpPr>
        <p:spPr>
          <a:xfrm>
            <a:off x="2971800" y="3675888"/>
            <a:ext cx="438912" cy="438912"/>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3493008" y="3657600"/>
            <a:ext cx="1371600" cy="228600"/>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Natural reaction</a:t>
            </a:r>
            <a:endParaRPr lang="en-US" sz="1200" dirty="0"/>
          </a:p>
        </p:txBody>
      </p:sp>
      <p:sp>
        <p:nvSpPr>
          <p:cNvPr id="22" name="Text 20"/>
          <p:cNvSpPr/>
          <p:nvPr/>
        </p:nvSpPr>
        <p:spPr>
          <a:xfrm>
            <a:off x="3493008" y="3895344"/>
            <a:ext cx="5376672" cy="27432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When you see someone fall and feel worried — that instant feeling is your Rén showing itself.</a:t>
            </a:r>
            <a:endParaRPr lang="en-US" sz="1150" dirty="0"/>
          </a:p>
        </p:txBody>
      </p:sp>
      <p:sp>
        <p:nvSpPr>
          <p:cNvPr id="23" name="Shape 21"/>
          <p:cNvSpPr/>
          <p:nvPr/>
        </p:nvSpPr>
        <p:spPr>
          <a:xfrm>
            <a:off x="2971800" y="4297680"/>
            <a:ext cx="438912" cy="438912"/>
          </a:xfrm>
          <a:prstGeom prst="ellipse">
            <a:avLst/>
          </a:prstGeom>
          <a:solidFill>
            <a:srgbClr val="FADBD8"/>
          </a:solidFill>
          <a:ln w="12700">
            <a:solidFill>
              <a:srgbClr val="C0392B"/>
            </a:solidFill>
            <a:prstDash val="solid"/>
          </a:ln>
        </p:spPr>
        <p:txBody>
          <a:bodyPr/>
          <a:lstStyle/>
          <a:p>
            <a:endParaRPr lang="zh-CN" altLang="en-US"/>
          </a:p>
        </p:txBody>
      </p:sp>
      <p:sp>
        <p:nvSpPr>
          <p:cNvPr id="24" name="Text 22"/>
          <p:cNvSpPr/>
          <p:nvPr/>
        </p:nvSpPr>
        <p:spPr>
          <a:xfrm>
            <a:off x="2971800" y="4297680"/>
            <a:ext cx="438912" cy="438912"/>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3493008" y="4279392"/>
            <a:ext cx="1371600" cy="228600"/>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Let it grow</a:t>
            </a:r>
            <a:endParaRPr lang="en-US" sz="1200" dirty="0"/>
          </a:p>
        </p:txBody>
      </p:sp>
      <p:sp>
        <p:nvSpPr>
          <p:cNvPr id="26" name="Text 24"/>
          <p:cNvSpPr/>
          <p:nvPr/>
        </p:nvSpPr>
        <p:spPr>
          <a:xfrm>
            <a:off x="3493008" y="4517136"/>
            <a:ext cx="5376672" cy="27432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You do not force Rén. You remove the obstacles — fear, selfishness, habit — and let it grow naturally.</a:t>
            </a:r>
            <a:endParaRPr lang="en-US" sz="1150" dirty="0"/>
          </a:p>
        </p:txBody>
      </p:sp>
      <p:sp>
        <p:nvSpPr>
          <p:cNvPr id="27" name="Shape 25"/>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8" name="Text 26"/>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6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1</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Speaker 1 → Summary</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Shape 5"/>
          <p:cNvSpPr/>
          <p:nvPr/>
        </p:nvSpPr>
        <p:spPr>
          <a:xfrm>
            <a:off x="365760" y="987552"/>
            <a:ext cx="8412480" cy="530352"/>
          </a:xfrm>
          <a:prstGeom prst="rect">
            <a:avLst/>
          </a:prstGeom>
          <a:solidFill>
            <a:srgbClr val="C0392B"/>
          </a:solidFill>
          <a:ln w="12700">
            <a:solidFill>
              <a:srgbClr val="C0392B"/>
            </a:solidFill>
            <a:prstDash val="solid"/>
          </a:ln>
        </p:spPr>
        <p:txBody>
          <a:bodyPr/>
          <a:lstStyle/>
          <a:p>
            <a:endParaRPr lang="zh-CN" altLang="en-US"/>
          </a:p>
        </p:txBody>
      </p:sp>
      <p:sp>
        <p:nvSpPr>
          <p:cNvPr id="8" name="Text 6"/>
          <p:cNvSpPr/>
          <p:nvPr/>
        </p:nvSpPr>
        <p:spPr>
          <a:xfrm>
            <a:off x="548640" y="1042416"/>
            <a:ext cx="8229600" cy="36576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20303" pitchFamily="34" charset="0"/>
                <a:ea typeface="Georgia" panose="02040502050405020303" pitchFamily="34" charset="0"/>
                <a:cs typeface="Georgia" panose="02040502050405020303" pitchFamily="34" charset="0"/>
              </a:rPr>
              <a:t>What we just learned:</a:t>
            </a:r>
            <a:endParaRPr lang="en-US" sz="1400" dirty="0"/>
          </a:p>
        </p:txBody>
      </p:sp>
      <p:sp>
        <p:nvSpPr>
          <p:cNvPr id="9" name="Shape 7"/>
          <p:cNvSpPr/>
          <p:nvPr/>
        </p:nvSpPr>
        <p:spPr>
          <a:xfrm>
            <a:off x="365760" y="1627632"/>
            <a:ext cx="8412480" cy="749808"/>
          </a:xfrm>
          <a:prstGeom prst="rect">
            <a:avLst/>
          </a:prstGeom>
          <a:solidFill>
            <a:srgbClr val="FADBD8"/>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0" name="Shape 8"/>
          <p:cNvSpPr/>
          <p:nvPr/>
        </p:nvSpPr>
        <p:spPr>
          <a:xfrm>
            <a:off x="365760" y="1627632"/>
            <a:ext cx="64008" cy="749808"/>
          </a:xfrm>
          <a:prstGeom prst="rect">
            <a:avLst/>
          </a:prstGeom>
          <a:solidFill>
            <a:srgbClr val="C0392B"/>
          </a:solidFill>
          <a:ln w="12700">
            <a:solidFill>
              <a:srgbClr val="C0392B"/>
            </a:solidFill>
            <a:prstDash val="solid"/>
          </a:ln>
        </p:spPr>
        <p:txBody>
          <a:bodyPr/>
          <a:lstStyle/>
          <a:p>
            <a:endParaRPr lang="zh-CN" altLang="en-US"/>
          </a:p>
        </p:txBody>
      </p:sp>
      <p:sp>
        <p:nvSpPr>
          <p:cNvPr id="11" name="Text 9"/>
          <p:cNvSpPr/>
          <p:nvPr/>
        </p:nvSpPr>
        <p:spPr>
          <a:xfrm>
            <a:off x="530352" y="1737360"/>
            <a:ext cx="8138160" cy="530352"/>
          </a:xfrm>
          <a:prstGeom prst="rect">
            <a:avLst/>
          </a:prstGeom>
          <a:noFill/>
        </p:spPr>
        <p:txBody>
          <a:bodyPr wrap="square" lIns="0" tIns="0" rIns="0" bIns="0" rtlCol="0" anchor="ctr"/>
          <a:lstStyle/>
          <a:p>
            <a:pPr marL="0" indent="0">
              <a:buNone/>
            </a:pPr>
            <a:r>
              <a:rPr lang="en-US" sz="1250" dirty="0">
                <a:solidFill>
                  <a:srgbClr val="2C2C2C"/>
                </a:solidFill>
                <a:latin typeface="Calibri" panose="020F0502020204030204" pitchFamily="34" charset="0"/>
                <a:ea typeface="Calibri" panose="020F0502020204030204" pitchFamily="34" charset="0"/>
                <a:cs typeface="Calibri" panose="020F0502020204030204" pitchFamily="34" charset="0"/>
              </a:rPr>
              <a:t>仁 (Rén) = benevolence · It lives between people, not inside one person alone.</a:t>
            </a:r>
            <a:endParaRPr lang="en-US" sz="1250" dirty="0"/>
          </a:p>
        </p:txBody>
      </p:sp>
      <p:sp>
        <p:nvSpPr>
          <p:cNvPr id="12" name="Shape 10"/>
          <p:cNvSpPr/>
          <p:nvPr/>
        </p:nvSpPr>
        <p:spPr>
          <a:xfrm>
            <a:off x="365760" y="2542032"/>
            <a:ext cx="8412480" cy="749808"/>
          </a:xfrm>
          <a:prstGeom prst="rect">
            <a:avLst/>
          </a:prstGeom>
          <a:solidFill>
            <a:srgbClr val="FDF0E0"/>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Shape 11"/>
          <p:cNvSpPr/>
          <p:nvPr/>
        </p:nvSpPr>
        <p:spPr>
          <a:xfrm>
            <a:off x="365760" y="2542032"/>
            <a:ext cx="64008" cy="749808"/>
          </a:xfrm>
          <a:prstGeom prst="rect">
            <a:avLst/>
          </a:prstGeom>
          <a:solidFill>
            <a:srgbClr val="C0392B"/>
          </a:solidFill>
          <a:ln w="12700">
            <a:solidFill>
              <a:srgbClr val="C0392B"/>
            </a:solidFill>
            <a:prstDash val="solid"/>
          </a:ln>
        </p:spPr>
        <p:txBody>
          <a:bodyPr/>
          <a:lstStyle/>
          <a:p>
            <a:endParaRPr lang="zh-CN" altLang="en-US"/>
          </a:p>
        </p:txBody>
      </p:sp>
      <p:sp>
        <p:nvSpPr>
          <p:cNvPr id="14" name="Text 12"/>
          <p:cNvSpPr/>
          <p:nvPr/>
        </p:nvSpPr>
        <p:spPr>
          <a:xfrm>
            <a:off x="530352" y="2651760"/>
            <a:ext cx="8138160" cy="530352"/>
          </a:xfrm>
          <a:prstGeom prst="rect">
            <a:avLst/>
          </a:prstGeom>
          <a:noFill/>
        </p:spPr>
        <p:txBody>
          <a:bodyPr wrap="square" lIns="0" tIns="0" rIns="0" bIns="0" rtlCol="0" anchor="ctr"/>
          <a:lstStyle/>
          <a:p>
            <a:pPr marL="0" indent="0">
              <a:buNone/>
            </a:pPr>
            <a:r>
              <a:rPr lang="en-US" sz="1250" dirty="0">
                <a:solidFill>
                  <a:srgbClr val="2C2C2C"/>
                </a:solidFill>
                <a:latin typeface="Calibri" panose="020F0502020204030204" pitchFamily="34" charset="0"/>
                <a:ea typeface="Calibri" panose="020F0502020204030204" pitchFamily="34" charset="0"/>
                <a:cs typeface="Calibri" panose="020F0502020204030204" pitchFamily="34" charset="0"/>
              </a:rPr>
              <a:t>Confucius: Love others · Golden Rule · Show Rén through daily actions.</a:t>
            </a:r>
            <a:endParaRPr lang="en-US" sz="1250" dirty="0"/>
          </a:p>
        </p:txBody>
      </p:sp>
      <p:sp>
        <p:nvSpPr>
          <p:cNvPr id="15" name="Shape 13"/>
          <p:cNvSpPr/>
          <p:nvPr/>
        </p:nvSpPr>
        <p:spPr>
          <a:xfrm>
            <a:off x="365760" y="3456432"/>
            <a:ext cx="8412480" cy="749808"/>
          </a:xfrm>
          <a:prstGeom prst="rect">
            <a:avLst/>
          </a:prstGeom>
          <a:solidFill>
            <a:srgbClr val="FADBD8"/>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6" name="Shape 14"/>
          <p:cNvSpPr/>
          <p:nvPr/>
        </p:nvSpPr>
        <p:spPr>
          <a:xfrm>
            <a:off x="365760" y="3456432"/>
            <a:ext cx="64008" cy="749808"/>
          </a:xfrm>
          <a:prstGeom prst="rect">
            <a:avLst/>
          </a:prstGeom>
          <a:solidFill>
            <a:srgbClr val="C0392B"/>
          </a:solidFill>
          <a:ln w="12700">
            <a:solidFill>
              <a:srgbClr val="C0392B"/>
            </a:solidFill>
            <a:prstDash val="solid"/>
          </a:ln>
        </p:spPr>
        <p:txBody>
          <a:bodyPr/>
          <a:lstStyle/>
          <a:p>
            <a:endParaRPr lang="zh-CN" altLang="en-US"/>
          </a:p>
        </p:txBody>
      </p:sp>
      <p:sp>
        <p:nvSpPr>
          <p:cNvPr id="17" name="Text 15"/>
          <p:cNvSpPr/>
          <p:nvPr/>
        </p:nvSpPr>
        <p:spPr>
          <a:xfrm>
            <a:off x="530352" y="3566160"/>
            <a:ext cx="8138160" cy="530352"/>
          </a:xfrm>
          <a:prstGeom prst="rect">
            <a:avLst/>
          </a:prstGeom>
          <a:noFill/>
        </p:spPr>
        <p:txBody>
          <a:bodyPr wrap="square" lIns="0" tIns="0" rIns="0" bIns="0" rtlCol="0" anchor="ctr"/>
          <a:lstStyle/>
          <a:p>
            <a:pPr marL="0" indent="0">
              <a:buNone/>
            </a:pPr>
            <a:r>
              <a:rPr lang="en-US" sz="1250" dirty="0">
                <a:solidFill>
                  <a:srgbClr val="2C2C2C"/>
                </a:solidFill>
                <a:latin typeface="Calibri" panose="020F0502020204030204" pitchFamily="34" charset="0"/>
                <a:ea typeface="Calibri" panose="020F0502020204030204" pitchFamily="34" charset="0"/>
                <a:cs typeface="Calibri" panose="020F0502020204030204" pitchFamily="34" charset="0"/>
              </a:rPr>
              <a:t>Mencius: Compassion is natural — every human is born with the seed of Rén.</a:t>
            </a:r>
            <a:endParaRPr lang="en-US" sz="1250" dirty="0"/>
          </a:p>
        </p:txBody>
      </p:sp>
      <p:sp>
        <p:nvSpPr>
          <p:cNvPr id="18" name="Text 16"/>
          <p:cNvSpPr/>
          <p:nvPr/>
        </p:nvSpPr>
        <p:spPr>
          <a:xfrm>
            <a:off x="457200" y="4572000"/>
            <a:ext cx="8229600" cy="256032"/>
          </a:xfrm>
          <a:prstGeom prst="rect">
            <a:avLst/>
          </a:prstGeom>
          <a:noFill/>
        </p:spPr>
        <p:txBody>
          <a:bodyPr wrap="square" lIns="0" tIns="0" rIns="0" bIns="0" rtlCol="0" anchor="ctr"/>
          <a:lstStyle/>
          <a:p>
            <a:pPr marL="0" indent="0">
              <a:buNone/>
            </a:pPr>
            <a:r>
              <a:rPr lang="en-US" sz="1100" i="1" dirty="0">
                <a:solidFill>
                  <a:srgbClr val="C0392B"/>
                </a:solidFill>
                <a:latin typeface="Calibri" panose="020F0502020204030204" pitchFamily="34" charset="0"/>
                <a:ea typeface="Calibri" panose="020F0502020204030204" pitchFamily="34" charset="0"/>
                <a:cs typeface="Calibri" panose="020F0502020204030204" pitchFamily="34" charset="0"/>
              </a:rPr>
              <a:t>Next: How did Rén travel through history? → Speaker 2</a:t>
            </a:r>
            <a:endParaRPr lang="en-US" sz="1100" dirty="0"/>
          </a:p>
        </p:txBody>
      </p:sp>
      <p:sp>
        <p:nvSpPr>
          <p:cNvPr id="19" name="Shape 17"/>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0" name="Text 18"/>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7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1097280" y="-914400"/>
            <a:ext cx="5943600" cy="5943600"/>
          </a:xfrm>
          <a:prstGeom prst="ellipse">
            <a:avLst/>
          </a:prstGeom>
          <a:solidFill>
            <a:srgbClr val="C0392B">
              <a:alpha val="21000"/>
            </a:srgbClr>
          </a:solidFill>
          <a:ln w="12700">
            <a:solidFill>
              <a:srgbClr val="C0392B"/>
            </a:solidFill>
            <a:prstDash val="solid"/>
          </a:ln>
        </p:spPr>
        <p:txBody>
          <a:bodyPr/>
          <a:lstStyle/>
          <a:p>
            <a:endParaRPr lang="zh-CN" altLang="en-US"/>
          </a:p>
        </p:txBody>
      </p:sp>
      <p:sp>
        <p:nvSpPr>
          <p:cNvPr id="3" name="Shape 1"/>
          <p:cNvSpPr/>
          <p:nvPr/>
        </p:nvSpPr>
        <p:spPr>
          <a:xfrm>
            <a:off x="5029200" y="1371600"/>
            <a:ext cx="5303520" cy="5303520"/>
          </a:xfrm>
          <a:prstGeom prst="ellipse">
            <a:avLst/>
          </a:prstGeom>
          <a:solidFill>
            <a:srgbClr val="7B0000">
              <a:alpha val="18000"/>
            </a:srgbClr>
          </a:solidFill>
          <a:ln w="12700">
            <a:solidFill>
              <a:srgbClr val="7B0000"/>
            </a:solidFill>
            <a:prstDash val="solid"/>
          </a:ln>
        </p:spPr>
        <p:txBody>
          <a:bodyPr/>
          <a:lstStyle/>
          <a:p>
            <a:endParaRPr lang="zh-CN" altLang="en-US"/>
          </a:p>
        </p:txBody>
      </p:sp>
      <p:sp>
        <p:nvSpPr>
          <p:cNvPr id="4" name="Text 2"/>
          <p:cNvSpPr/>
          <p:nvPr/>
        </p:nvSpPr>
        <p:spPr>
          <a:xfrm>
            <a:off x="914400" y="457200"/>
            <a:ext cx="7315200" cy="1280160"/>
          </a:xfrm>
          <a:prstGeom prst="rect">
            <a:avLst/>
          </a:prstGeom>
          <a:noFill/>
        </p:spPr>
        <p:txBody>
          <a:bodyPr wrap="square" lIns="0" tIns="0" rIns="0" bIns="0" rtlCol="0" anchor="ctr"/>
          <a:lstStyle/>
          <a:p>
            <a:pPr marL="0" indent="0" algn="ctr">
              <a:buNone/>
            </a:pPr>
            <a:r>
              <a:rPr lang="en-US" sz="10000" b="1" dirty="0">
                <a:solidFill>
                  <a:srgbClr val="C0392B">
                    <a:alpha val="82000"/>
                  </a:srgbClr>
                </a:solidFill>
                <a:latin typeface="Georgia" panose="02040502050405020303" pitchFamily="34" charset="0"/>
                <a:ea typeface="Georgia" panose="02040502050405020303" pitchFamily="34" charset="0"/>
                <a:cs typeface="Georgia" panose="02040502050405020303" pitchFamily="34" charset="0"/>
              </a:rPr>
              <a:t>02</a:t>
            </a:r>
            <a:endParaRPr lang="en-US" sz="10000" dirty="0"/>
          </a:p>
        </p:txBody>
      </p:sp>
      <p:sp>
        <p:nvSpPr>
          <p:cNvPr id="5" name="Text 3"/>
          <p:cNvSpPr/>
          <p:nvPr/>
        </p:nvSpPr>
        <p:spPr>
          <a:xfrm>
            <a:off x="914400" y="1828800"/>
            <a:ext cx="7315200" cy="1325880"/>
          </a:xfrm>
          <a:prstGeom prst="rect">
            <a:avLst/>
          </a:prstGeom>
          <a:noFill/>
        </p:spPr>
        <p:txBody>
          <a:bodyPr wrap="square" lIns="0" tIns="0" rIns="0" bIns="0" rtlCol="0" anchor="ctr"/>
          <a:lstStyle/>
          <a:p>
            <a:pPr marL="0" indent="0" algn="ctr">
              <a:buNone/>
            </a:pPr>
            <a:r>
              <a:rPr lang="en-US" sz="3600" b="1" dirty="0">
                <a:solidFill>
                  <a:srgbClr val="FFFFFF"/>
                </a:solidFill>
                <a:latin typeface="Georgia" panose="02040502050405020303" pitchFamily="34" charset="0"/>
                <a:ea typeface="Georgia" panose="02040502050405020303" pitchFamily="34" charset="0"/>
                <a:cs typeface="Georgia" panose="02040502050405020303" pitchFamily="34" charset="0"/>
              </a:rPr>
              <a:t>Historical Spread</a:t>
            </a:r>
            <a:endParaRPr lang="en-US" sz="3600" dirty="0"/>
          </a:p>
        </p:txBody>
      </p:sp>
      <p:sp>
        <p:nvSpPr>
          <p:cNvPr id="6" name="Shape 4"/>
          <p:cNvSpPr/>
          <p:nvPr/>
        </p:nvSpPr>
        <p:spPr>
          <a:xfrm>
            <a:off x="2743200" y="3246120"/>
            <a:ext cx="3657600" cy="0"/>
          </a:xfrm>
          <a:prstGeom prst="line">
            <a:avLst/>
          </a:prstGeom>
          <a:noFill/>
          <a:ln w="19050">
            <a:solidFill>
              <a:srgbClr val="C9A84C"/>
            </a:solidFill>
            <a:prstDash val="solid"/>
          </a:ln>
        </p:spPr>
        <p:txBody>
          <a:bodyPr/>
          <a:lstStyle/>
          <a:p>
            <a:endParaRPr lang="zh-CN" altLang="en-US"/>
          </a:p>
        </p:txBody>
      </p:sp>
      <p:sp>
        <p:nvSpPr>
          <p:cNvPr id="7" name="Text 5"/>
          <p:cNvSpPr/>
          <p:nvPr/>
        </p:nvSpPr>
        <p:spPr>
          <a:xfrm>
            <a:off x="914400" y="3364992"/>
            <a:ext cx="7315200" cy="384048"/>
          </a:xfrm>
          <a:prstGeom prst="rect">
            <a:avLst/>
          </a:prstGeom>
          <a:noFill/>
        </p:spPr>
        <p:txBody>
          <a:bodyPr wrap="square" lIns="0" tIns="0" rIns="0" bIns="0" rtlCol="0" anchor="ctr"/>
          <a:lstStyle/>
          <a:p>
            <a:pPr marL="0" indent="0" algn="ctr">
              <a:buNone/>
            </a:pPr>
            <a:r>
              <a:rPr lang="en-US" sz="1500" i="1" dirty="0">
                <a:solidFill>
                  <a:srgbClr val="C9A84C"/>
                </a:solidFill>
                <a:latin typeface="Calibri" panose="020F0502020204030204" pitchFamily="34" charset="0"/>
                <a:ea typeface="Calibri" panose="020F0502020204030204" pitchFamily="34" charset="0"/>
                <a:cs typeface="Calibri" panose="020F0502020204030204" pitchFamily="34" charset="0"/>
              </a:rPr>
              <a:t>Speaker 2</a:t>
            </a:r>
            <a:endParaRPr lang="en-US" sz="1500" dirty="0"/>
          </a:p>
        </p:txBody>
      </p:sp>
      <p:sp>
        <p:nvSpPr>
          <p:cNvPr id="8" name="Shape 6"/>
          <p:cNvSpPr/>
          <p:nvPr/>
        </p:nvSpPr>
        <p:spPr>
          <a:xfrm>
            <a:off x="0" y="4846320"/>
            <a:ext cx="9144000" cy="292608"/>
          </a:xfrm>
          <a:prstGeom prst="rect">
            <a:avLst/>
          </a:prstGeom>
          <a:solidFill>
            <a:srgbClr val="C0392B">
              <a:alpha val="60000"/>
            </a:srgbClr>
          </a:solidFill>
          <a:ln w="12700">
            <a:solidFill>
              <a:srgbClr val="C0392B"/>
            </a:solidFill>
            <a:prstDash val="solid"/>
          </a:ln>
        </p:spPr>
        <p:txBody>
          <a:bodyPr/>
          <a:lstStyle/>
          <a:p>
            <a:endParaRPr lang="zh-CN" altLang="en-US"/>
          </a:p>
        </p:txBody>
      </p:sp>
      <p:sp>
        <p:nvSpPr>
          <p:cNvPr id="9" name="Text 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8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政</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2</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Governance</a:t>
            </a:r>
            <a:endParaRPr lang="en-US" sz="1000" dirty="0"/>
          </a:p>
        </p:txBody>
      </p:sp>
      <p:sp>
        <p:nvSpPr>
          <p:cNvPr id="9" name="Text 7"/>
          <p:cNvSpPr/>
          <p:nvPr/>
        </p:nvSpPr>
        <p:spPr>
          <a:xfrm>
            <a:off x="2971800" y="137160"/>
            <a:ext cx="5897880" cy="594360"/>
          </a:xfrm>
          <a:prstGeom prst="rect">
            <a:avLst/>
          </a:prstGeom>
          <a:noFill/>
        </p:spPr>
        <p:txBody>
          <a:bodyPr wrap="square" lIns="0" tIns="0" rIns="0" bIns="0" rtlCol="0" anchor="ctr"/>
          <a:lstStyle/>
          <a:p>
            <a:pPr marL="0" indent="0">
              <a:buNone/>
            </a:pPr>
            <a:r>
              <a:rPr lang="en-US" sz="2600" b="1" dirty="0">
                <a:solidFill>
                  <a:srgbClr val="922B21"/>
                </a:solidFill>
                <a:latin typeface="Georgia" panose="02040502050405020303" pitchFamily="34" charset="0"/>
                <a:ea typeface="Georgia" panose="02040502050405020303" pitchFamily="34" charset="0"/>
                <a:cs typeface="Georgia" panose="02040502050405020303" pitchFamily="34" charset="0"/>
              </a:rPr>
              <a:t>仁政 — Benevolent Rule</a:t>
            </a:r>
            <a:endParaRPr lang="en-US" sz="26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Text 9"/>
          <p:cNvSpPr/>
          <p:nvPr/>
        </p:nvSpPr>
        <p:spPr>
          <a:xfrm>
            <a:off x="2971800" y="914400"/>
            <a:ext cx="5897880" cy="365760"/>
          </a:xfrm>
          <a:prstGeom prst="rect">
            <a:avLst/>
          </a:prstGeom>
          <a:noFill/>
        </p:spPr>
        <p:txBody>
          <a:bodyPr wrap="square" lIns="0" tIns="0" rIns="0" bIns="0" rtlCol="0" anchor="ctr"/>
          <a:lstStyle/>
          <a:p>
            <a:pPr marL="0" indent="0">
              <a:buNone/>
            </a:pPr>
            <a:r>
              <a:rPr lang="en-US" sz="1250" i="1" dirty="0">
                <a:solidFill>
                  <a:srgbClr val="7F8C8D"/>
                </a:solidFill>
                <a:latin typeface="Calibri" panose="020F0502020204030204" pitchFamily="34" charset="0"/>
                <a:ea typeface="Calibri" panose="020F0502020204030204" pitchFamily="34" charset="0"/>
                <a:cs typeface="Calibri" panose="020F0502020204030204" pitchFamily="34" charset="0"/>
              </a:rPr>
              <a:t>Chinese emperors were expected to govern with Rén — 仁政 (Rénzhèng).</a:t>
            </a:r>
            <a:endParaRPr lang="en-US" sz="1250" dirty="0"/>
          </a:p>
        </p:txBody>
      </p:sp>
      <p:sp>
        <p:nvSpPr>
          <p:cNvPr id="12" name="Shape 10"/>
          <p:cNvSpPr/>
          <p:nvPr/>
        </p:nvSpPr>
        <p:spPr>
          <a:xfrm>
            <a:off x="2971800" y="1371600"/>
            <a:ext cx="5897880" cy="14813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Shape 11"/>
          <p:cNvSpPr/>
          <p:nvPr/>
        </p:nvSpPr>
        <p:spPr>
          <a:xfrm>
            <a:off x="2971800" y="1371600"/>
            <a:ext cx="5897880" cy="329184"/>
          </a:xfrm>
          <a:prstGeom prst="rect">
            <a:avLst/>
          </a:prstGeom>
          <a:solidFill>
            <a:srgbClr val="C0392B"/>
          </a:solidFill>
          <a:ln w="12700">
            <a:solidFill>
              <a:srgbClr val="C0392B"/>
            </a:solidFill>
            <a:prstDash val="solid"/>
          </a:ln>
        </p:spPr>
        <p:txBody>
          <a:bodyPr/>
          <a:lstStyle/>
          <a:p>
            <a:endParaRPr lang="zh-CN" altLang="en-US"/>
          </a:p>
        </p:txBody>
      </p:sp>
      <p:sp>
        <p:nvSpPr>
          <p:cNvPr id="14" name="Text 12"/>
          <p:cNvSpPr/>
          <p:nvPr/>
        </p:nvSpPr>
        <p:spPr>
          <a:xfrm>
            <a:off x="3063240" y="1399032"/>
            <a:ext cx="5715000"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Han Dynasty — Emperor Wen (180–157 BCE)</a:t>
            </a:r>
            <a:endParaRPr lang="en-US" sz="1200" dirty="0"/>
          </a:p>
        </p:txBody>
      </p:sp>
      <p:sp>
        <p:nvSpPr>
          <p:cNvPr id="15" name="Text 13"/>
          <p:cNvSpPr/>
          <p:nvPr/>
        </p:nvSpPr>
        <p:spPr>
          <a:xfrm>
            <a:off x="3063240" y="1773936"/>
            <a:ext cx="5715000" cy="987552"/>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Reduced taxes, lightened punishments, and helped poor farmers. He put the wellbeing of ordinary people first. A real example of 仁政 in action.</a:t>
            </a:r>
            <a:endParaRPr lang="en-US" sz="1150" dirty="0"/>
          </a:p>
        </p:txBody>
      </p:sp>
      <p:sp>
        <p:nvSpPr>
          <p:cNvPr id="16" name="Shape 14"/>
          <p:cNvSpPr/>
          <p:nvPr/>
        </p:nvSpPr>
        <p:spPr>
          <a:xfrm>
            <a:off x="2971800" y="2944368"/>
            <a:ext cx="5897880" cy="14813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7" name="Shape 15"/>
          <p:cNvSpPr/>
          <p:nvPr/>
        </p:nvSpPr>
        <p:spPr>
          <a:xfrm>
            <a:off x="2971800" y="2944368"/>
            <a:ext cx="5897880" cy="329184"/>
          </a:xfrm>
          <a:prstGeom prst="rect">
            <a:avLst/>
          </a:prstGeom>
          <a:solidFill>
            <a:srgbClr val="922B21"/>
          </a:solidFill>
          <a:ln w="12700">
            <a:solidFill>
              <a:srgbClr val="922B21"/>
            </a:solidFill>
            <a:prstDash val="solid"/>
          </a:ln>
        </p:spPr>
        <p:txBody>
          <a:bodyPr/>
          <a:lstStyle/>
          <a:p>
            <a:endParaRPr lang="zh-CN" altLang="en-US"/>
          </a:p>
        </p:txBody>
      </p:sp>
      <p:sp>
        <p:nvSpPr>
          <p:cNvPr id="18" name="Text 16"/>
          <p:cNvSpPr/>
          <p:nvPr/>
        </p:nvSpPr>
        <p:spPr>
          <a:xfrm>
            <a:off x="3063240" y="2971800"/>
            <a:ext cx="5715000"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Song Dynasty — Emperor Renzong 仁宗</a:t>
            </a:r>
            <a:endParaRPr lang="en-US" sz="1200" dirty="0"/>
          </a:p>
        </p:txBody>
      </p:sp>
      <p:sp>
        <p:nvSpPr>
          <p:cNvPr id="19" name="Text 17"/>
          <p:cNvSpPr/>
          <p:nvPr/>
        </p:nvSpPr>
        <p:spPr>
          <a:xfrm>
            <a:off x="3063240" y="3346704"/>
            <a:ext cx="5715000" cy="987552"/>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His name literally means 'Benevolent Emperor.' Remembered as one of China's kindest rulers — gentle, open to criticism, and deeply concerned with the people's suffering.</a:t>
            </a:r>
            <a:endParaRPr lang="en-US" sz="1150" dirty="0"/>
          </a:p>
        </p:txBody>
      </p:sp>
      <p:sp>
        <p:nvSpPr>
          <p:cNvPr id="20" name="Shape 18"/>
          <p:cNvSpPr/>
          <p:nvPr/>
        </p:nvSpPr>
        <p:spPr>
          <a:xfrm>
            <a:off x="2971800" y="4370832"/>
            <a:ext cx="5897880" cy="347472"/>
          </a:xfrm>
          <a:prstGeom prst="rect">
            <a:avLst/>
          </a:prstGeom>
          <a:solidFill>
            <a:srgbClr val="FADBD8"/>
          </a:solidFill>
          <a:ln w="12700">
            <a:solidFill>
              <a:srgbClr val="C0392B"/>
            </a:solidFill>
            <a:prstDash val="solid"/>
          </a:ln>
        </p:spPr>
        <p:txBody>
          <a:bodyPr/>
          <a:lstStyle/>
          <a:p>
            <a:endParaRPr lang="zh-CN" altLang="en-US"/>
          </a:p>
        </p:txBody>
      </p:sp>
      <p:sp>
        <p:nvSpPr>
          <p:cNvPr id="21" name="Text 19"/>
          <p:cNvSpPr/>
          <p:nvPr/>
        </p:nvSpPr>
        <p:spPr>
          <a:xfrm>
            <a:off x="3108960" y="4407408"/>
            <a:ext cx="5669280" cy="256032"/>
          </a:xfrm>
          <a:prstGeom prst="rect">
            <a:avLst/>
          </a:prstGeom>
          <a:noFill/>
        </p:spPr>
        <p:txBody>
          <a:bodyPr wrap="square" lIns="0" tIns="0" rIns="0" bIns="0" rtlCol="0" anchor="ctr"/>
          <a:lstStyle/>
          <a:p>
            <a:pPr marL="0" indent="0">
              <a:buNone/>
            </a:pPr>
            <a:r>
              <a:rPr lang="en-US" sz="1100" b="1" dirty="0">
                <a:solidFill>
                  <a:srgbClr val="922B21"/>
                </a:solidFill>
                <a:latin typeface="Calibri" panose="020F0502020204030204" pitchFamily="34" charset="0"/>
                <a:ea typeface="Calibri" panose="020F0502020204030204" pitchFamily="34" charset="0"/>
                <a:cs typeface="Calibri" panose="020F0502020204030204" pitchFamily="34" charset="0"/>
              </a:rPr>
              <a:t>Key idea: Rén was a real standard for rulers — not just philosophy, but governance.</a:t>
            </a:r>
            <a:endParaRPr lang="en-US" sz="1100" dirty="0"/>
          </a:p>
        </p:txBody>
      </p:sp>
      <p:sp>
        <p:nvSpPr>
          <p:cNvPr id="22" name="Shape 20"/>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3" name="Text 21"/>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9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2</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The Silk Road — Rén Travels the World</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Shape 5"/>
          <p:cNvSpPr/>
          <p:nvPr/>
        </p:nvSpPr>
        <p:spPr>
          <a:xfrm>
            <a:off x="320040" y="960120"/>
            <a:ext cx="1965960" cy="502920"/>
          </a:xfrm>
          <a:prstGeom prst="rect">
            <a:avLst/>
          </a:prstGeom>
          <a:solidFill>
            <a:srgbClr val="C0392B"/>
          </a:solidFill>
          <a:ln w="12700">
            <a:solidFill>
              <a:srgbClr val="C0392B"/>
            </a:solidFill>
            <a:prstDash val="solid"/>
          </a:ln>
        </p:spPr>
        <p:txBody>
          <a:bodyPr/>
          <a:lstStyle/>
          <a:p>
            <a:endParaRPr lang="zh-CN" altLang="en-US"/>
          </a:p>
        </p:txBody>
      </p:sp>
      <p:sp>
        <p:nvSpPr>
          <p:cNvPr id="8" name="Text 6"/>
          <p:cNvSpPr/>
          <p:nvPr/>
        </p:nvSpPr>
        <p:spPr>
          <a:xfrm>
            <a:off x="320040" y="960120"/>
            <a:ext cx="1965960" cy="502920"/>
          </a:xfrm>
          <a:prstGeom prst="rect">
            <a:avLst/>
          </a:prstGeom>
          <a:noFill/>
        </p:spPr>
        <p:txBody>
          <a:bodyPr wrap="square" lIns="0" tIns="0" rIns="0" bIns="0" rtlCol="0" anchor="ctr"/>
          <a:lstStyle/>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China</a:t>
            </a:r>
            <a:endParaRPr lang="en-US" sz="1000" dirty="0"/>
          </a:p>
        </p:txBody>
      </p:sp>
      <p:sp>
        <p:nvSpPr>
          <p:cNvPr id="9" name="Shape 7"/>
          <p:cNvSpPr/>
          <p:nvPr/>
        </p:nvSpPr>
        <p:spPr>
          <a:xfrm>
            <a:off x="2286000" y="1115568"/>
            <a:ext cx="210312" cy="164592"/>
          </a:xfrm>
          <a:prstGeom prst="rect">
            <a:avLst/>
          </a:prstGeom>
          <a:solidFill>
            <a:srgbClr val="C9A84C"/>
          </a:solidFill>
          <a:ln w="12700">
            <a:solidFill>
              <a:srgbClr val="C9A84C"/>
            </a:solidFill>
            <a:prstDash val="solid"/>
          </a:ln>
        </p:spPr>
        <p:txBody>
          <a:bodyPr/>
          <a:lstStyle/>
          <a:p>
            <a:endParaRPr lang="zh-CN" altLang="en-US"/>
          </a:p>
        </p:txBody>
      </p:sp>
      <p:sp>
        <p:nvSpPr>
          <p:cNvPr id="10" name="Shape 8"/>
          <p:cNvSpPr/>
          <p:nvPr/>
        </p:nvSpPr>
        <p:spPr>
          <a:xfrm>
            <a:off x="320040" y="1536192"/>
            <a:ext cx="1965960" cy="2606040"/>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1" name="Text 9"/>
          <p:cNvSpPr/>
          <p:nvPr/>
        </p:nvSpPr>
        <p:spPr>
          <a:xfrm>
            <a:off x="411480" y="1627632"/>
            <a:ext cx="1783080" cy="237744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Confucian Rén</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love people,</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govern with care.</a:t>
            </a:r>
            <a:endParaRPr lang="en-US" sz="1150" dirty="0"/>
          </a:p>
        </p:txBody>
      </p:sp>
      <p:sp>
        <p:nvSpPr>
          <p:cNvPr id="12" name="Shape 10"/>
          <p:cNvSpPr/>
          <p:nvPr/>
        </p:nvSpPr>
        <p:spPr>
          <a:xfrm>
            <a:off x="2496312" y="960120"/>
            <a:ext cx="1965960" cy="502920"/>
          </a:xfrm>
          <a:prstGeom prst="rect">
            <a:avLst/>
          </a:prstGeom>
          <a:solidFill>
            <a:srgbClr val="922B21"/>
          </a:solidFill>
          <a:ln w="12700">
            <a:solidFill>
              <a:srgbClr val="922B21"/>
            </a:solidFill>
            <a:prstDash val="solid"/>
          </a:ln>
        </p:spPr>
        <p:txBody>
          <a:bodyPr/>
          <a:lstStyle/>
          <a:p>
            <a:endParaRPr lang="zh-CN" altLang="en-US"/>
          </a:p>
        </p:txBody>
      </p:sp>
      <p:sp>
        <p:nvSpPr>
          <p:cNvPr id="13" name="Text 11"/>
          <p:cNvSpPr/>
          <p:nvPr/>
        </p:nvSpPr>
        <p:spPr>
          <a:xfrm>
            <a:off x="2496312" y="960120"/>
            <a:ext cx="1965960" cy="502920"/>
          </a:xfrm>
          <a:prstGeom prst="rect">
            <a:avLst/>
          </a:prstGeom>
          <a:noFill/>
        </p:spPr>
        <p:txBody>
          <a:bodyPr wrap="square" lIns="0" tIns="0" rIns="0" bIns="0" rtlCol="0" anchor="ctr"/>
          <a:lstStyle/>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Silk Road</a:t>
            </a:r>
            <a:endParaRPr lang="en-US" sz="1000" dirty="0"/>
          </a:p>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Merchants</a:t>
            </a:r>
            <a:endParaRPr lang="en-US" sz="1000" dirty="0"/>
          </a:p>
        </p:txBody>
      </p:sp>
      <p:sp>
        <p:nvSpPr>
          <p:cNvPr id="14" name="Shape 12"/>
          <p:cNvSpPr/>
          <p:nvPr/>
        </p:nvSpPr>
        <p:spPr>
          <a:xfrm>
            <a:off x="4462272" y="1115568"/>
            <a:ext cx="210312" cy="164592"/>
          </a:xfrm>
          <a:prstGeom prst="rect">
            <a:avLst/>
          </a:prstGeom>
          <a:solidFill>
            <a:srgbClr val="C9A84C"/>
          </a:solidFill>
          <a:ln w="12700">
            <a:solidFill>
              <a:srgbClr val="C9A84C"/>
            </a:solidFill>
            <a:prstDash val="solid"/>
          </a:ln>
        </p:spPr>
        <p:txBody>
          <a:bodyPr/>
          <a:lstStyle/>
          <a:p>
            <a:endParaRPr lang="zh-CN" altLang="en-US"/>
          </a:p>
        </p:txBody>
      </p:sp>
      <p:sp>
        <p:nvSpPr>
          <p:cNvPr id="15" name="Shape 13"/>
          <p:cNvSpPr/>
          <p:nvPr/>
        </p:nvSpPr>
        <p:spPr>
          <a:xfrm>
            <a:off x="2496312" y="1536192"/>
            <a:ext cx="1965960" cy="2606040"/>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6" name="Text 14"/>
          <p:cNvSpPr/>
          <p:nvPr/>
        </p:nvSpPr>
        <p:spPr>
          <a:xfrm>
            <a:off x="2587752" y="1627632"/>
            <a:ext cx="1783080" cy="237744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Ideas travel</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along trade routes</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across Central Asia.</a:t>
            </a:r>
            <a:endParaRPr lang="en-US" sz="1150" dirty="0"/>
          </a:p>
        </p:txBody>
      </p:sp>
      <p:sp>
        <p:nvSpPr>
          <p:cNvPr id="17" name="Shape 15"/>
          <p:cNvSpPr/>
          <p:nvPr/>
        </p:nvSpPr>
        <p:spPr>
          <a:xfrm>
            <a:off x="4672584" y="960120"/>
            <a:ext cx="1965960" cy="502920"/>
          </a:xfrm>
          <a:prstGeom prst="rect">
            <a:avLst/>
          </a:prstGeom>
          <a:solidFill>
            <a:srgbClr val="8B1A1A"/>
          </a:solidFill>
          <a:ln w="12700">
            <a:solidFill>
              <a:srgbClr val="8B1A1A"/>
            </a:solidFill>
            <a:prstDash val="solid"/>
          </a:ln>
        </p:spPr>
        <p:txBody>
          <a:bodyPr/>
          <a:lstStyle/>
          <a:p>
            <a:endParaRPr lang="zh-CN" altLang="en-US"/>
          </a:p>
        </p:txBody>
      </p:sp>
      <p:sp>
        <p:nvSpPr>
          <p:cNvPr id="18" name="Text 16"/>
          <p:cNvSpPr/>
          <p:nvPr/>
        </p:nvSpPr>
        <p:spPr>
          <a:xfrm>
            <a:off x="4672584" y="960120"/>
            <a:ext cx="1965960" cy="502920"/>
          </a:xfrm>
          <a:prstGeom prst="rect">
            <a:avLst/>
          </a:prstGeom>
          <a:noFill/>
        </p:spPr>
        <p:txBody>
          <a:bodyPr wrap="square" lIns="0" tIns="0" rIns="0" bIns="0" rtlCol="0" anchor="ctr"/>
          <a:lstStyle/>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India ↔ China</a:t>
            </a:r>
            <a:endParaRPr lang="en-US" sz="1000" dirty="0"/>
          </a:p>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Buddhist Monks</a:t>
            </a:r>
            <a:endParaRPr lang="en-US" sz="1000" dirty="0"/>
          </a:p>
        </p:txBody>
      </p:sp>
      <p:sp>
        <p:nvSpPr>
          <p:cNvPr id="19" name="Shape 17"/>
          <p:cNvSpPr/>
          <p:nvPr/>
        </p:nvSpPr>
        <p:spPr>
          <a:xfrm>
            <a:off x="6638544" y="1115568"/>
            <a:ext cx="210312" cy="164592"/>
          </a:xfrm>
          <a:prstGeom prst="rect">
            <a:avLst/>
          </a:prstGeom>
          <a:solidFill>
            <a:srgbClr val="C9A84C"/>
          </a:solidFill>
          <a:ln w="12700">
            <a:solidFill>
              <a:srgbClr val="C9A84C"/>
            </a:solidFill>
            <a:prstDash val="solid"/>
          </a:ln>
        </p:spPr>
        <p:txBody>
          <a:bodyPr/>
          <a:lstStyle/>
          <a:p>
            <a:endParaRPr lang="zh-CN" altLang="en-US"/>
          </a:p>
        </p:txBody>
      </p:sp>
      <p:sp>
        <p:nvSpPr>
          <p:cNvPr id="20" name="Shape 18"/>
          <p:cNvSpPr/>
          <p:nvPr/>
        </p:nvSpPr>
        <p:spPr>
          <a:xfrm>
            <a:off x="4672584" y="1536192"/>
            <a:ext cx="1965960" cy="2606040"/>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21" name="Text 19"/>
          <p:cNvSpPr/>
          <p:nvPr/>
        </p:nvSpPr>
        <p:spPr>
          <a:xfrm>
            <a:off x="4764024" y="1627632"/>
            <a:ext cx="1783080" cy="237744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Karuṇā (compassion)</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merges with Rén.</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Same idea, new language.</a:t>
            </a:r>
            <a:endParaRPr lang="en-US" sz="1150" dirty="0"/>
          </a:p>
        </p:txBody>
      </p:sp>
      <p:sp>
        <p:nvSpPr>
          <p:cNvPr id="22" name="Shape 20"/>
          <p:cNvSpPr/>
          <p:nvPr/>
        </p:nvSpPr>
        <p:spPr>
          <a:xfrm>
            <a:off x="6848856" y="960120"/>
            <a:ext cx="1965960" cy="502920"/>
          </a:xfrm>
          <a:prstGeom prst="rect">
            <a:avLst/>
          </a:prstGeom>
          <a:solidFill>
            <a:srgbClr val="6B0000"/>
          </a:solidFill>
          <a:ln w="12700">
            <a:solidFill>
              <a:srgbClr val="6B0000"/>
            </a:solidFill>
            <a:prstDash val="solid"/>
          </a:ln>
        </p:spPr>
        <p:txBody>
          <a:bodyPr/>
          <a:lstStyle/>
          <a:p>
            <a:endParaRPr lang="zh-CN" altLang="en-US"/>
          </a:p>
        </p:txBody>
      </p:sp>
      <p:sp>
        <p:nvSpPr>
          <p:cNvPr id="23" name="Text 21"/>
          <p:cNvSpPr/>
          <p:nvPr/>
        </p:nvSpPr>
        <p:spPr>
          <a:xfrm>
            <a:off x="6848856" y="960120"/>
            <a:ext cx="1965960" cy="502920"/>
          </a:xfrm>
          <a:prstGeom prst="rect">
            <a:avLst/>
          </a:prstGeom>
          <a:noFill/>
        </p:spPr>
        <p:txBody>
          <a:bodyPr wrap="square" lIns="0" tIns="0" rIns="0" bIns="0" rtlCol="0" anchor="ctr"/>
          <a:lstStyle/>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East Asia</a:t>
            </a:r>
            <a:endParaRPr lang="en-US" sz="1000" dirty="0"/>
          </a:p>
          <a:p>
            <a:pPr marL="0" indent="0" algn="ctr">
              <a:buNone/>
            </a:pPr>
            <a:r>
              <a:rPr lang="en-US" sz="1000" b="1" dirty="0">
                <a:solidFill>
                  <a:srgbClr val="FFFFFF"/>
                </a:solidFill>
                <a:latin typeface="Georgia" panose="02040502050405020303" pitchFamily="34" charset="0"/>
                <a:ea typeface="Georgia" panose="02040502050405020303" pitchFamily="34" charset="0"/>
                <a:cs typeface="Georgia" panose="02040502050405020303" pitchFamily="34" charset="0"/>
              </a:rPr>
              <a:t>Korea · Japan · Vietnam</a:t>
            </a:r>
            <a:endParaRPr lang="en-US" sz="1000" dirty="0"/>
          </a:p>
        </p:txBody>
      </p:sp>
      <p:sp>
        <p:nvSpPr>
          <p:cNvPr id="24" name="Shape 22"/>
          <p:cNvSpPr/>
          <p:nvPr/>
        </p:nvSpPr>
        <p:spPr>
          <a:xfrm>
            <a:off x="6848856" y="1536192"/>
            <a:ext cx="1965960" cy="2606040"/>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25" name="Text 23"/>
          <p:cNvSpPr/>
          <p:nvPr/>
        </p:nvSpPr>
        <p:spPr>
          <a:xfrm>
            <a:off x="6940296" y="1627632"/>
            <a:ext cx="1783080" cy="2377440"/>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Each country</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adopts and adapts Rén</a:t>
            </a:r>
            <a:endParaRPr lang="en-US" sz="1150" dirty="0"/>
          </a:p>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into their own culture.</a:t>
            </a:r>
            <a:endParaRPr lang="en-US" sz="1150" dirty="0"/>
          </a:p>
        </p:txBody>
      </p:sp>
      <p:sp>
        <p:nvSpPr>
          <p:cNvPr id="26" name="Shape 24"/>
          <p:cNvSpPr/>
          <p:nvPr/>
        </p:nvSpPr>
        <p:spPr>
          <a:xfrm>
            <a:off x="320040" y="4251960"/>
            <a:ext cx="8503920" cy="457200"/>
          </a:xfrm>
          <a:prstGeom prst="rect">
            <a:avLst/>
          </a:prstGeom>
          <a:solidFill>
            <a:srgbClr val="922B21"/>
          </a:solidFill>
          <a:ln w="12700">
            <a:solidFill>
              <a:srgbClr val="922B21"/>
            </a:solidFill>
            <a:prstDash val="solid"/>
          </a:ln>
        </p:spPr>
        <p:txBody>
          <a:bodyPr/>
          <a:lstStyle/>
          <a:p>
            <a:endParaRPr lang="zh-CN" altLang="en-US"/>
          </a:p>
        </p:txBody>
      </p:sp>
      <p:sp>
        <p:nvSpPr>
          <p:cNvPr id="27" name="Text 25"/>
          <p:cNvSpPr/>
          <p:nvPr/>
        </p:nvSpPr>
        <p:spPr>
          <a:xfrm>
            <a:off x="457200" y="4315968"/>
            <a:ext cx="8321040" cy="292608"/>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rPr>
              <a:t>Result: Buddhist compassion + Confucian Rén = richer, more universal ethic of care.</a:t>
            </a:r>
            <a:endParaRPr lang="en-US" sz="1200" dirty="0"/>
          </a:p>
        </p:txBody>
      </p:sp>
      <p:sp>
        <p:nvSpPr>
          <p:cNvPr id="28" name="Shape 26"/>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9" name="Text 2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10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道</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2</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East Asia</a:t>
            </a:r>
            <a:endParaRPr lang="en-US" sz="1000" dirty="0"/>
          </a:p>
        </p:txBody>
      </p:sp>
      <p:sp>
        <p:nvSpPr>
          <p:cNvPr id="9" name="Text 7"/>
          <p:cNvSpPr/>
          <p:nvPr/>
        </p:nvSpPr>
        <p:spPr>
          <a:xfrm>
            <a:off x="2971800" y="137160"/>
            <a:ext cx="5897880" cy="594360"/>
          </a:xfrm>
          <a:prstGeom prst="rect">
            <a:avLst/>
          </a:prstGeom>
          <a:noFill/>
        </p:spPr>
        <p:txBody>
          <a:bodyPr wrap="square" lIns="0" tIns="0" rIns="0" bIns="0" rtlCol="0" anchor="ctr"/>
          <a:lstStyle/>
          <a:p>
            <a:pPr marL="0" indent="0">
              <a:buNone/>
            </a:pPr>
            <a:r>
              <a:rPr lang="en-US" sz="2600" b="1" dirty="0">
                <a:solidFill>
                  <a:srgbClr val="922B21"/>
                </a:solidFill>
                <a:latin typeface="Georgia" panose="02040502050405020303" pitchFamily="34" charset="0"/>
                <a:ea typeface="Georgia" panose="02040502050405020303" pitchFamily="34" charset="0"/>
                <a:cs typeface="Georgia" panose="02040502050405020303" pitchFamily="34" charset="0"/>
              </a:rPr>
              <a:t>Rén Spreads Across East Asia</a:t>
            </a:r>
            <a:endParaRPr lang="en-US" sz="26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Shape 9"/>
          <p:cNvSpPr/>
          <p:nvPr/>
        </p:nvSpPr>
        <p:spPr>
          <a:xfrm>
            <a:off x="2971800" y="960120"/>
            <a:ext cx="5897880" cy="1115568"/>
          </a:xfrm>
          <a:prstGeom prst="rect">
            <a:avLst/>
          </a:prstGeom>
          <a:solidFill>
            <a:srgbClr val="FADBD8"/>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2" name="Shape 10"/>
          <p:cNvSpPr/>
          <p:nvPr/>
        </p:nvSpPr>
        <p:spPr>
          <a:xfrm>
            <a:off x="2971800" y="960120"/>
            <a:ext cx="64008" cy="1115568"/>
          </a:xfrm>
          <a:prstGeom prst="rect">
            <a:avLst/>
          </a:prstGeom>
          <a:solidFill>
            <a:srgbClr val="C0392B"/>
          </a:solidFill>
          <a:ln w="12700">
            <a:solidFill>
              <a:srgbClr val="C0392B"/>
            </a:solidFill>
            <a:prstDash val="solid"/>
          </a:ln>
        </p:spPr>
        <p:txBody>
          <a:bodyPr/>
          <a:lstStyle/>
          <a:p>
            <a:endParaRPr lang="zh-CN" altLang="en-US"/>
          </a:p>
        </p:txBody>
      </p:sp>
      <p:sp>
        <p:nvSpPr>
          <p:cNvPr id="13" name="Text 11"/>
          <p:cNvSpPr/>
          <p:nvPr/>
        </p:nvSpPr>
        <p:spPr>
          <a:xfrm>
            <a:off x="3108960" y="1051560"/>
            <a:ext cx="475488" cy="475488"/>
          </a:xfrm>
          <a:prstGeom prst="rect">
            <a:avLst/>
          </a:prstGeom>
          <a:noFill/>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3657600" y="1051560"/>
            <a:ext cx="5120640" cy="329184"/>
          </a:xfrm>
          <a:prstGeom prst="rect">
            <a:avLst/>
          </a:prstGeom>
          <a:noFill/>
        </p:spPr>
        <p:txBody>
          <a:bodyPr wrap="square" lIns="0" tIns="0" rIns="0" bIns="0" rtlCol="0" anchor="ctr"/>
          <a:lstStyle/>
          <a:p>
            <a:pPr marL="0" indent="0">
              <a:buNone/>
            </a:pPr>
            <a:r>
              <a:rPr lang="en-US" sz="1400" b="1" dirty="0">
                <a:solidFill>
                  <a:srgbClr val="922B21"/>
                </a:solidFill>
                <a:latin typeface="Georgia" panose="02040502050405020303" pitchFamily="34" charset="0"/>
                <a:ea typeface="Georgia" panose="02040502050405020303" pitchFamily="34" charset="0"/>
                <a:cs typeface="Georgia" panose="02040502050405020303" pitchFamily="34" charset="0"/>
              </a:rPr>
              <a:t>Japan — 仁 (Jin)</a:t>
            </a:r>
            <a:endParaRPr lang="en-US" sz="1400" dirty="0"/>
          </a:p>
        </p:txBody>
      </p:sp>
      <p:sp>
        <p:nvSpPr>
          <p:cNvPr id="15" name="Text 13"/>
          <p:cNvSpPr/>
          <p:nvPr/>
        </p:nvSpPr>
        <p:spPr>
          <a:xfrm>
            <a:off x="3657600" y="1417320"/>
            <a:ext cx="5120640" cy="548640"/>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Became part of Bushido, the samurai code. A warrior must show compassion, not just strength. Jin = knowing when NOT to use force.</a:t>
            </a:r>
            <a:endParaRPr lang="en-US" sz="1200" dirty="0"/>
          </a:p>
        </p:txBody>
      </p:sp>
      <p:sp>
        <p:nvSpPr>
          <p:cNvPr id="16" name="Shape 14"/>
          <p:cNvSpPr/>
          <p:nvPr/>
        </p:nvSpPr>
        <p:spPr>
          <a:xfrm>
            <a:off x="2971800" y="2258568"/>
            <a:ext cx="5897880" cy="1115568"/>
          </a:xfrm>
          <a:prstGeom prst="rect">
            <a:avLst/>
          </a:prstGeom>
          <a:solidFill>
            <a:srgbClr val="FDF0E0"/>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7" name="Shape 15"/>
          <p:cNvSpPr/>
          <p:nvPr/>
        </p:nvSpPr>
        <p:spPr>
          <a:xfrm>
            <a:off x="2971800" y="2258568"/>
            <a:ext cx="64008" cy="1115568"/>
          </a:xfrm>
          <a:prstGeom prst="rect">
            <a:avLst/>
          </a:prstGeom>
          <a:solidFill>
            <a:srgbClr val="C0392B"/>
          </a:solidFill>
          <a:ln w="12700">
            <a:solidFill>
              <a:srgbClr val="C0392B"/>
            </a:solidFill>
            <a:prstDash val="solid"/>
          </a:ln>
        </p:spPr>
        <p:txBody>
          <a:bodyPr/>
          <a:lstStyle/>
          <a:p>
            <a:endParaRPr lang="zh-CN" altLang="en-US"/>
          </a:p>
        </p:txBody>
      </p:sp>
      <p:sp>
        <p:nvSpPr>
          <p:cNvPr id="18" name="Text 16"/>
          <p:cNvSpPr/>
          <p:nvPr/>
        </p:nvSpPr>
        <p:spPr>
          <a:xfrm>
            <a:off x="3108960" y="2350008"/>
            <a:ext cx="475488" cy="475488"/>
          </a:xfrm>
          <a:prstGeom prst="rect">
            <a:avLst/>
          </a:prstGeom>
          <a:noFill/>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9" name="Text 17"/>
          <p:cNvSpPr/>
          <p:nvPr/>
        </p:nvSpPr>
        <p:spPr>
          <a:xfrm>
            <a:off x="3657600" y="2350008"/>
            <a:ext cx="5120640" cy="329184"/>
          </a:xfrm>
          <a:prstGeom prst="rect">
            <a:avLst/>
          </a:prstGeom>
          <a:noFill/>
        </p:spPr>
        <p:txBody>
          <a:bodyPr wrap="square" lIns="0" tIns="0" rIns="0" bIns="0" rtlCol="0" anchor="ctr"/>
          <a:lstStyle/>
          <a:p>
            <a:pPr marL="0" indent="0">
              <a:buNone/>
            </a:pPr>
            <a:r>
              <a:rPr lang="en-US" sz="1400" b="1" dirty="0">
                <a:solidFill>
                  <a:srgbClr val="922B21"/>
                </a:solidFill>
                <a:latin typeface="Georgia" panose="02040502050405020303" pitchFamily="34" charset="0"/>
                <a:ea typeface="Georgia" panose="02040502050405020303" pitchFamily="34" charset="0"/>
                <a:cs typeface="Georgia" panose="02040502050405020303" pitchFamily="34" charset="0"/>
              </a:rPr>
              <a:t>Korea — 인 (In)</a:t>
            </a:r>
            <a:endParaRPr lang="en-US" sz="1400" dirty="0"/>
          </a:p>
        </p:txBody>
      </p:sp>
      <p:sp>
        <p:nvSpPr>
          <p:cNvPr id="20" name="Text 18"/>
          <p:cNvSpPr/>
          <p:nvPr/>
        </p:nvSpPr>
        <p:spPr>
          <a:xfrm>
            <a:off x="3657600" y="2715768"/>
            <a:ext cx="5120640" cy="548640"/>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Used to test government officials in civil service exams. A good official must be ethical and benevolent — not just knowledgeable.</a:t>
            </a:r>
            <a:endParaRPr lang="en-US" sz="1200" dirty="0"/>
          </a:p>
        </p:txBody>
      </p:sp>
      <p:sp>
        <p:nvSpPr>
          <p:cNvPr id="21" name="Shape 19"/>
          <p:cNvSpPr/>
          <p:nvPr/>
        </p:nvSpPr>
        <p:spPr>
          <a:xfrm>
            <a:off x="2971800" y="3557016"/>
            <a:ext cx="5897880" cy="1115568"/>
          </a:xfrm>
          <a:prstGeom prst="rect">
            <a:avLst/>
          </a:prstGeom>
          <a:solidFill>
            <a:srgbClr val="FADBD8"/>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22" name="Shape 20"/>
          <p:cNvSpPr/>
          <p:nvPr/>
        </p:nvSpPr>
        <p:spPr>
          <a:xfrm>
            <a:off x="2971800" y="3557016"/>
            <a:ext cx="64008" cy="1115568"/>
          </a:xfrm>
          <a:prstGeom prst="rect">
            <a:avLst/>
          </a:prstGeom>
          <a:solidFill>
            <a:srgbClr val="C0392B"/>
          </a:solidFill>
          <a:ln w="12700">
            <a:solidFill>
              <a:srgbClr val="C0392B"/>
            </a:solidFill>
            <a:prstDash val="solid"/>
          </a:ln>
        </p:spPr>
        <p:txBody>
          <a:bodyPr/>
          <a:lstStyle/>
          <a:p>
            <a:endParaRPr lang="zh-CN" altLang="en-US"/>
          </a:p>
        </p:txBody>
      </p:sp>
      <p:sp>
        <p:nvSpPr>
          <p:cNvPr id="23" name="Text 21"/>
          <p:cNvSpPr/>
          <p:nvPr/>
        </p:nvSpPr>
        <p:spPr>
          <a:xfrm>
            <a:off x="3108960" y="3648456"/>
            <a:ext cx="475488" cy="475488"/>
          </a:xfrm>
          <a:prstGeom prst="rect">
            <a:avLst/>
          </a:prstGeom>
          <a:noFill/>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4" name="Text 22"/>
          <p:cNvSpPr/>
          <p:nvPr/>
        </p:nvSpPr>
        <p:spPr>
          <a:xfrm>
            <a:off x="3657600" y="3648456"/>
            <a:ext cx="5120640" cy="329184"/>
          </a:xfrm>
          <a:prstGeom prst="rect">
            <a:avLst/>
          </a:prstGeom>
          <a:noFill/>
        </p:spPr>
        <p:txBody>
          <a:bodyPr wrap="square" lIns="0" tIns="0" rIns="0" bIns="0" rtlCol="0" anchor="ctr"/>
          <a:lstStyle/>
          <a:p>
            <a:pPr marL="0" indent="0">
              <a:buNone/>
            </a:pPr>
            <a:r>
              <a:rPr lang="en-US" sz="1400" b="1" dirty="0">
                <a:solidFill>
                  <a:srgbClr val="922B21"/>
                </a:solidFill>
                <a:latin typeface="Georgia" panose="02040502050405020303" pitchFamily="34" charset="0"/>
                <a:ea typeface="Georgia" panose="02040502050405020303" pitchFamily="34" charset="0"/>
                <a:cs typeface="Georgia" panose="02040502050405020303" pitchFamily="34" charset="0"/>
              </a:rPr>
              <a:t>Vietnam — Nhân</a:t>
            </a:r>
            <a:endParaRPr lang="en-US" sz="1400" dirty="0"/>
          </a:p>
        </p:txBody>
      </p:sp>
      <p:sp>
        <p:nvSpPr>
          <p:cNvPr id="25" name="Text 23"/>
          <p:cNvSpPr/>
          <p:nvPr/>
        </p:nvSpPr>
        <p:spPr>
          <a:xfrm>
            <a:off x="3657600" y="4014216"/>
            <a:ext cx="5120640" cy="548640"/>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Shaped how rulers were judged. A good leader must love the people. Governance without Rén is not true governance.</a:t>
            </a:r>
            <a:endParaRPr lang="en-US" sz="1200" dirty="0"/>
          </a:p>
        </p:txBody>
      </p:sp>
      <p:sp>
        <p:nvSpPr>
          <p:cNvPr id="26" name="Shape 24"/>
          <p:cNvSpPr/>
          <p:nvPr/>
        </p:nvSpPr>
        <p:spPr>
          <a:xfrm>
            <a:off x="2971800" y="4370832"/>
            <a:ext cx="5897880" cy="347472"/>
          </a:xfrm>
          <a:prstGeom prst="rect">
            <a:avLst/>
          </a:prstGeom>
          <a:solidFill>
            <a:srgbClr val="922B21"/>
          </a:solidFill>
          <a:ln w="12700">
            <a:solidFill>
              <a:srgbClr val="922B21"/>
            </a:solidFill>
            <a:prstDash val="solid"/>
          </a:ln>
        </p:spPr>
        <p:txBody>
          <a:bodyPr/>
          <a:lstStyle/>
          <a:p>
            <a:endParaRPr lang="zh-CN" altLang="en-US"/>
          </a:p>
        </p:txBody>
      </p:sp>
      <p:sp>
        <p:nvSpPr>
          <p:cNvPr id="27" name="Text 25"/>
          <p:cNvSpPr/>
          <p:nvPr/>
        </p:nvSpPr>
        <p:spPr>
          <a:xfrm>
            <a:off x="3108960" y="4407408"/>
            <a:ext cx="5669280" cy="256032"/>
          </a:xfrm>
          <a:prstGeom prst="rect">
            <a:avLst/>
          </a:prstGeom>
          <a:noFill/>
        </p:spPr>
        <p:txBody>
          <a:bodyPr wrap="square" lIns="0" tIns="0" rIns="0" bIns="0"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0"/>
                <a:cs typeface="Calibri" panose="020F0502020204030204" pitchFamily="34" charset="0"/>
              </a:rPr>
              <a:t>Rén is not just Chinese — it is an East Asian shared heritage.</a:t>
            </a:r>
            <a:endParaRPr lang="en-US" sz="1150" dirty="0"/>
          </a:p>
        </p:txBody>
      </p:sp>
      <p:sp>
        <p:nvSpPr>
          <p:cNvPr id="28" name="Shape 26"/>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9" name="Text 2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11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2</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Speaker 2 → Summary</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Shape 5"/>
          <p:cNvSpPr/>
          <p:nvPr/>
        </p:nvSpPr>
        <p:spPr>
          <a:xfrm>
            <a:off x="365760" y="987552"/>
            <a:ext cx="8412480" cy="10241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8" name="Shape 6"/>
          <p:cNvSpPr/>
          <p:nvPr/>
        </p:nvSpPr>
        <p:spPr>
          <a:xfrm>
            <a:off x="365760" y="987552"/>
            <a:ext cx="64008" cy="1024128"/>
          </a:xfrm>
          <a:prstGeom prst="rect">
            <a:avLst/>
          </a:prstGeom>
          <a:solidFill>
            <a:srgbClr val="C0392B"/>
          </a:solidFill>
          <a:ln w="12700">
            <a:solidFill>
              <a:srgbClr val="C0392B"/>
            </a:solidFill>
            <a:prstDash val="solid"/>
          </a:ln>
        </p:spPr>
        <p:txBody>
          <a:bodyPr/>
          <a:lstStyle/>
          <a:p>
            <a:endParaRPr lang="zh-CN" altLang="en-US"/>
          </a:p>
        </p:txBody>
      </p:sp>
      <p:sp>
        <p:nvSpPr>
          <p:cNvPr id="9" name="Text 7"/>
          <p:cNvSpPr/>
          <p:nvPr/>
        </p:nvSpPr>
        <p:spPr>
          <a:xfrm>
            <a:off x="502920" y="1124712"/>
            <a:ext cx="457200" cy="502920"/>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10" name="Text 8"/>
          <p:cNvSpPr/>
          <p:nvPr/>
        </p:nvSpPr>
        <p:spPr>
          <a:xfrm>
            <a:off x="1051560" y="1078992"/>
            <a:ext cx="2011680" cy="329184"/>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Rén in governance</a:t>
            </a:r>
            <a:endParaRPr lang="en-US" sz="1300" dirty="0"/>
          </a:p>
        </p:txBody>
      </p:sp>
      <p:sp>
        <p:nvSpPr>
          <p:cNvPr id="11" name="Text 9"/>
          <p:cNvSpPr/>
          <p:nvPr/>
        </p:nvSpPr>
        <p:spPr>
          <a:xfrm>
            <a:off x="1051560" y="1444752"/>
            <a:ext cx="7635240" cy="475488"/>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Chinese rulers were held to the standard of 仁政 — benevolent rule that puts the people first.</a:t>
            </a:r>
            <a:endParaRPr lang="en-US" sz="1200" dirty="0"/>
          </a:p>
        </p:txBody>
      </p:sp>
      <p:sp>
        <p:nvSpPr>
          <p:cNvPr id="12" name="Shape 10"/>
          <p:cNvSpPr/>
          <p:nvPr/>
        </p:nvSpPr>
        <p:spPr>
          <a:xfrm>
            <a:off x="365760" y="2194560"/>
            <a:ext cx="8412480" cy="10241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Shape 11"/>
          <p:cNvSpPr/>
          <p:nvPr/>
        </p:nvSpPr>
        <p:spPr>
          <a:xfrm>
            <a:off x="365760" y="2194560"/>
            <a:ext cx="64008" cy="1024128"/>
          </a:xfrm>
          <a:prstGeom prst="rect">
            <a:avLst/>
          </a:prstGeom>
          <a:solidFill>
            <a:srgbClr val="C0392B"/>
          </a:solidFill>
          <a:ln w="12700">
            <a:solidFill>
              <a:srgbClr val="C0392B"/>
            </a:solidFill>
            <a:prstDash val="solid"/>
          </a:ln>
        </p:spPr>
        <p:txBody>
          <a:bodyPr/>
          <a:lstStyle/>
          <a:p>
            <a:endParaRPr lang="zh-CN" altLang="en-US"/>
          </a:p>
        </p:txBody>
      </p:sp>
      <p:sp>
        <p:nvSpPr>
          <p:cNvPr id="14" name="Text 12"/>
          <p:cNvSpPr/>
          <p:nvPr/>
        </p:nvSpPr>
        <p:spPr>
          <a:xfrm>
            <a:off x="502920" y="2331720"/>
            <a:ext cx="457200" cy="502920"/>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15" name="Text 13"/>
          <p:cNvSpPr/>
          <p:nvPr/>
        </p:nvSpPr>
        <p:spPr>
          <a:xfrm>
            <a:off x="1051560" y="2286000"/>
            <a:ext cx="2011680" cy="329184"/>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Silk Road exchange</a:t>
            </a:r>
            <a:endParaRPr lang="en-US" sz="1300" dirty="0"/>
          </a:p>
        </p:txBody>
      </p:sp>
      <p:sp>
        <p:nvSpPr>
          <p:cNvPr id="16" name="Text 14"/>
          <p:cNvSpPr/>
          <p:nvPr/>
        </p:nvSpPr>
        <p:spPr>
          <a:xfrm>
            <a:off x="1051560" y="2651760"/>
            <a:ext cx="7635240" cy="475488"/>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Buddhist compassion and Confucian Rén blended along trade routes — creating a shared ethic.</a:t>
            </a:r>
            <a:endParaRPr lang="en-US" sz="1200" dirty="0"/>
          </a:p>
        </p:txBody>
      </p:sp>
      <p:sp>
        <p:nvSpPr>
          <p:cNvPr id="17" name="Shape 15"/>
          <p:cNvSpPr/>
          <p:nvPr/>
        </p:nvSpPr>
        <p:spPr>
          <a:xfrm>
            <a:off x="365760" y="3401568"/>
            <a:ext cx="8412480" cy="10241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8" name="Shape 16"/>
          <p:cNvSpPr/>
          <p:nvPr/>
        </p:nvSpPr>
        <p:spPr>
          <a:xfrm>
            <a:off x="365760" y="3401568"/>
            <a:ext cx="64008" cy="1024128"/>
          </a:xfrm>
          <a:prstGeom prst="rect">
            <a:avLst/>
          </a:prstGeom>
          <a:solidFill>
            <a:srgbClr val="C0392B"/>
          </a:solidFill>
          <a:ln w="12700">
            <a:solidFill>
              <a:srgbClr val="C0392B"/>
            </a:solidFill>
            <a:prstDash val="solid"/>
          </a:ln>
        </p:spPr>
        <p:txBody>
          <a:bodyPr/>
          <a:lstStyle/>
          <a:p>
            <a:endParaRPr lang="zh-CN" altLang="en-US"/>
          </a:p>
        </p:txBody>
      </p:sp>
      <p:sp>
        <p:nvSpPr>
          <p:cNvPr id="19" name="Text 17"/>
          <p:cNvSpPr/>
          <p:nvPr/>
        </p:nvSpPr>
        <p:spPr>
          <a:xfrm>
            <a:off x="502920" y="3538728"/>
            <a:ext cx="457200" cy="502920"/>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20" name="Text 18"/>
          <p:cNvSpPr/>
          <p:nvPr/>
        </p:nvSpPr>
        <p:spPr>
          <a:xfrm>
            <a:off x="1051560" y="3493008"/>
            <a:ext cx="2011680" cy="329184"/>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East Asian spread</a:t>
            </a:r>
            <a:endParaRPr lang="en-US" sz="1300" dirty="0"/>
          </a:p>
        </p:txBody>
      </p:sp>
      <p:sp>
        <p:nvSpPr>
          <p:cNvPr id="21" name="Text 19"/>
          <p:cNvSpPr/>
          <p:nvPr/>
        </p:nvSpPr>
        <p:spPr>
          <a:xfrm>
            <a:off x="1051560" y="3858768"/>
            <a:ext cx="7635240" cy="475488"/>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Japan, Korea, and Vietnam all adopted Rén into their ethics, governance, and warrior codes.</a:t>
            </a:r>
            <a:endParaRPr lang="en-US" sz="1200" dirty="0"/>
          </a:p>
        </p:txBody>
      </p:sp>
      <p:sp>
        <p:nvSpPr>
          <p:cNvPr id="22" name="Text 20"/>
          <p:cNvSpPr/>
          <p:nvPr/>
        </p:nvSpPr>
        <p:spPr>
          <a:xfrm>
            <a:off x="457200" y="4645152"/>
            <a:ext cx="8229600" cy="256032"/>
          </a:xfrm>
          <a:prstGeom prst="rect">
            <a:avLst/>
          </a:prstGeom>
          <a:noFill/>
        </p:spPr>
        <p:txBody>
          <a:bodyPr wrap="square" lIns="0" tIns="0" rIns="0" bIns="0" rtlCol="0" anchor="ctr"/>
          <a:lstStyle/>
          <a:p>
            <a:pPr marL="0" indent="0">
              <a:buNone/>
            </a:pPr>
            <a:r>
              <a:rPr lang="en-US" sz="1100" i="1" dirty="0">
                <a:solidFill>
                  <a:srgbClr val="C0392B"/>
                </a:solidFill>
                <a:latin typeface="Calibri" panose="020F0502020204030204" pitchFamily="34" charset="0"/>
                <a:ea typeface="Calibri" panose="020F0502020204030204" pitchFamily="34" charset="0"/>
                <a:cs typeface="Calibri" panose="020F0502020204030204" pitchFamily="34" charset="0"/>
              </a:rPr>
              <a:t>Next: How does Rén compare to similar ideas around the world? → Speaker 3</a:t>
            </a:r>
            <a:endParaRPr lang="en-US" sz="1100" dirty="0"/>
          </a:p>
        </p:txBody>
      </p:sp>
      <p:sp>
        <p:nvSpPr>
          <p:cNvPr id="23" name="Shape 21"/>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4" name="Text 22"/>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12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1097280" y="-914400"/>
            <a:ext cx="5943600" cy="5943600"/>
          </a:xfrm>
          <a:prstGeom prst="ellipse">
            <a:avLst/>
          </a:prstGeom>
          <a:solidFill>
            <a:srgbClr val="C0392B">
              <a:alpha val="21000"/>
            </a:srgbClr>
          </a:solidFill>
          <a:ln w="12700">
            <a:solidFill>
              <a:srgbClr val="C0392B"/>
            </a:solidFill>
            <a:prstDash val="solid"/>
          </a:ln>
        </p:spPr>
        <p:txBody>
          <a:bodyPr/>
          <a:lstStyle/>
          <a:p>
            <a:endParaRPr lang="zh-CN" altLang="en-US"/>
          </a:p>
        </p:txBody>
      </p:sp>
      <p:sp>
        <p:nvSpPr>
          <p:cNvPr id="3" name="Shape 1"/>
          <p:cNvSpPr/>
          <p:nvPr/>
        </p:nvSpPr>
        <p:spPr>
          <a:xfrm>
            <a:off x="5029200" y="1371600"/>
            <a:ext cx="5303520" cy="5303520"/>
          </a:xfrm>
          <a:prstGeom prst="ellipse">
            <a:avLst/>
          </a:prstGeom>
          <a:solidFill>
            <a:srgbClr val="7B0000">
              <a:alpha val="18000"/>
            </a:srgbClr>
          </a:solidFill>
          <a:ln w="12700">
            <a:solidFill>
              <a:srgbClr val="7B0000"/>
            </a:solidFill>
            <a:prstDash val="solid"/>
          </a:ln>
        </p:spPr>
        <p:txBody>
          <a:bodyPr/>
          <a:lstStyle/>
          <a:p>
            <a:endParaRPr lang="zh-CN" altLang="en-US"/>
          </a:p>
        </p:txBody>
      </p:sp>
      <p:sp>
        <p:nvSpPr>
          <p:cNvPr id="4" name="Text 2"/>
          <p:cNvSpPr/>
          <p:nvPr/>
        </p:nvSpPr>
        <p:spPr>
          <a:xfrm>
            <a:off x="914400" y="457200"/>
            <a:ext cx="7315200" cy="1280160"/>
          </a:xfrm>
          <a:prstGeom prst="rect">
            <a:avLst/>
          </a:prstGeom>
          <a:noFill/>
        </p:spPr>
        <p:txBody>
          <a:bodyPr wrap="square" lIns="0" tIns="0" rIns="0" bIns="0" rtlCol="0" anchor="ctr"/>
          <a:lstStyle/>
          <a:p>
            <a:pPr marL="0" indent="0" algn="ctr">
              <a:buNone/>
            </a:pPr>
            <a:r>
              <a:rPr lang="en-US" sz="10000" b="1" dirty="0">
                <a:solidFill>
                  <a:srgbClr val="C0392B">
                    <a:alpha val="82000"/>
                  </a:srgbClr>
                </a:solidFill>
                <a:latin typeface="Georgia" panose="02040502050405020303" pitchFamily="34" charset="0"/>
                <a:ea typeface="Georgia" panose="02040502050405020303" pitchFamily="34" charset="0"/>
                <a:cs typeface="Georgia" panose="02040502050405020303" pitchFamily="34" charset="0"/>
              </a:rPr>
              <a:t>03</a:t>
            </a:r>
            <a:endParaRPr lang="en-US" sz="10000" dirty="0"/>
          </a:p>
        </p:txBody>
      </p:sp>
      <p:sp>
        <p:nvSpPr>
          <p:cNvPr id="5" name="Text 3"/>
          <p:cNvSpPr/>
          <p:nvPr/>
        </p:nvSpPr>
        <p:spPr>
          <a:xfrm>
            <a:off x="914400" y="1828800"/>
            <a:ext cx="7315200" cy="1325880"/>
          </a:xfrm>
          <a:prstGeom prst="rect">
            <a:avLst/>
          </a:prstGeom>
          <a:noFill/>
        </p:spPr>
        <p:txBody>
          <a:bodyPr wrap="square" lIns="0" tIns="0" rIns="0" bIns="0" rtlCol="0" anchor="ctr"/>
          <a:lstStyle/>
          <a:p>
            <a:pPr marL="0" indent="0" algn="ctr">
              <a:buNone/>
            </a:pPr>
            <a:r>
              <a:rPr lang="en-US" sz="3600" b="1" dirty="0">
                <a:solidFill>
                  <a:srgbClr val="FFFFFF"/>
                </a:solidFill>
                <a:latin typeface="Georgia" panose="02040502050405020303" pitchFamily="34" charset="0"/>
                <a:ea typeface="Georgia" panose="02040502050405020303" pitchFamily="34" charset="0"/>
                <a:cs typeface="Georgia" panose="02040502050405020303" pitchFamily="34" charset="0"/>
              </a:rPr>
              <a:t>Cross-Cultural</a:t>
            </a:r>
            <a:endParaRPr lang="en-US" sz="3600" dirty="0"/>
          </a:p>
          <a:p>
            <a:pPr marL="0" indent="0" algn="ctr">
              <a:buNone/>
            </a:pPr>
            <a:r>
              <a:rPr lang="en-US" sz="3600" b="1" dirty="0">
                <a:solidFill>
                  <a:srgbClr val="FFFFFF"/>
                </a:solidFill>
                <a:latin typeface="Georgia" panose="02040502050405020303" pitchFamily="34" charset="0"/>
                <a:ea typeface="Georgia" panose="02040502050405020303" pitchFamily="34" charset="0"/>
                <a:cs typeface="Georgia" panose="02040502050405020303" pitchFamily="34" charset="0"/>
              </a:rPr>
              <a:t>Comparisons</a:t>
            </a:r>
            <a:endParaRPr lang="en-US" sz="3600" dirty="0"/>
          </a:p>
        </p:txBody>
      </p:sp>
      <p:sp>
        <p:nvSpPr>
          <p:cNvPr id="6" name="Shape 4"/>
          <p:cNvSpPr/>
          <p:nvPr/>
        </p:nvSpPr>
        <p:spPr>
          <a:xfrm>
            <a:off x="2743200" y="3246120"/>
            <a:ext cx="3657600" cy="0"/>
          </a:xfrm>
          <a:prstGeom prst="line">
            <a:avLst/>
          </a:prstGeom>
          <a:noFill/>
          <a:ln w="19050">
            <a:solidFill>
              <a:srgbClr val="C9A84C"/>
            </a:solidFill>
            <a:prstDash val="solid"/>
          </a:ln>
        </p:spPr>
        <p:txBody>
          <a:bodyPr/>
          <a:lstStyle/>
          <a:p>
            <a:endParaRPr lang="zh-CN" altLang="en-US"/>
          </a:p>
        </p:txBody>
      </p:sp>
      <p:sp>
        <p:nvSpPr>
          <p:cNvPr id="7" name="Text 5"/>
          <p:cNvSpPr/>
          <p:nvPr/>
        </p:nvSpPr>
        <p:spPr>
          <a:xfrm>
            <a:off x="914400" y="3364992"/>
            <a:ext cx="7315200" cy="384048"/>
          </a:xfrm>
          <a:prstGeom prst="rect">
            <a:avLst/>
          </a:prstGeom>
          <a:noFill/>
        </p:spPr>
        <p:txBody>
          <a:bodyPr wrap="square" lIns="0" tIns="0" rIns="0" bIns="0" rtlCol="0" anchor="ctr"/>
          <a:lstStyle/>
          <a:p>
            <a:pPr marL="0" indent="0" algn="ctr">
              <a:buNone/>
            </a:pPr>
            <a:r>
              <a:rPr lang="en-US" sz="1500" i="1" dirty="0">
                <a:solidFill>
                  <a:srgbClr val="C9A84C"/>
                </a:solidFill>
                <a:latin typeface="Calibri" panose="020F0502020204030204" pitchFamily="34" charset="0"/>
                <a:ea typeface="Calibri" panose="020F0502020204030204" pitchFamily="34" charset="0"/>
                <a:cs typeface="Calibri" panose="020F0502020204030204" pitchFamily="34" charset="0"/>
              </a:rPr>
              <a:t>Speaker 3</a:t>
            </a:r>
            <a:endParaRPr lang="en-US" sz="1500" dirty="0"/>
          </a:p>
        </p:txBody>
      </p:sp>
      <p:sp>
        <p:nvSpPr>
          <p:cNvPr id="8" name="Shape 6"/>
          <p:cNvSpPr/>
          <p:nvPr/>
        </p:nvSpPr>
        <p:spPr>
          <a:xfrm>
            <a:off x="0" y="4846320"/>
            <a:ext cx="9144000" cy="292608"/>
          </a:xfrm>
          <a:prstGeom prst="rect">
            <a:avLst/>
          </a:prstGeom>
          <a:solidFill>
            <a:srgbClr val="C0392B">
              <a:alpha val="60000"/>
            </a:srgbClr>
          </a:solidFill>
          <a:ln w="12700">
            <a:solidFill>
              <a:srgbClr val="C0392B"/>
            </a:solidFill>
            <a:prstDash val="solid"/>
          </a:ln>
        </p:spPr>
        <p:txBody>
          <a:bodyPr/>
          <a:lstStyle/>
          <a:p>
            <a:endParaRPr lang="zh-CN" altLang="en-US"/>
          </a:p>
        </p:txBody>
      </p:sp>
      <p:sp>
        <p:nvSpPr>
          <p:cNvPr id="9" name="Text 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13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3</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Every Civilization Has Its Own Rén</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Text 5"/>
          <p:cNvSpPr/>
          <p:nvPr/>
        </p:nvSpPr>
        <p:spPr>
          <a:xfrm>
            <a:off x="457200" y="932688"/>
            <a:ext cx="8229600" cy="347472"/>
          </a:xfrm>
          <a:prstGeom prst="rect">
            <a:avLst/>
          </a:prstGeom>
          <a:noFill/>
        </p:spPr>
        <p:txBody>
          <a:bodyPr wrap="square" lIns="0" tIns="0" rIns="0" bIns="0" rtlCol="0" anchor="ctr"/>
          <a:lstStyle/>
          <a:p>
            <a:pPr marL="0" indent="0">
              <a:buNone/>
            </a:pPr>
            <a:r>
              <a:rPr lang="en-US" sz="1300" i="1" dirty="0">
                <a:solidFill>
                  <a:srgbClr val="7F8C8D"/>
                </a:solidFill>
                <a:latin typeface="Calibri" panose="020F0502020204030204" pitchFamily="34" charset="0"/>
                <a:ea typeface="Calibri" panose="020F0502020204030204" pitchFamily="34" charset="0"/>
                <a:cs typeface="Calibri" panose="020F0502020204030204" pitchFamily="34" charset="0"/>
              </a:rPr>
              <a:t>Different names, different traditions — but the same core message: care for others.</a:t>
            </a:r>
            <a:endParaRPr lang="en-US" sz="1300" dirty="0"/>
          </a:p>
        </p:txBody>
      </p:sp>
      <p:sp>
        <p:nvSpPr>
          <p:cNvPr id="8" name="Shape 6"/>
          <p:cNvSpPr/>
          <p:nvPr/>
        </p:nvSpPr>
        <p:spPr>
          <a:xfrm>
            <a:off x="365760" y="1417320"/>
            <a:ext cx="4041648" cy="14813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9" name="Shape 7"/>
          <p:cNvSpPr/>
          <p:nvPr/>
        </p:nvSpPr>
        <p:spPr>
          <a:xfrm>
            <a:off x="365760" y="1417320"/>
            <a:ext cx="4041648" cy="329184"/>
          </a:xfrm>
          <a:prstGeom prst="rect">
            <a:avLst/>
          </a:prstGeom>
          <a:solidFill>
            <a:srgbClr val="C0392B"/>
          </a:solidFill>
          <a:ln w="12700">
            <a:solidFill>
              <a:srgbClr val="C0392B"/>
            </a:solidFill>
            <a:prstDash val="solid"/>
          </a:ln>
        </p:spPr>
        <p:txBody>
          <a:bodyPr/>
          <a:lstStyle/>
          <a:p>
            <a:endParaRPr lang="zh-CN" altLang="en-US"/>
          </a:p>
        </p:txBody>
      </p:sp>
      <p:sp>
        <p:nvSpPr>
          <p:cNvPr id="10" name="Text 8"/>
          <p:cNvSpPr/>
          <p:nvPr/>
        </p:nvSpPr>
        <p:spPr>
          <a:xfrm>
            <a:off x="457200" y="1444752"/>
            <a:ext cx="3858768"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  Ancient Greece</a:t>
            </a:r>
            <a:endParaRPr lang="en-US" sz="1200" dirty="0"/>
          </a:p>
        </p:txBody>
      </p:sp>
      <p:sp>
        <p:nvSpPr>
          <p:cNvPr id="11" name="Text 9"/>
          <p:cNvSpPr/>
          <p:nvPr/>
        </p:nvSpPr>
        <p:spPr>
          <a:xfrm>
            <a:off x="457200" y="1837944"/>
            <a:ext cx="3858768" cy="384048"/>
          </a:xfrm>
          <a:prstGeom prst="rect">
            <a:avLst/>
          </a:prstGeom>
          <a:noFill/>
        </p:spPr>
        <p:txBody>
          <a:bodyPr wrap="square" lIns="0" tIns="0" rIns="0" bIns="0" rtlCol="0" anchor="ctr"/>
          <a:lstStyle/>
          <a:p>
            <a:pPr marL="0" indent="0">
              <a:buNone/>
            </a:pPr>
            <a:r>
              <a:rPr lang="en-US" sz="1800" b="1" dirty="0">
                <a:solidFill>
                  <a:srgbClr val="C0392B"/>
                </a:solidFill>
                <a:latin typeface="Georgia" panose="02040502050405020303" pitchFamily="34" charset="0"/>
                <a:ea typeface="Georgia" panose="02040502050405020303" pitchFamily="34" charset="0"/>
                <a:cs typeface="Georgia" panose="02040502050405020303" pitchFamily="34" charset="0"/>
              </a:rPr>
              <a:t>Philia (φιλία)</a:t>
            </a:r>
            <a:endParaRPr lang="en-US" sz="1800" dirty="0"/>
          </a:p>
        </p:txBody>
      </p:sp>
      <p:sp>
        <p:nvSpPr>
          <p:cNvPr id="12" name="Text 10"/>
          <p:cNvSpPr/>
          <p:nvPr/>
        </p:nvSpPr>
        <p:spPr>
          <a:xfrm>
            <a:off x="457200" y="2313432"/>
            <a:ext cx="3858768" cy="475488"/>
          </a:xfrm>
          <a:prstGeom prst="rect">
            <a:avLst/>
          </a:prstGeom>
          <a:noFill/>
        </p:spPr>
        <p:txBody>
          <a:bodyPr wrap="square" lIns="0" tIns="0" rIns="0" bIns="0" rtlCol="0" anchor="ctr"/>
          <a:lstStyle/>
          <a:p>
            <a:pPr marL="0" indent="0">
              <a:buNone/>
            </a:pPr>
            <a:r>
              <a:rPr lang="en-US" sz="1100" i="1" dirty="0">
                <a:solidFill>
                  <a:srgbClr val="7F8C8D"/>
                </a:solidFill>
                <a:latin typeface="Calibri" panose="020F0502020204030204" pitchFamily="34" charset="0"/>
                <a:ea typeface="Calibri" panose="020F0502020204030204" pitchFamily="34" charset="0"/>
                <a:cs typeface="Calibri" panose="020F0502020204030204" pitchFamily="34" charset="0"/>
              </a:rPr>
              <a:t>→ Compassion as a moral duty</a:t>
            </a:r>
            <a:endParaRPr lang="en-US" sz="1100" dirty="0"/>
          </a:p>
        </p:txBody>
      </p:sp>
      <p:sp>
        <p:nvSpPr>
          <p:cNvPr id="13" name="Shape 11"/>
          <p:cNvSpPr/>
          <p:nvPr/>
        </p:nvSpPr>
        <p:spPr>
          <a:xfrm>
            <a:off x="4773168" y="1417320"/>
            <a:ext cx="4041648" cy="14813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4" name="Shape 12"/>
          <p:cNvSpPr/>
          <p:nvPr/>
        </p:nvSpPr>
        <p:spPr>
          <a:xfrm>
            <a:off x="4773168" y="1417320"/>
            <a:ext cx="4041648" cy="329184"/>
          </a:xfrm>
          <a:prstGeom prst="rect">
            <a:avLst/>
          </a:prstGeom>
          <a:solidFill>
            <a:srgbClr val="C0392B"/>
          </a:solidFill>
          <a:ln w="12700">
            <a:solidFill>
              <a:srgbClr val="C0392B"/>
            </a:solidFill>
            <a:prstDash val="solid"/>
          </a:ln>
        </p:spPr>
        <p:txBody>
          <a:bodyPr/>
          <a:lstStyle/>
          <a:p>
            <a:endParaRPr lang="zh-CN" altLang="en-US"/>
          </a:p>
        </p:txBody>
      </p:sp>
      <p:sp>
        <p:nvSpPr>
          <p:cNvPr id="15" name="Text 13"/>
          <p:cNvSpPr/>
          <p:nvPr/>
        </p:nvSpPr>
        <p:spPr>
          <a:xfrm>
            <a:off x="4864608" y="1444752"/>
            <a:ext cx="3858768"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  Christianity</a:t>
            </a:r>
            <a:endParaRPr lang="en-US" sz="1200" dirty="0"/>
          </a:p>
        </p:txBody>
      </p:sp>
      <p:sp>
        <p:nvSpPr>
          <p:cNvPr id="16" name="Text 14"/>
          <p:cNvSpPr/>
          <p:nvPr/>
        </p:nvSpPr>
        <p:spPr>
          <a:xfrm>
            <a:off x="4864608" y="1837944"/>
            <a:ext cx="3858768" cy="384048"/>
          </a:xfrm>
          <a:prstGeom prst="rect">
            <a:avLst/>
          </a:prstGeom>
          <a:noFill/>
        </p:spPr>
        <p:txBody>
          <a:bodyPr wrap="square" lIns="0" tIns="0" rIns="0" bIns="0" rtlCol="0" anchor="ctr"/>
          <a:lstStyle/>
          <a:p>
            <a:pPr marL="0" indent="0">
              <a:buNone/>
            </a:pPr>
            <a:r>
              <a:rPr lang="en-US" sz="1800" b="1" dirty="0">
                <a:solidFill>
                  <a:srgbClr val="C0392B"/>
                </a:solidFill>
                <a:latin typeface="Georgia" panose="02040502050405020303" pitchFamily="34" charset="0"/>
                <a:ea typeface="Georgia" panose="02040502050405020303" pitchFamily="34" charset="0"/>
                <a:cs typeface="Georgia" panose="02040502050405020303" pitchFamily="34" charset="0"/>
              </a:rPr>
              <a:t>Agape (ἀγάπη)</a:t>
            </a:r>
            <a:endParaRPr lang="en-US" sz="1800" dirty="0"/>
          </a:p>
        </p:txBody>
      </p:sp>
      <p:sp>
        <p:nvSpPr>
          <p:cNvPr id="17" name="Text 15"/>
          <p:cNvSpPr/>
          <p:nvPr/>
        </p:nvSpPr>
        <p:spPr>
          <a:xfrm>
            <a:off x="4864608" y="2313432"/>
            <a:ext cx="3858768" cy="475488"/>
          </a:xfrm>
          <a:prstGeom prst="rect">
            <a:avLst/>
          </a:prstGeom>
          <a:noFill/>
        </p:spPr>
        <p:txBody>
          <a:bodyPr wrap="square" lIns="0" tIns="0" rIns="0" bIns="0" rtlCol="0" anchor="ctr"/>
          <a:lstStyle/>
          <a:p>
            <a:pPr marL="0" indent="0">
              <a:buNone/>
            </a:pPr>
            <a:r>
              <a:rPr lang="en-US" sz="1100" i="1" dirty="0">
                <a:solidFill>
                  <a:srgbClr val="7F8C8D"/>
                </a:solidFill>
                <a:latin typeface="Calibri" panose="020F0502020204030204" pitchFamily="34" charset="0"/>
                <a:ea typeface="Calibri" panose="020F0502020204030204" pitchFamily="34" charset="0"/>
                <a:cs typeface="Calibri" panose="020F0502020204030204" pitchFamily="34" charset="0"/>
              </a:rPr>
              <a:t>→ Compassion as a moral duty</a:t>
            </a:r>
            <a:endParaRPr lang="en-US" sz="1100" dirty="0"/>
          </a:p>
        </p:txBody>
      </p:sp>
      <p:sp>
        <p:nvSpPr>
          <p:cNvPr id="18" name="Shape 16"/>
          <p:cNvSpPr/>
          <p:nvPr/>
        </p:nvSpPr>
        <p:spPr>
          <a:xfrm>
            <a:off x="365760" y="3108960"/>
            <a:ext cx="4041648" cy="14813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9" name="Shape 17"/>
          <p:cNvSpPr/>
          <p:nvPr/>
        </p:nvSpPr>
        <p:spPr>
          <a:xfrm>
            <a:off x="365760" y="3108960"/>
            <a:ext cx="4041648" cy="329184"/>
          </a:xfrm>
          <a:prstGeom prst="rect">
            <a:avLst/>
          </a:prstGeom>
          <a:solidFill>
            <a:srgbClr val="C0392B"/>
          </a:solidFill>
          <a:ln w="12700">
            <a:solidFill>
              <a:srgbClr val="C0392B"/>
            </a:solidFill>
            <a:prstDash val="solid"/>
          </a:ln>
        </p:spPr>
        <p:txBody>
          <a:bodyPr/>
          <a:lstStyle/>
          <a:p>
            <a:endParaRPr lang="zh-CN" altLang="en-US"/>
          </a:p>
        </p:txBody>
      </p:sp>
      <p:sp>
        <p:nvSpPr>
          <p:cNvPr id="20" name="Text 18"/>
          <p:cNvSpPr/>
          <p:nvPr/>
        </p:nvSpPr>
        <p:spPr>
          <a:xfrm>
            <a:off x="457200" y="3136392"/>
            <a:ext cx="3858768"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  Islam</a:t>
            </a:r>
            <a:endParaRPr lang="en-US" sz="1200" dirty="0"/>
          </a:p>
        </p:txBody>
      </p:sp>
      <p:sp>
        <p:nvSpPr>
          <p:cNvPr id="21" name="Text 19"/>
          <p:cNvSpPr/>
          <p:nvPr/>
        </p:nvSpPr>
        <p:spPr>
          <a:xfrm>
            <a:off x="457200" y="3529584"/>
            <a:ext cx="3858768" cy="384048"/>
          </a:xfrm>
          <a:prstGeom prst="rect">
            <a:avLst/>
          </a:prstGeom>
          <a:noFill/>
        </p:spPr>
        <p:txBody>
          <a:bodyPr wrap="square" lIns="0" tIns="0" rIns="0" bIns="0" rtlCol="0" anchor="ctr"/>
          <a:lstStyle/>
          <a:p>
            <a:pPr marL="0" indent="0">
              <a:buNone/>
            </a:pPr>
            <a:r>
              <a:rPr lang="en-US" sz="1800" b="1" dirty="0">
                <a:solidFill>
                  <a:srgbClr val="C0392B"/>
                </a:solidFill>
                <a:latin typeface="Georgia" panose="02040502050405020303" pitchFamily="34" charset="0"/>
                <a:ea typeface="Georgia" panose="02040502050405020303" pitchFamily="34" charset="0"/>
                <a:cs typeface="Georgia" panose="02040502050405020303" pitchFamily="34" charset="0"/>
              </a:rPr>
              <a:t>Rahmah (رحمة)</a:t>
            </a:r>
            <a:endParaRPr lang="en-US" sz="1800" dirty="0"/>
          </a:p>
        </p:txBody>
      </p:sp>
      <p:sp>
        <p:nvSpPr>
          <p:cNvPr id="22" name="Text 20"/>
          <p:cNvSpPr/>
          <p:nvPr/>
        </p:nvSpPr>
        <p:spPr>
          <a:xfrm>
            <a:off x="457200" y="4005072"/>
            <a:ext cx="3858768" cy="475488"/>
          </a:xfrm>
          <a:prstGeom prst="rect">
            <a:avLst/>
          </a:prstGeom>
          <a:noFill/>
        </p:spPr>
        <p:txBody>
          <a:bodyPr wrap="square" lIns="0" tIns="0" rIns="0" bIns="0" rtlCol="0" anchor="ctr"/>
          <a:lstStyle/>
          <a:p>
            <a:pPr marL="0" indent="0">
              <a:buNone/>
            </a:pPr>
            <a:r>
              <a:rPr lang="en-US" sz="1100" i="1" dirty="0">
                <a:solidFill>
                  <a:srgbClr val="7F8C8D"/>
                </a:solidFill>
                <a:latin typeface="Calibri" panose="020F0502020204030204" pitchFamily="34" charset="0"/>
                <a:ea typeface="Calibri" panose="020F0502020204030204" pitchFamily="34" charset="0"/>
                <a:cs typeface="Calibri" panose="020F0502020204030204" pitchFamily="34" charset="0"/>
              </a:rPr>
              <a:t>→ Compassion as a moral duty</a:t>
            </a:r>
            <a:endParaRPr lang="en-US" sz="1100" dirty="0"/>
          </a:p>
        </p:txBody>
      </p:sp>
      <p:sp>
        <p:nvSpPr>
          <p:cNvPr id="23" name="Shape 21"/>
          <p:cNvSpPr/>
          <p:nvPr/>
        </p:nvSpPr>
        <p:spPr>
          <a:xfrm>
            <a:off x="4773168" y="3108960"/>
            <a:ext cx="4041648" cy="148132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24" name="Shape 22"/>
          <p:cNvSpPr/>
          <p:nvPr/>
        </p:nvSpPr>
        <p:spPr>
          <a:xfrm>
            <a:off x="4773168" y="3108960"/>
            <a:ext cx="4041648" cy="329184"/>
          </a:xfrm>
          <a:prstGeom prst="rect">
            <a:avLst/>
          </a:prstGeom>
          <a:solidFill>
            <a:srgbClr val="C0392B"/>
          </a:solidFill>
          <a:ln w="12700">
            <a:solidFill>
              <a:srgbClr val="C0392B"/>
            </a:solidFill>
            <a:prstDash val="solid"/>
          </a:ln>
        </p:spPr>
        <p:txBody>
          <a:bodyPr/>
          <a:lstStyle/>
          <a:p>
            <a:endParaRPr lang="zh-CN" altLang="en-US"/>
          </a:p>
        </p:txBody>
      </p:sp>
      <p:sp>
        <p:nvSpPr>
          <p:cNvPr id="25" name="Text 23"/>
          <p:cNvSpPr/>
          <p:nvPr/>
        </p:nvSpPr>
        <p:spPr>
          <a:xfrm>
            <a:off x="4864608" y="3136392"/>
            <a:ext cx="3858768"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  Buddhism</a:t>
            </a:r>
            <a:endParaRPr lang="en-US" sz="1200" dirty="0"/>
          </a:p>
        </p:txBody>
      </p:sp>
      <p:sp>
        <p:nvSpPr>
          <p:cNvPr id="26" name="Text 24"/>
          <p:cNvSpPr/>
          <p:nvPr/>
        </p:nvSpPr>
        <p:spPr>
          <a:xfrm>
            <a:off x="4864608" y="3529584"/>
            <a:ext cx="3858768" cy="384048"/>
          </a:xfrm>
          <a:prstGeom prst="rect">
            <a:avLst/>
          </a:prstGeom>
          <a:noFill/>
        </p:spPr>
        <p:txBody>
          <a:bodyPr wrap="square" lIns="0" tIns="0" rIns="0" bIns="0" rtlCol="0" anchor="ctr"/>
          <a:lstStyle/>
          <a:p>
            <a:pPr marL="0" indent="0">
              <a:buNone/>
            </a:pPr>
            <a:r>
              <a:rPr lang="en-US" sz="1800" b="1" dirty="0">
                <a:solidFill>
                  <a:srgbClr val="C0392B"/>
                </a:solidFill>
                <a:latin typeface="Georgia" panose="02040502050405020303" pitchFamily="34" charset="0"/>
                <a:ea typeface="Georgia" panose="02040502050405020303" pitchFamily="34" charset="0"/>
                <a:cs typeface="Georgia" panose="02040502050405020303" pitchFamily="34" charset="0"/>
              </a:rPr>
              <a:t>Karuṇā (करुणा)</a:t>
            </a:r>
            <a:endParaRPr lang="en-US" sz="1800" dirty="0"/>
          </a:p>
        </p:txBody>
      </p:sp>
      <p:sp>
        <p:nvSpPr>
          <p:cNvPr id="27" name="Text 25"/>
          <p:cNvSpPr/>
          <p:nvPr/>
        </p:nvSpPr>
        <p:spPr>
          <a:xfrm>
            <a:off x="4864608" y="4005072"/>
            <a:ext cx="3858768" cy="475488"/>
          </a:xfrm>
          <a:prstGeom prst="rect">
            <a:avLst/>
          </a:prstGeom>
          <a:noFill/>
        </p:spPr>
        <p:txBody>
          <a:bodyPr wrap="square" lIns="0" tIns="0" rIns="0" bIns="0" rtlCol="0" anchor="ctr"/>
          <a:lstStyle/>
          <a:p>
            <a:pPr marL="0" indent="0">
              <a:buNone/>
            </a:pPr>
            <a:r>
              <a:rPr lang="en-US" sz="1100" i="1" dirty="0">
                <a:solidFill>
                  <a:srgbClr val="7F8C8D"/>
                </a:solidFill>
                <a:latin typeface="Calibri" panose="020F0502020204030204" pitchFamily="34" charset="0"/>
                <a:ea typeface="Calibri" panose="020F0502020204030204" pitchFamily="34" charset="0"/>
                <a:cs typeface="Calibri" panose="020F0502020204030204" pitchFamily="34" charset="0"/>
              </a:rPr>
              <a:t>→ Compassion as a moral duty</a:t>
            </a:r>
            <a:endParaRPr lang="en-US" sz="1100" dirty="0"/>
          </a:p>
        </p:txBody>
      </p:sp>
      <p:sp>
        <p:nvSpPr>
          <p:cNvPr id="28" name="Shape 26"/>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9" name="Text 2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14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比</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3</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Comparisons</a:t>
            </a:r>
            <a:endParaRPr lang="en-US" sz="1000" dirty="0"/>
          </a:p>
        </p:txBody>
      </p:sp>
      <p:sp>
        <p:nvSpPr>
          <p:cNvPr id="9" name="Text 7"/>
          <p:cNvSpPr/>
          <p:nvPr/>
        </p:nvSpPr>
        <p:spPr>
          <a:xfrm>
            <a:off x="2971800" y="137160"/>
            <a:ext cx="5897880" cy="594360"/>
          </a:xfrm>
          <a:prstGeom prst="rect">
            <a:avLst/>
          </a:prstGeom>
          <a:noFill/>
        </p:spPr>
        <p:txBody>
          <a:bodyPr wrap="square" lIns="0" tIns="0" rIns="0" bIns="0" rtlCol="0" anchor="ctr"/>
          <a:lstStyle/>
          <a:p>
            <a:pPr marL="0" indent="0">
              <a:buNone/>
            </a:pPr>
            <a:r>
              <a:rPr lang="en-US" sz="2600" b="1" dirty="0">
                <a:solidFill>
                  <a:srgbClr val="922B21"/>
                </a:solidFill>
                <a:latin typeface="Georgia" panose="02040502050405020303" pitchFamily="34" charset="0"/>
                <a:ea typeface="Georgia" panose="02040502050405020303" pitchFamily="34" charset="0"/>
                <a:cs typeface="Georgia" panose="02040502050405020303" pitchFamily="34" charset="0"/>
              </a:rPr>
              <a:t>Greece &amp; Christianity</a:t>
            </a:r>
            <a:endParaRPr lang="en-US" sz="26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Shape 9"/>
          <p:cNvSpPr/>
          <p:nvPr/>
        </p:nvSpPr>
        <p:spPr>
          <a:xfrm>
            <a:off x="2971800" y="960120"/>
            <a:ext cx="5897880" cy="1755648"/>
          </a:xfrm>
          <a:prstGeom prst="rect">
            <a:avLst/>
          </a:prstGeom>
          <a:solidFill>
            <a:srgbClr val="FADBD8"/>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2" name="Text 10"/>
          <p:cNvSpPr/>
          <p:nvPr/>
        </p:nvSpPr>
        <p:spPr>
          <a:xfrm>
            <a:off x="3108960" y="1005840"/>
            <a:ext cx="5669280" cy="365760"/>
          </a:xfrm>
          <a:prstGeom prst="rect">
            <a:avLst/>
          </a:prstGeom>
          <a:noFill/>
        </p:spPr>
        <p:txBody>
          <a:bodyPr wrap="square" lIns="0" tIns="0" rIns="0" bIns="0" rtlCol="0" anchor="ctr"/>
          <a:lstStyle/>
          <a:p>
            <a:pPr marL="0" indent="0">
              <a:buNone/>
            </a:pPr>
            <a:r>
              <a:rPr lang="en-US" sz="1500" b="1" dirty="0">
                <a:solidFill>
                  <a:srgbClr val="922B21"/>
                </a:solidFill>
                <a:latin typeface="Georgia" panose="02040502050405020303" pitchFamily="34" charset="0"/>
                <a:ea typeface="Georgia" panose="02040502050405020303" pitchFamily="34" charset="0"/>
                <a:cs typeface="Georgia" panose="02040502050405020303" pitchFamily="34" charset="0"/>
              </a:rPr>
              <a:t>🏛  Ancient Greece — Philia (φιλία)</a:t>
            </a:r>
            <a:endParaRPr lang="en-US" sz="1500" dirty="0"/>
          </a:p>
        </p:txBody>
      </p:sp>
      <p:sp>
        <p:nvSpPr>
          <p:cNvPr id="13" name="Text 11"/>
          <p:cNvSpPr/>
          <p:nvPr/>
        </p:nvSpPr>
        <p:spPr>
          <a:xfrm>
            <a:off x="3108960" y="1389888"/>
            <a:ext cx="5669280" cy="804672"/>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Aristotle wrote that true philia means genuinely wishing good things for another person — not because it benefits you, but because you care. Real love is outward-looking.</a:t>
            </a:r>
            <a:endParaRPr lang="en-US" sz="1200" dirty="0"/>
          </a:p>
        </p:txBody>
      </p:sp>
      <p:sp>
        <p:nvSpPr>
          <p:cNvPr id="14" name="Text 12"/>
          <p:cNvSpPr/>
          <p:nvPr/>
        </p:nvSpPr>
        <p:spPr>
          <a:xfrm>
            <a:off x="3108960" y="2212848"/>
            <a:ext cx="5669280" cy="320040"/>
          </a:xfrm>
          <a:prstGeom prst="rect">
            <a:avLst/>
          </a:prstGeom>
          <a:noFill/>
        </p:spPr>
        <p:txBody>
          <a:bodyPr wrap="square" lIns="0" tIns="0" rIns="0" bIns="0" rtlCol="0" anchor="ctr"/>
          <a:lstStyle/>
          <a:p>
            <a:pPr marL="0" indent="0">
              <a:buNone/>
            </a:pPr>
            <a:r>
              <a:rPr lang="en-US" sz="1100" i="1" dirty="0">
                <a:solidFill>
                  <a:srgbClr val="C0392B"/>
                </a:solidFill>
                <a:latin typeface="Calibri" panose="020F0502020204030204" pitchFamily="34" charset="0"/>
                <a:ea typeface="Calibri" panose="020F0502020204030204" pitchFamily="34" charset="0"/>
                <a:cs typeface="Calibri" panose="020F0502020204030204" pitchFamily="34" charset="0"/>
              </a:rPr>
              <a:t>↔  Like Rén: virtue shown through how you treat other people.</a:t>
            </a:r>
            <a:endParaRPr lang="en-US" sz="1100" dirty="0"/>
          </a:p>
        </p:txBody>
      </p:sp>
      <p:sp>
        <p:nvSpPr>
          <p:cNvPr id="15" name="Shape 13"/>
          <p:cNvSpPr/>
          <p:nvPr/>
        </p:nvSpPr>
        <p:spPr>
          <a:xfrm>
            <a:off x="2971800" y="2816352"/>
            <a:ext cx="5897880" cy="1755648"/>
          </a:xfrm>
          <a:prstGeom prst="rect">
            <a:avLst/>
          </a:prstGeom>
          <a:solidFill>
            <a:srgbClr val="FDF0E0"/>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6" name="Text 14"/>
          <p:cNvSpPr/>
          <p:nvPr/>
        </p:nvSpPr>
        <p:spPr>
          <a:xfrm>
            <a:off x="3108960" y="2862072"/>
            <a:ext cx="5669280" cy="365760"/>
          </a:xfrm>
          <a:prstGeom prst="rect">
            <a:avLst/>
          </a:prstGeom>
          <a:noFill/>
        </p:spPr>
        <p:txBody>
          <a:bodyPr wrap="square" lIns="0" tIns="0" rIns="0" bIns="0" rtlCol="0" anchor="ctr"/>
          <a:lstStyle/>
          <a:p>
            <a:pPr marL="0" indent="0">
              <a:buNone/>
            </a:pPr>
            <a:r>
              <a:rPr lang="en-US" sz="1500" b="1" dirty="0">
                <a:solidFill>
                  <a:srgbClr val="922B21"/>
                </a:solidFill>
                <a:latin typeface="Georgia" panose="02040502050405020303" pitchFamily="34" charset="0"/>
                <a:ea typeface="Georgia" panose="02040502050405020303" pitchFamily="34" charset="0"/>
                <a:cs typeface="Georgia" panose="02040502050405020303" pitchFamily="34" charset="0"/>
              </a:rPr>
              <a:t>✝  Christianity — Agape (ἀγάπη)</a:t>
            </a:r>
            <a:endParaRPr lang="en-US" sz="1500" dirty="0"/>
          </a:p>
        </p:txBody>
      </p:sp>
      <p:sp>
        <p:nvSpPr>
          <p:cNvPr id="17" name="Text 15"/>
          <p:cNvSpPr/>
          <p:nvPr/>
        </p:nvSpPr>
        <p:spPr>
          <a:xfrm>
            <a:off x="3108960" y="3246120"/>
            <a:ext cx="5669280" cy="804672"/>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Agape is unconditional love — not just for family and friends, but for strangers and even enemies. Jesus taught: 'Love your neighbor as yourself.' Love must go beyond the people we already know.</a:t>
            </a:r>
            <a:endParaRPr lang="en-US" sz="1200" dirty="0"/>
          </a:p>
        </p:txBody>
      </p:sp>
      <p:sp>
        <p:nvSpPr>
          <p:cNvPr id="18" name="Text 16"/>
          <p:cNvSpPr/>
          <p:nvPr/>
        </p:nvSpPr>
        <p:spPr>
          <a:xfrm>
            <a:off x="3108960" y="4069080"/>
            <a:ext cx="5669280" cy="320040"/>
          </a:xfrm>
          <a:prstGeom prst="rect">
            <a:avLst/>
          </a:prstGeom>
          <a:noFill/>
        </p:spPr>
        <p:txBody>
          <a:bodyPr wrap="square" lIns="0" tIns="0" rIns="0" bIns="0" rtlCol="0" anchor="ctr"/>
          <a:lstStyle/>
          <a:p>
            <a:pPr marL="0" indent="0">
              <a:buNone/>
            </a:pPr>
            <a:r>
              <a:rPr lang="en-US" sz="1100" i="1" dirty="0">
                <a:solidFill>
                  <a:srgbClr val="C0392B"/>
                </a:solidFill>
                <a:latin typeface="Calibri" panose="020F0502020204030204" pitchFamily="34" charset="0"/>
                <a:ea typeface="Calibri" panose="020F0502020204030204" pitchFamily="34" charset="0"/>
                <a:cs typeface="Calibri" panose="020F0502020204030204" pitchFamily="34" charset="0"/>
              </a:rPr>
              <a:t>↔  Like Confucius: 'Love others' and 'Do not do to others what you don't want done to yourself.'</a:t>
            </a:r>
            <a:endParaRPr lang="en-US" sz="1100" dirty="0"/>
          </a:p>
        </p:txBody>
      </p:sp>
      <p:sp>
        <p:nvSpPr>
          <p:cNvPr id="19" name="Shape 17"/>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0" name="Text 18"/>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15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3</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Islam &amp; Buddhism</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Shape 5"/>
          <p:cNvSpPr/>
          <p:nvPr/>
        </p:nvSpPr>
        <p:spPr>
          <a:xfrm>
            <a:off x="365760" y="987552"/>
            <a:ext cx="8412480" cy="171907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8" name="Shape 6"/>
          <p:cNvSpPr/>
          <p:nvPr/>
        </p:nvSpPr>
        <p:spPr>
          <a:xfrm>
            <a:off x="365760" y="987552"/>
            <a:ext cx="8412480" cy="329184"/>
          </a:xfrm>
          <a:prstGeom prst="rect">
            <a:avLst/>
          </a:prstGeom>
          <a:solidFill>
            <a:srgbClr val="C0392B"/>
          </a:solidFill>
          <a:ln w="12700">
            <a:solidFill>
              <a:srgbClr val="C0392B"/>
            </a:solidFill>
            <a:prstDash val="solid"/>
          </a:ln>
        </p:spPr>
        <p:txBody>
          <a:bodyPr/>
          <a:lstStyle/>
          <a:p>
            <a:endParaRPr lang="zh-CN" altLang="en-US"/>
          </a:p>
        </p:txBody>
      </p:sp>
      <p:sp>
        <p:nvSpPr>
          <p:cNvPr id="9" name="Text 7"/>
          <p:cNvSpPr/>
          <p:nvPr/>
        </p:nvSpPr>
        <p:spPr>
          <a:xfrm>
            <a:off x="548640" y="1014984"/>
            <a:ext cx="8229600" cy="27432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20303" pitchFamily="34" charset="0"/>
                <a:ea typeface="Georgia" panose="02040502050405020303" pitchFamily="34" charset="0"/>
                <a:cs typeface="Georgia" panose="02040502050405020303" pitchFamily="34" charset="0"/>
              </a:rPr>
              <a:t>☪  Islam — Rahmah (رحمة) — Mercy &amp; Compassion</a:t>
            </a:r>
            <a:endParaRPr lang="en-US" sz="1400" dirty="0"/>
          </a:p>
        </p:txBody>
      </p:sp>
      <p:sp>
        <p:nvSpPr>
          <p:cNvPr id="10" name="Text 8"/>
          <p:cNvSpPr/>
          <p:nvPr/>
        </p:nvSpPr>
        <p:spPr>
          <a:xfrm>
            <a:off x="548640" y="1371600"/>
            <a:ext cx="8229600" cy="1143000"/>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Rahmah is one of Allah's most important qualities. Muslims are called to mirror this: show mercy to others. The Prophet Muhammad said: 'Have mercy on those on earth, and the One in heaven will have mercy on you.' Compassion is not a weakness — it is a moral duty.</a:t>
            </a:r>
            <a:endParaRPr lang="en-US" sz="1200" dirty="0"/>
          </a:p>
        </p:txBody>
      </p:sp>
      <p:sp>
        <p:nvSpPr>
          <p:cNvPr id="11" name="Text 9"/>
          <p:cNvSpPr/>
          <p:nvPr/>
        </p:nvSpPr>
        <p:spPr>
          <a:xfrm>
            <a:off x="548640" y="2542032"/>
            <a:ext cx="8229600" cy="274320"/>
          </a:xfrm>
          <a:prstGeom prst="rect">
            <a:avLst/>
          </a:prstGeom>
          <a:noFill/>
        </p:spPr>
        <p:txBody>
          <a:bodyPr wrap="square" lIns="0" tIns="0" rIns="0" bIns="0" rtlCol="0" anchor="ctr"/>
          <a:lstStyle/>
          <a:p>
            <a:pPr marL="0" indent="0">
              <a:buNone/>
            </a:pPr>
            <a:r>
              <a:rPr lang="en-US" sz="1100" i="1" dirty="0">
                <a:solidFill>
                  <a:srgbClr val="C0392B"/>
                </a:solidFill>
                <a:latin typeface="Calibri" panose="020F0502020204030204" pitchFamily="34" charset="0"/>
                <a:ea typeface="Calibri" panose="020F0502020204030204" pitchFamily="34" charset="0"/>
                <a:cs typeface="Calibri" panose="020F0502020204030204" pitchFamily="34" charset="0"/>
              </a:rPr>
              <a:t>↔  Like Rén: care for others is not optional — it is what being human means.</a:t>
            </a:r>
            <a:endParaRPr lang="en-US" sz="1100" dirty="0"/>
          </a:p>
        </p:txBody>
      </p:sp>
      <p:sp>
        <p:nvSpPr>
          <p:cNvPr id="12" name="Shape 10"/>
          <p:cNvSpPr/>
          <p:nvPr/>
        </p:nvSpPr>
        <p:spPr>
          <a:xfrm>
            <a:off x="365760" y="2907792"/>
            <a:ext cx="8412480" cy="1719072"/>
          </a:xfrm>
          <a:prstGeom prst="rect">
            <a:avLst/>
          </a:prstGeom>
          <a:solidFill>
            <a:srgbClr val="FADBD8"/>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Shape 11"/>
          <p:cNvSpPr/>
          <p:nvPr/>
        </p:nvSpPr>
        <p:spPr>
          <a:xfrm>
            <a:off x="365760" y="2907792"/>
            <a:ext cx="8412480" cy="329184"/>
          </a:xfrm>
          <a:prstGeom prst="rect">
            <a:avLst/>
          </a:prstGeom>
          <a:solidFill>
            <a:srgbClr val="922B21"/>
          </a:solidFill>
          <a:ln w="12700">
            <a:solidFill>
              <a:srgbClr val="922B21"/>
            </a:solidFill>
            <a:prstDash val="solid"/>
          </a:ln>
        </p:spPr>
        <p:txBody>
          <a:bodyPr/>
          <a:lstStyle/>
          <a:p>
            <a:endParaRPr lang="zh-CN" altLang="en-US"/>
          </a:p>
        </p:txBody>
      </p:sp>
      <p:sp>
        <p:nvSpPr>
          <p:cNvPr id="14" name="Text 12"/>
          <p:cNvSpPr/>
          <p:nvPr/>
        </p:nvSpPr>
        <p:spPr>
          <a:xfrm>
            <a:off x="548640" y="2935224"/>
            <a:ext cx="8229600" cy="27432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20303" pitchFamily="34" charset="0"/>
                <a:ea typeface="Georgia" panose="02040502050405020303" pitchFamily="34" charset="0"/>
                <a:cs typeface="Georgia" panose="02040502050405020303" pitchFamily="34" charset="0"/>
              </a:rPr>
              <a:t>☸  Buddhism — Karuṇā (करुणा) — Compassion for All Beings</a:t>
            </a:r>
            <a:endParaRPr lang="en-US" sz="1400" dirty="0"/>
          </a:p>
        </p:txBody>
      </p:sp>
      <p:sp>
        <p:nvSpPr>
          <p:cNvPr id="15" name="Text 13"/>
          <p:cNvSpPr/>
          <p:nvPr/>
        </p:nvSpPr>
        <p:spPr>
          <a:xfrm>
            <a:off x="548640" y="3291840"/>
            <a:ext cx="8229600" cy="1051560"/>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Karuṇā means compassion for all suffering beings — not just humans, but animals and all living things. This is close to the Neo-Confucian idea that Rén extends to all of nature. Both traditions say our care should have no boundaries.</a:t>
            </a:r>
            <a:endParaRPr lang="en-US" sz="1200" dirty="0"/>
          </a:p>
        </p:txBody>
      </p:sp>
      <p:sp>
        <p:nvSpPr>
          <p:cNvPr id="16" name="Text 14"/>
          <p:cNvSpPr/>
          <p:nvPr/>
        </p:nvSpPr>
        <p:spPr>
          <a:xfrm>
            <a:off x="548640" y="4370832"/>
            <a:ext cx="8229600" cy="274320"/>
          </a:xfrm>
          <a:prstGeom prst="rect">
            <a:avLst/>
          </a:prstGeom>
          <a:noFill/>
        </p:spPr>
        <p:txBody>
          <a:bodyPr wrap="square" lIns="0" tIns="0" rIns="0" bIns="0" rtlCol="0" anchor="ctr"/>
          <a:lstStyle/>
          <a:p>
            <a:pPr marL="0" indent="0">
              <a:buNone/>
            </a:pPr>
            <a:r>
              <a:rPr lang="en-US" sz="1100" i="1" dirty="0">
                <a:solidFill>
                  <a:srgbClr val="C0392B"/>
                </a:solidFill>
                <a:latin typeface="Calibri" panose="020F0502020204030204" pitchFamily="34" charset="0"/>
                <a:ea typeface="Calibri" panose="020F0502020204030204" pitchFamily="34" charset="0"/>
                <a:cs typeface="Calibri" panose="020F0502020204030204" pitchFamily="34" charset="0"/>
              </a:rPr>
              <a:t>↔  Like 仁民爱物: love people, love all things — no boundaries on care.</a:t>
            </a:r>
            <a:endParaRPr lang="en-US" sz="1100" dirty="0"/>
          </a:p>
        </p:txBody>
      </p:sp>
      <p:sp>
        <p:nvSpPr>
          <p:cNvPr id="17" name="Shape 15"/>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18" name="Text 16"/>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16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同</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3</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What's Unique</a:t>
            </a:r>
            <a:endParaRPr lang="en-US" sz="1000" dirty="0"/>
          </a:p>
        </p:txBody>
      </p:sp>
      <p:sp>
        <p:nvSpPr>
          <p:cNvPr id="9" name="Text 7"/>
          <p:cNvSpPr/>
          <p:nvPr/>
        </p:nvSpPr>
        <p:spPr>
          <a:xfrm>
            <a:off x="2971800" y="137160"/>
            <a:ext cx="5897880" cy="594360"/>
          </a:xfrm>
          <a:prstGeom prst="rect">
            <a:avLst/>
          </a:prstGeom>
          <a:noFill/>
        </p:spPr>
        <p:txBody>
          <a:bodyPr wrap="square" lIns="0" tIns="0" rIns="0" bIns="0" rtlCol="0" anchor="ctr"/>
          <a:lstStyle/>
          <a:p>
            <a:pPr marL="0" indent="0">
              <a:buNone/>
            </a:pPr>
            <a:r>
              <a:rPr lang="en-US" sz="2600" b="1" dirty="0">
                <a:solidFill>
                  <a:srgbClr val="922B21"/>
                </a:solidFill>
                <a:latin typeface="Georgia" panose="02040502050405020303" pitchFamily="34" charset="0"/>
                <a:ea typeface="Georgia" panose="02040502050405020303" pitchFamily="34" charset="0"/>
                <a:cs typeface="Georgia" panose="02040502050405020303" pitchFamily="34" charset="0"/>
              </a:rPr>
              <a:t>What Makes Rén Special?</a:t>
            </a:r>
            <a:endParaRPr lang="en-US" sz="26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Shape 9"/>
          <p:cNvSpPr/>
          <p:nvPr/>
        </p:nvSpPr>
        <p:spPr>
          <a:xfrm>
            <a:off x="2971800" y="960120"/>
            <a:ext cx="5897880" cy="329184"/>
          </a:xfrm>
          <a:prstGeom prst="rect">
            <a:avLst/>
          </a:prstGeom>
          <a:solidFill>
            <a:srgbClr val="C0392B"/>
          </a:solidFill>
          <a:ln w="12700">
            <a:solidFill>
              <a:srgbClr val="C0392B"/>
            </a:solidFill>
            <a:prstDash val="solid"/>
          </a:ln>
        </p:spPr>
        <p:txBody>
          <a:bodyPr/>
          <a:lstStyle/>
          <a:p>
            <a:endParaRPr lang="zh-CN" altLang="en-US"/>
          </a:p>
        </p:txBody>
      </p:sp>
      <p:sp>
        <p:nvSpPr>
          <p:cNvPr id="12" name="Text 10"/>
          <p:cNvSpPr/>
          <p:nvPr/>
        </p:nvSpPr>
        <p:spPr>
          <a:xfrm>
            <a:off x="3108960" y="987552"/>
            <a:ext cx="5715000" cy="256032"/>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  What all traditions share</a:t>
            </a:r>
            <a:endParaRPr lang="en-US" sz="1200" dirty="0"/>
          </a:p>
        </p:txBody>
      </p:sp>
      <p:sp>
        <p:nvSpPr>
          <p:cNvPr id="13" name="Text 11"/>
          <p:cNvSpPr/>
          <p:nvPr/>
        </p:nvSpPr>
        <p:spPr>
          <a:xfrm>
            <a:off x="3108960" y="1371600"/>
            <a:ext cx="5715000" cy="256032"/>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  All say: care for others beyond yourself.</a:t>
            </a:r>
            <a:endParaRPr lang="en-US" sz="1200" dirty="0"/>
          </a:p>
        </p:txBody>
      </p:sp>
      <p:sp>
        <p:nvSpPr>
          <p:cNvPr id="14" name="Text 12"/>
          <p:cNvSpPr/>
          <p:nvPr/>
        </p:nvSpPr>
        <p:spPr>
          <a:xfrm>
            <a:off x="3108960" y="1682496"/>
            <a:ext cx="5715000" cy="256032"/>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  All connect individual virtue to a better society.</a:t>
            </a:r>
            <a:endParaRPr lang="en-US" sz="1200" dirty="0"/>
          </a:p>
        </p:txBody>
      </p:sp>
      <p:sp>
        <p:nvSpPr>
          <p:cNvPr id="15" name="Text 13"/>
          <p:cNvSpPr/>
          <p:nvPr/>
        </p:nvSpPr>
        <p:spPr>
          <a:xfrm>
            <a:off x="3108960" y="1993392"/>
            <a:ext cx="5715000" cy="256032"/>
          </a:xfrm>
          <a:prstGeom prst="rect">
            <a:avLst/>
          </a:prstGeom>
          <a:noFill/>
        </p:spPr>
        <p:txBody>
          <a:bodyPr wrap="square" lIns="0" tIns="0" rIns="0" bIns="0" rtlCol="0" anchor="ctr"/>
          <a:lstStyle/>
          <a:p>
            <a:pPr marL="0" indent="0">
              <a:buNone/>
            </a:pPr>
            <a:r>
              <a:rPr lang="en-US" sz="1200" dirty="0">
                <a:solidFill>
                  <a:srgbClr val="2C2C2C"/>
                </a:solidFill>
                <a:latin typeface="Calibri" panose="020F0502020204030204" pitchFamily="34" charset="0"/>
                <a:ea typeface="Calibri" panose="020F0502020204030204" pitchFamily="34" charset="0"/>
                <a:cs typeface="Calibri" panose="020F0502020204030204" pitchFamily="34" charset="0"/>
              </a:rPr>
              <a:t>•  All treat compassion as a moral duty, not just a feeling.</a:t>
            </a:r>
            <a:endParaRPr lang="en-US" sz="1200" dirty="0"/>
          </a:p>
        </p:txBody>
      </p:sp>
      <p:sp>
        <p:nvSpPr>
          <p:cNvPr id="16" name="Shape 14"/>
          <p:cNvSpPr/>
          <p:nvPr/>
        </p:nvSpPr>
        <p:spPr>
          <a:xfrm>
            <a:off x="2971800" y="2377440"/>
            <a:ext cx="5897880" cy="329184"/>
          </a:xfrm>
          <a:prstGeom prst="rect">
            <a:avLst/>
          </a:prstGeom>
          <a:solidFill>
            <a:srgbClr val="922B21"/>
          </a:solidFill>
          <a:ln w="12700">
            <a:solidFill>
              <a:srgbClr val="922B21"/>
            </a:solidFill>
            <a:prstDash val="solid"/>
          </a:ln>
        </p:spPr>
        <p:txBody>
          <a:bodyPr/>
          <a:lstStyle/>
          <a:p>
            <a:endParaRPr lang="zh-CN" altLang="en-US"/>
          </a:p>
        </p:txBody>
      </p:sp>
      <p:sp>
        <p:nvSpPr>
          <p:cNvPr id="17" name="Text 15"/>
          <p:cNvSpPr/>
          <p:nvPr/>
        </p:nvSpPr>
        <p:spPr>
          <a:xfrm>
            <a:off x="3108960" y="2404872"/>
            <a:ext cx="5715000" cy="256032"/>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  What makes Rén distinctive</a:t>
            </a:r>
            <a:endParaRPr lang="en-US" sz="1200" dirty="0"/>
          </a:p>
        </p:txBody>
      </p:sp>
      <p:sp>
        <p:nvSpPr>
          <p:cNvPr id="18" name="Shape 16"/>
          <p:cNvSpPr/>
          <p:nvPr/>
        </p:nvSpPr>
        <p:spPr>
          <a:xfrm>
            <a:off x="2971800" y="2834640"/>
            <a:ext cx="54864" cy="475488"/>
          </a:xfrm>
          <a:prstGeom prst="rect">
            <a:avLst/>
          </a:prstGeom>
          <a:solidFill>
            <a:srgbClr val="C9A84C"/>
          </a:solidFill>
          <a:ln w="12700">
            <a:solidFill>
              <a:srgbClr val="C9A84C"/>
            </a:solidFill>
            <a:prstDash val="solid"/>
          </a:ln>
        </p:spPr>
        <p:txBody>
          <a:bodyPr/>
          <a:lstStyle/>
          <a:p>
            <a:endParaRPr lang="zh-CN" altLang="en-US"/>
          </a:p>
        </p:txBody>
      </p:sp>
      <p:sp>
        <p:nvSpPr>
          <p:cNvPr id="19" name="Text 17"/>
          <p:cNvSpPr/>
          <p:nvPr/>
        </p:nvSpPr>
        <p:spPr>
          <a:xfrm>
            <a:off x="3108960" y="2834640"/>
            <a:ext cx="1417320" cy="219456"/>
          </a:xfrm>
          <a:prstGeom prst="rect">
            <a:avLst/>
          </a:prstGeom>
          <a:noFill/>
        </p:spPr>
        <p:txBody>
          <a:bodyPr wrap="square" lIns="0" tIns="0" rIns="0" bIns="0" rtlCol="0" anchor="ctr"/>
          <a:lstStyle/>
          <a:p>
            <a:pPr marL="0" indent="0">
              <a:buNone/>
            </a:pPr>
            <a:r>
              <a:rPr lang="en-US" sz="1150" b="1" dirty="0">
                <a:solidFill>
                  <a:srgbClr val="922B21"/>
                </a:solidFill>
                <a:latin typeface="Georgia" panose="02040502050405020303" pitchFamily="34" charset="0"/>
                <a:ea typeface="Georgia" panose="02040502050405020303" pitchFamily="34" charset="0"/>
                <a:cs typeface="Georgia" panose="02040502050405020303" pitchFamily="34" charset="0"/>
              </a:rPr>
              <a:t>Starts concrete</a:t>
            </a:r>
            <a:endParaRPr lang="en-US" sz="1150" dirty="0"/>
          </a:p>
        </p:txBody>
      </p:sp>
      <p:sp>
        <p:nvSpPr>
          <p:cNvPr id="20" name="Text 18"/>
          <p:cNvSpPr/>
          <p:nvPr/>
        </p:nvSpPr>
        <p:spPr>
          <a:xfrm>
            <a:off x="3108960" y="3072384"/>
            <a:ext cx="5669280" cy="237744"/>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Rén begins with real bonds — family, friends — then expands step by step.</a:t>
            </a:r>
            <a:endParaRPr lang="en-US" sz="1150" dirty="0"/>
          </a:p>
        </p:txBody>
      </p:sp>
      <p:sp>
        <p:nvSpPr>
          <p:cNvPr id="21" name="Shape 19"/>
          <p:cNvSpPr/>
          <p:nvPr/>
        </p:nvSpPr>
        <p:spPr>
          <a:xfrm>
            <a:off x="2971800" y="3474720"/>
            <a:ext cx="54864" cy="475488"/>
          </a:xfrm>
          <a:prstGeom prst="rect">
            <a:avLst/>
          </a:prstGeom>
          <a:solidFill>
            <a:srgbClr val="C9A84C"/>
          </a:solidFill>
          <a:ln w="12700">
            <a:solidFill>
              <a:srgbClr val="C9A84C"/>
            </a:solidFill>
            <a:prstDash val="solid"/>
          </a:ln>
        </p:spPr>
        <p:txBody>
          <a:bodyPr/>
          <a:lstStyle/>
          <a:p>
            <a:endParaRPr lang="zh-CN" altLang="en-US"/>
          </a:p>
        </p:txBody>
      </p:sp>
      <p:sp>
        <p:nvSpPr>
          <p:cNvPr id="22" name="Text 20"/>
          <p:cNvSpPr/>
          <p:nvPr/>
        </p:nvSpPr>
        <p:spPr>
          <a:xfrm>
            <a:off x="3108960" y="3474720"/>
            <a:ext cx="1417320" cy="219456"/>
          </a:xfrm>
          <a:prstGeom prst="rect">
            <a:avLst/>
          </a:prstGeom>
          <a:noFill/>
        </p:spPr>
        <p:txBody>
          <a:bodyPr wrap="square" lIns="0" tIns="0" rIns="0" bIns="0" rtlCol="0" anchor="ctr"/>
          <a:lstStyle/>
          <a:p>
            <a:pPr marL="0" indent="0">
              <a:buNone/>
            </a:pPr>
            <a:r>
              <a:rPr lang="en-US" sz="1150" b="1" dirty="0">
                <a:solidFill>
                  <a:srgbClr val="922B21"/>
                </a:solidFill>
                <a:latin typeface="Georgia" panose="02040502050405020303" pitchFamily="34" charset="0"/>
                <a:ea typeface="Georgia" panose="02040502050405020303" pitchFamily="34" charset="0"/>
                <a:cs typeface="Georgia" panose="02040502050405020303" pitchFamily="34" charset="0"/>
              </a:rPr>
              <a:t>Deeply practical</a:t>
            </a:r>
            <a:endParaRPr lang="en-US" sz="1150" dirty="0"/>
          </a:p>
        </p:txBody>
      </p:sp>
      <p:sp>
        <p:nvSpPr>
          <p:cNvPr id="23" name="Text 21"/>
          <p:cNvSpPr/>
          <p:nvPr/>
        </p:nvSpPr>
        <p:spPr>
          <a:xfrm>
            <a:off x="3108960" y="3712464"/>
            <a:ext cx="5669280" cy="237744"/>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Confucius focused on daily behaviour: speaking, governing, treating strangers.</a:t>
            </a:r>
            <a:endParaRPr lang="en-US" sz="1150" dirty="0"/>
          </a:p>
        </p:txBody>
      </p:sp>
      <p:sp>
        <p:nvSpPr>
          <p:cNvPr id="24" name="Shape 22"/>
          <p:cNvSpPr/>
          <p:nvPr/>
        </p:nvSpPr>
        <p:spPr>
          <a:xfrm>
            <a:off x="2971800" y="4114800"/>
            <a:ext cx="54864" cy="475488"/>
          </a:xfrm>
          <a:prstGeom prst="rect">
            <a:avLst/>
          </a:prstGeom>
          <a:solidFill>
            <a:srgbClr val="C9A84C"/>
          </a:solidFill>
          <a:ln w="12700">
            <a:solidFill>
              <a:srgbClr val="C9A84C"/>
            </a:solidFill>
            <a:prstDash val="solid"/>
          </a:ln>
        </p:spPr>
        <p:txBody>
          <a:bodyPr/>
          <a:lstStyle/>
          <a:p>
            <a:endParaRPr lang="zh-CN" altLang="en-US"/>
          </a:p>
        </p:txBody>
      </p:sp>
      <p:sp>
        <p:nvSpPr>
          <p:cNvPr id="25" name="Text 23"/>
          <p:cNvSpPr/>
          <p:nvPr/>
        </p:nvSpPr>
        <p:spPr>
          <a:xfrm>
            <a:off x="3108960" y="4114800"/>
            <a:ext cx="1417320" cy="219456"/>
          </a:xfrm>
          <a:prstGeom prst="rect">
            <a:avLst/>
          </a:prstGeom>
          <a:noFill/>
        </p:spPr>
        <p:txBody>
          <a:bodyPr wrap="square" lIns="0" tIns="0" rIns="0" bIns="0" rtlCol="0" anchor="ctr"/>
          <a:lstStyle/>
          <a:p>
            <a:pPr marL="0" indent="0">
              <a:buNone/>
            </a:pPr>
            <a:r>
              <a:rPr lang="en-US" sz="1150" b="1" dirty="0">
                <a:solidFill>
                  <a:srgbClr val="922B21"/>
                </a:solidFill>
                <a:latin typeface="Georgia" panose="02040502050405020303" pitchFamily="34" charset="0"/>
                <a:ea typeface="Georgia" panose="02040502050405020303" pitchFamily="34" charset="0"/>
                <a:cs typeface="Georgia" panose="02040502050405020303" pitchFamily="34" charset="0"/>
              </a:rPr>
              <a:t>Gradual path</a:t>
            </a:r>
            <a:endParaRPr lang="en-US" sz="1150" dirty="0"/>
          </a:p>
        </p:txBody>
      </p:sp>
      <p:sp>
        <p:nvSpPr>
          <p:cNvPr id="26" name="Text 24"/>
          <p:cNvSpPr/>
          <p:nvPr/>
        </p:nvSpPr>
        <p:spPr>
          <a:xfrm>
            <a:off x="3108960" y="4352544"/>
            <a:ext cx="5669280" cy="237744"/>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Not a command to love everyone at once — a realistic journey anyone can begin today.</a:t>
            </a:r>
            <a:endParaRPr lang="en-US" sz="1150" dirty="0"/>
          </a:p>
        </p:txBody>
      </p:sp>
      <p:sp>
        <p:nvSpPr>
          <p:cNvPr id="27" name="Shape 25"/>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8" name="Text 26"/>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17 / 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1097280" y="-914400"/>
            <a:ext cx="5943600" cy="5943600"/>
          </a:xfrm>
          <a:prstGeom prst="ellipse">
            <a:avLst/>
          </a:prstGeom>
          <a:solidFill>
            <a:srgbClr val="C0392B">
              <a:alpha val="21000"/>
            </a:srgbClr>
          </a:solidFill>
          <a:ln w="12700">
            <a:solidFill>
              <a:srgbClr val="C0392B"/>
            </a:solidFill>
            <a:prstDash val="solid"/>
          </a:ln>
        </p:spPr>
        <p:txBody>
          <a:bodyPr/>
          <a:lstStyle/>
          <a:p>
            <a:endParaRPr lang="zh-CN" altLang="en-US"/>
          </a:p>
        </p:txBody>
      </p:sp>
      <p:sp>
        <p:nvSpPr>
          <p:cNvPr id="3" name="Shape 1"/>
          <p:cNvSpPr/>
          <p:nvPr/>
        </p:nvSpPr>
        <p:spPr>
          <a:xfrm>
            <a:off x="5029200" y="1371600"/>
            <a:ext cx="5303520" cy="5303520"/>
          </a:xfrm>
          <a:prstGeom prst="ellipse">
            <a:avLst/>
          </a:prstGeom>
          <a:solidFill>
            <a:srgbClr val="7B0000">
              <a:alpha val="18000"/>
            </a:srgbClr>
          </a:solidFill>
          <a:ln w="12700">
            <a:solidFill>
              <a:srgbClr val="7B0000"/>
            </a:solidFill>
            <a:prstDash val="solid"/>
          </a:ln>
        </p:spPr>
        <p:txBody>
          <a:bodyPr/>
          <a:lstStyle/>
          <a:p>
            <a:endParaRPr lang="zh-CN" altLang="en-US"/>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914400" y="457200"/>
            <a:ext cx="7315200" cy="1280160"/>
          </a:xfrm>
          <a:prstGeom prst="rect">
            <a:avLst/>
          </a:prstGeom>
          <a:noFill/>
        </p:spPr>
        <p:txBody>
          <a:bodyPr wrap="square" lIns="0" tIns="0" rIns="0" bIns="0" rtlCol="0" anchor="ctr"/>
          <a:lstStyle/>
          <a:p>
            <a:pPr marL="0" indent="0" algn="ctr">
              <a:buNone/>
            </a:pPr>
            <a:r>
              <a:rPr lang="en-US" sz="10000" b="1" dirty="0">
                <a:solidFill>
                  <a:srgbClr val="C0392B">
                    <a:alpha val="82000"/>
                  </a:srgbClr>
                </a:solidFill>
                <a:latin typeface="Georgia" panose="02040502050405020303" pitchFamily="34" charset="0"/>
                <a:ea typeface="Georgia" panose="02040502050405020303" pitchFamily="34" charset="0"/>
                <a:cs typeface="Georgia" panose="02040502050405020303" pitchFamily="34" charset="0"/>
              </a:rPr>
              <a:t>04</a:t>
            </a:r>
            <a:endParaRPr lang="en-US" sz="10000" dirty="0"/>
          </a:p>
        </p:txBody>
      </p:sp>
      <p:sp>
        <p:nvSpPr>
          <p:cNvPr id="6" name="Text 4"/>
          <p:cNvSpPr/>
          <p:nvPr/>
        </p:nvSpPr>
        <p:spPr>
          <a:xfrm>
            <a:off x="914400" y="1828800"/>
            <a:ext cx="7315200" cy="658368"/>
          </a:xfrm>
          <a:prstGeom prst="rect">
            <a:avLst/>
          </a:prstGeom>
          <a:noFill/>
        </p:spPr>
        <p:txBody>
          <a:bodyPr wrap="square" lIns="0" tIns="0" rIns="0" bIns="0" rtlCol="0" anchor="ctr"/>
          <a:lstStyle/>
          <a:p>
            <a:pPr marL="0" indent="0" algn="ctr">
              <a:buNone/>
            </a:pPr>
            <a:r>
              <a:rPr lang="en-US" sz="3400" b="1" dirty="0">
                <a:solidFill>
                  <a:srgbClr val="FFFFFF"/>
                </a:solidFill>
                <a:latin typeface="Georgia" panose="02040502050405020303" pitchFamily="34" charset="0"/>
                <a:ea typeface="Georgia" panose="02040502050405020303" pitchFamily="34" charset="0"/>
                <a:cs typeface="Georgia" panose="02040502050405020303" pitchFamily="34" charset="0"/>
              </a:rPr>
              <a:t>Rén in Political Civilisation</a:t>
            </a:r>
            <a:endParaRPr lang="en-US" sz="3400" dirty="0"/>
          </a:p>
        </p:txBody>
      </p:sp>
      <p:sp>
        <p:nvSpPr>
          <p:cNvPr id="7" name="Text 5"/>
          <p:cNvSpPr/>
          <p:nvPr/>
        </p:nvSpPr>
        <p:spPr>
          <a:xfrm>
            <a:off x="914400" y="2514600"/>
            <a:ext cx="7315200" cy="438912"/>
          </a:xfrm>
          <a:prstGeom prst="rect">
            <a:avLst/>
          </a:prstGeom>
          <a:noFill/>
        </p:spPr>
        <p:txBody>
          <a:bodyPr wrap="square" lIns="0" tIns="0" rIns="0" bIns="0" rtlCol="0" anchor="ctr"/>
          <a:lstStyle/>
          <a:p>
            <a:pPr marL="0" indent="0" algn="ctr">
              <a:buNone/>
            </a:pPr>
            <a:r>
              <a:rPr lang="en-US" sz="1900" dirty="0">
                <a:solidFill>
                  <a:srgbClr val="C9A84C"/>
                </a:solidFill>
                <a:latin typeface="Calibri" panose="020F0502020204030204" pitchFamily="34" charset="0"/>
                <a:ea typeface="Calibri" panose="020F0502020204030204" pitchFamily="34" charset="0"/>
                <a:cs typeface="Calibri" panose="020F0502020204030204" pitchFamily="34" charset="0"/>
              </a:rPr>
              <a:t>Contemporary Practice &amp; Contributions to Global Governance</a:t>
            </a:r>
            <a:endParaRPr lang="en-US" sz="1900" dirty="0"/>
          </a:p>
        </p:txBody>
      </p:sp>
      <p:sp>
        <p:nvSpPr>
          <p:cNvPr id="8" name="Shape 6"/>
          <p:cNvSpPr/>
          <p:nvPr/>
        </p:nvSpPr>
        <p:spPr>
          <a:xfrm>
            <a:off x="2743200" y="3063240"/>
            <a:ext cx="3657600" cy="0"/>
          </a:xfrm>
          <a:prstGeom prst="line">
            <a:avLst/>
          </a:prstGeom>
          <a:noFill/>
          <a:ln w="19050">
            <a:solidFill>
              <a:srgbClr val="C9A84C"/>
            </a:solidFill>
            <a:prstDash val="solid"/>
          </a:ln>
        </p:spPr>
        <p:txBody>
          <a:bodyPr/>
          <a:lstStyle/>
          <a:p>
            <a:endParaRPr lang="zh-CN" altLang="en-US"/>
          </a:p>
        </p:txBody>
      </p:sp>
      <p:sp>
        <p:nvSpPr>
          <p:cNvPr id="9" name="Text 7"/>
          <p:cNvSpPr/>
          <p:nvPr/>
        </p:nvSpPr>
        <p:spPr>
          <a:xfrm>
            <a:off x="914400" y="3182112"/>
            <a:ext cx="7315200" cy="384048"/>
          </a:xfrm>
          <a:prstGeom prst="rect">
            <a:avLst/>
          </a:prstGeom>
          <a:noFill/>
        </p:spPr>
        <p:txBody>
          <a:bodyPr wrap="square" lIns="0" tIns="0" rIns="0" bIns="0" rtlCol="0" anchor="ctr"/>
          <a:lstStyle/>
          <a:p>
            <a:pPr marL="0" indent="0" algn="ctr">
              <a:buNone/>
            </a:pPr>
            <a:r>
              <a:rPr lang="en-US" sz="1500" i="1" dirty="0">
                <a:solidFill>
                  <a:srgbClr val="C9A84C"/>
                </a:solidFill>
                <a:latin typeface="Calibri" panose="020F0502020204030204" pitchFamily="34" charset="0"/>
                <a:ea typeface="Calibri" panose="020F0502020204030204" pitchFamily="34" charset="0"/>
                <a:cs typeface="Calibri" panose="020F0502020204030204" pitchFamily="34" charset="0"/>
              </a:rPr>
              <a:t>Speaker 4</a:t>
            </a:r>
            <a:endParaRPr lang="en-US" sz="1500" dirty="0"/>
          </a:p>
        </p:txBody>
      </p:sp>
      <p:sp>
        <p:nvSpPr>
          <p:cNvPr id="10" name="Shape 8"/>
          <p:cNvSpPr/>
          <p:nvPr/>
        </p:nvSpPr>
        <p:spPr>
          <a:xfrm>
            <a:off x="0" y="4846320"/>
            <a:ext cx="9144000" cy="292608"/>
          </a:xfrm>
          <a:prstGeom prst="rect">
            <a:avLst/>
          </a:prstGeom>
          <a:solidFill>
            <a:srgbClr val="C0392B">
              <a:alpha val="60000"/>
            </a:srgbClr>
          </a:solidFill>
          <a:ln w="12700">
            <a:solidFill>
              <a:srgbClr val="C0392B"/>
            </a:solidFill>
            <a:prstDash val="solid"/>
          </a:ln>
        </p:spPr>
        <p:txBody>
          <a:bodyPr/>
          <a:lstStyle/>
          <a:p>
            <a:endParaRPr lang="zh-CN" altLang="en-US"/>
          </a:p>
        </p:txBody>
      </p:sp>
      <p:sp>
        <p:nvSpPr>
          <p:cNvPr id="11" name="Text 9"/>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18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仁</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4</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Case Study 1</a:t>
            </a:r>
            <a:endParaRPr lang="en-US" sz="1000" dirty="0"/>
          </a:p>
        </p:txBody>
      </p:sp>
      <p:sp>
        <p:nvSpPr>
          <p:cNvPr id="9" name="Text 7"/>
          <p:cNvSpPr/>
          <p:nvPr/>
        </p:nvSpPr>
        <p:spPr>
          <a:xfrm>
            <a:off x="2971800" y="137160"/>
            <a:ext cx="5897880" cy="749808"/>
          </a:xfrm>
          <a:prstGeom prst="rect">
            <a:avLst/>
          </a:prstGeom>
          <a:noFill/>
        </p:spPr>
        <p:txBody>
          <a:bodyPr wrap="square" lIns="0" tIns="0" rIns="0" bIns="0" rtlCol="0" anchor="ctr"/>
          <a:lstStyle/>
          <a:p>
            <a:pPr marL="0" indent="0">
              <a:buNone/>
            </a:pPr>
            <a:r>
              <a:rPr lang="en-US" sz="2200" b="1" dirty="0">
                <a:solidFill>
                  <a:srgbClr val="922B21"/>
                </a:solidFill>
                <a:latin typeface="Georgia" panose="02040502050405020303" pitchFamily="34" charset="0"/>
                <a:ea typeface="Georgia" panose="02040502050405020303" pitchFamily="34" charset="0"/>
                <a:cs typeface="Georgia" panose="02040502050405020303" pitchFamily="34" charset="0"/>
              </a:rPr>
              <a:t>Rén Extended: From People to All Living Things</a:t>
            </a:r>
            <a:endParaRPr lang="en-US" sz="22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Text 9"/>
          <p:cNvSpPr/>
          <p:nvPr/>
        </p:nvSpPr>
        <p:spPr>
          <a:xfrm>
            <a:off x="2971800" y="914400"/>
            <a:ext cx="5897880" cy="292608"/>
          </a:xfrm>
          <a:prstGeom prst="rect">
            <a:avLst/>
          </a:prstGeom>
          <a:noFill/>
        </p:spPr>
        <p:txBody>
          <a:bodyPr wrap="square" lIns="0" tIns="0" rIns="0" bIns="0" rtlCol="0" anchor="ctr"/>
          <a:lstStyle/>
          <a:p>
            <a:pPr marL="0" indent="0">
              <a:buNone/>
            </a:pPr>
            <a:r>
              <a:rPr lang="en-US" sz="1100" i="1" dirty="0">
                <a:solidFill>
                  <a:srgbClr val="7F8C8D"/>
                </a:solidFill>
                <a:latin typeface="Calibri" panose="020F0502020204030204" pitchFamily="34" charset="0"/>
                <a:ea typeface="Calibri" panose="020F0502020204030204" pitchFamily="34" charset="0"/>
                <a:cs typeface="Calibri" panose="020F0502020204030204" pitchFamily="34" charset="0"/>
              </a:rPr>
              <a:t>Case 1 — Campus Stray Cats  |  校园流浪猫</a:t>
            </a:r>
            <a:endParaRPr lang="en-US" sz="1100" dirty="0"/>
          </a:p>
        </p:txBody>
      </p:sp>
      <p:sp>
        <p:nvSpPr>
          <p:cNvPr id="12" name="Shape 10"/>
          <p:cNvSpPr/>
          <p:nvPr/>
        </p:nvSpPr>
        <p:spPr>
          <a:xfrm>
            <a:off x="2971800" y="1353312"/>
            <a:ext cx="457200" cy="457200"/>
          </a:xfrm>
          <a:prstGeom prst="ellipse">
            <a:avLst/>
          </a:prstGeom>
          <a:solidFill>
            <a:srgbClr val="FADBD8"/>
          </a:solidFill>
          <a:ln w="12700">
            <a:solidFill>
              <a:srgbClr val="C0392B"/>
            </a:solidFill>
            <a:prstDash val="solid"/>
          </a:ln>
        </p:spPr>
        <p:txBody>
          <a:bodyPr/>
          <a:lstStyle/>
          <a:p>
            <a:endParaRPr lang="zh-CN" altLang="en-US"/>
          </a:p>
        </p:txBody>
      </p:sp>
      <p:sp>
        <p:nvSpPr>
          <p:cNvPr id="13" name="Text 11"/>
          <p:cNvSpPr/>
          <p:nvPr/>
        </p:nvSpPr>
        <p:spPr>
          <a:xfrm>
            <a:off x="2971800" y="1353312"/>
            <a:ext cx="457200" cy="45720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3520440" y="1325880"/>
            <a:ext cx="1463040" cy="237744"/>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What students do</a:t>
            </a:r>
            <a:endParaRPr lang="en-US" sz="1200" dirty="0"/>
          </a:p>
        </p:txBody>
      </p:sp>
      <p:sp>
        <p:nvSpPr>
          <p:cNvPr id="15" name="Text 13"/>
          <p:cNvSpPr/>
          <p:nvPr/>
        </p:nvSpPr>
        <p:spPr>
          <a:xfrm>
            <a:off x="3520440" y="1572768"/>
            <a:ext cx="5349240" cy="502920"/>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Students voluntarily feed, build shelters, take cats to the vet, and arrange adoptions before graduating — no one asks them to.</a:t>
            </a:r>
            <a:endParaRPr lang="en-US" sz="1100" dirty="0"/>
          </a:p>
        </p:txBody>
      </p:sp>
      <p:sp>
        <p:nvSpPr>
          <p:cNvPr id="16" name="Shape 14"/>
          <p:cNvSpPr/>
          <p:nvPr/>
        </p:nvSpPr>
        <p:spPr>
          <a:xfrm>
            <a:off x="2971800" y="2221992"/>
            <a:ext cx="457200" cy="457200"/>
          </a:xfrm>
          <a:prstGeom prst="ellipse">
            <a:avLst/>
          </a:prstGeom>
          <a:solidFill>
            <a:srgbClr val="FADBD8"/>
          </a:solidFill>
          <a:ln w="12700">
            <a:solidFill>
              <a:srgbClr val="C0392B"/>
            </a:solidFill>
            <a:prstDash val="solid"/>
          </a:ln>
        </p:spPr>
        <p:txBody>
          <a:bodyPr/>
          <a:lstStyle/>
          <a:p>
            <a:endParaRPr lang="zh-CN" altLang="en-US"/>
          </a:p>
        </p:txBody>
      </p:sp>
      <p:sp>
        <p:nvSpPr>
          <p:cNvPr id="17" name="Text 15"/>
          <p:cNvSpPr/>
          <p:nvPr/>
        </p:nvSpPr>
        <p:spPr>
          <a:xfrm>
            <a:off x="2971800" y="2221992"/>
            <a:ext cx="457200" cy="45720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3520440" y="2194560"/>
            <a:ext cx="1463040" cy="237744"/>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Three expressions of Rén</a:t>
            </a:r>
            <a:endParaRPr lang="en-US" sz="1200" dirty="0"/>
          </a:p>
        </p:txBody>
      </p:sp>
      <p:sp>
        <p:nvSpPr>
          <p:cNvPr id="19" name="Text 17"/>
          <p:cNvSpPr/>
          <p:nvPr/>
        </p:nvSpPr>
        <p:spPr>
          <a:xfrm>
            <a:off x="3520440" y="2441448"/>
            <a:ext cx="5349240" cy="502920"/>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Self-restraint (scientific feeding) · Consideration (respecting others nearby) · Responsibility (long-term commitment, not abandonment).</a:t>
            </a:r>
            <a:endParaRPr lang="en-US" sz="1100" dirty="0"/>
          </a:p>
        </p:txBody>
      </p:sp>
      <p:sp>
        <p:nvSpPr>
          <p:cNvPr id="20" name="Shape 18"/>
          <p:cNvSpPr/>
          <p:nvPr/>
        </p:nvSpPr>
        <p:spPr>
          <a:xfrm>
            <a:off x="2971800" y="3090672"/>
            <a:ext cx="457200" cy="457200"/>
          </a:xfrm>
          <a:prstGeom prst="ellipse">
            <a:avLst/>
          </a:prstGeom>
          <a:solidFill>
            <a:srgbClr val="FADBD8"/>
          </a:solidFill>
          <a:ln w="12700">
            <a:solidFill>
              <a:srgbClr val="C0392B"/>
            </a:solidFill>
            <a:prstDash val="solid"/>
          </a:ln>
        </p:spPr>
        <p:txBody>
          <a:bodyPr/>
          <a:lstStyle/>
          <a:p>
            <a:endParaRPr lang="zh-CN" altLang="en-US"/>
          </a:p>
        </p:txBody>
      </p:sp>
      <p:sp>
        <p:nvSpPr>
          <p:cNvPr id="21" name="Text 19"/>
          <p:cNvSpPr/>
          <p:nvPr/>
        </p:nvSpPr>
        <p:spPr>
          <a:xfrm>
            <a:off x="2971800" y="3090672"/>
            <a:ext cx="457200" cy="45720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3520440" y="3063240"/>
            <a:ext cx="1463040" cy="237744"/>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Does Rén stop at humans?</a:t>
            </a:r>
            <a:endParaRPr lang="en-US" sz="1200" dirty="0"/>
          </a:p>
        </p:txBody>
      </p:sp>
      <p:sp>
        <p:nvSpPr>
          <p:cNvPr id="23" name="Text 21"/>
          <p:cNvSpPr/>
          <p:nvPr/>
        </p:nvSpPr>
        <p:spPr>
          <a:xfrm>
            <a:off x="3520440" y="3310128"/>
            <a:ext cx="5349240" cy="502920"/>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Mencius: 'Compassion is the beginning of Rén' — naturally extends to all beings. Zhang Zai: 民胞物与 — 'People are my siblings, all things my companions.'</a:t>
            </a:r>
            <a:endParaRPr lang="en-US" sz="1100" dirty="0"/>
          </a:p>
        </p:txBody>
      </p:sp>
      <p:sp>
        <p:nvSpPr>
          <p:cNvPr id="24" name="Shape 22"/>
          <p:cNvSpPr/>
          <p:nvPr/>
        </p:nvSpPr>
        <p:spPr>
          <a:xfrm>
            <a:off x="2971800" y="3959352"/>
            <a:ext cx="457200" cy="457200"/>
          </a:xfrm>
          <a:prstGeom prst="ellipse">
            <a:avLst/>
          </a:prstGeom>
          <a:solidFill>
            <a:srgbClr val="FADBD8"/>
          </a:solidFill>
          <a:ln w="12700">
            <a:solidFill>
              <a:srgbClr val="C0392B"/>
            </a:solidFill>
            <a:prstDash val="solid"/>
          </a:ln>
        </p:spPr>
        <p:txBody>
          <a:bodyPr/>
          <a:lstStyle/>
          <a:p>
            <a:endParaRPr lang="zh-CN" altLang="en-US"/>
          </a:p>
        </p:txBody>
      </p:sp>
      <p:sp>
        <p:nvSpPr>
          <p:cNvPr id="25" name="Text 23"/>
          <p:cNvSpPr/>
          <p:nvPr/>
        </p:nvSpPr>
        <p:spPr>
          <a:xfrm>
            <a:off x="2971800" y="3959352"/>
            <a:ext cx="457200" cy="457200"/>
          </a:xfrm>
          <a:prstGeom prst="rect">
            <a:avLst/>
          </a:prstGeom>
          <a:noFill/>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6" name="Text 24"/>
          <p:cNvSpPr/>
          <p:nvPr/>
        </p:nvSpPr>
        <p:spPr>
          <a:xfrm>
            <a:off x="3520440" y="3931920"/>
            <a:ext cx="1463040" cy="237744"/>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What this teaches us</a:t>
            </a:r>
            <a:endParaRPr lang="en-US" sz="1200" dirty="0"/>
          </a:p>
        </p:txBody>
      </p:sp>
      <p:sp>
        <p:nvSpPr>
          <p:cNvPr id="27" name="Text 25"/>
          <p:cNvSpPr/>
          <p:nvPr/>
        </p:nvSpPr>
        <p:spPr>
          <a:xfrm>
            <a:off x="3520440" y="4178808"/>
            <a:ext cx="5349240" cy="502920"/>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Rén begins with people — but does not end there. Caring for animals trains us to be more thoughtful, thorough, and responsible in all relationships.</a:t>
            </a:r>
            <a:endParaRPr lang="en-US" sz="1100" dirty="0"/>
          </a:p>
        </p:txBody>
      </p:sp>
      <p:sp>
        <p:nvSpPr>
          <p:cNvPr id="28" name="Shape 26"/>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9" name="Text 27"/>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19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义</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4</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Case Study 3</a:t>
            </a:r>
            <a:endParaRPr lang="en-US" sz="1000" dirty="0"/>
          </a:p>
        </p:txBody>
      </p:sp>
      <p:sp>
        <p:nvSpPr>
          <p:cNvPr id="9" name="Text 7"/>
          <p:cNvSpPr/>
          <p:nvPr/>
        </p:nvSpPr>
        <p:spPr>
          <a:xfrm>
            <a:off x="2971800" y="137160"/>
            <a:ext cx="5897880" cy="749808"/>
          </a:xfrm>
          <a:prstGeom prst="rect">
            <a:avLst/>
          </a:prstGeom>
          <a:noFill/>
        </p:spPr>
        <p:txBody>
          <a:bodyPr wrap="square" lIns="0" tIns="0" rIns="0" bIns="0" rtlCol="0" anchor="ctr"/>
          <a:lstStyle/>
          <a:p>
            <a:pPr marL="0" indent="0">
              <a:buNone/>
            </a:pPr>
            <a:r>
              <a:rPr lang="en-US" sz="2200" b="1" dirty="0">
                <a:solidFill>
                  <a:srgbClr val="922B21"/>
                </a:solidFill>
                <a:latin typeface="Georgia" panose="02040502050405020303" pitchFamily="34" charset="0"/>
                <a:ea typeface="Georgia" panose="02040502050405020303" pitchFamily="34" charset="0"/>
                <a:cs typeface="Georgia" panose="02040502050405020303" pitchFamily="34" charset="0"/>
              </a:rPr>
              <a:t>Humanity in War: Enemy Soldiers Are Still Human</a:t>
            </a:r>
            <a:endParaRPr lang="en-US" sz="22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Text 9"/>
          <p:cNvSpPr/>
          <p:nvPr/>
        </p:nvSpPr>
        <p:spPr>
          <a:xfrm>
            <a:off x="2971800" y="914400"/>
            <a:ext cx="5897880" cy="292608"/>
          </a:xfrm>
          <a:prstGeom prst="rect">
            <a:avLst/>
          </a:prstGeom>
          <a:noFill/>
        </p:spPr>
        <p:txBody>
          <a:bodyPr wrap="square" lIns="0" tIns="0" rIns="0" bIns="0" rtlCol="0" anchor="ctr"/>
          <a:lstStyle/>
          <a:p>
            <a:pPr marL="0" indent="0">
              <a:buNone/>
            </a:pPr>
            <a:r>
              <a:rPr lang="en-US" sz="1100" i="1" dirty="0">
                <a:solidFill>
                  <a:srgbClr val="7F8C8D"/>
                </a:solidFill>
                <a:latin typeface="Calibri" panose="020F0502020204030204" pitchFamily="34" charset="0"/>
                <a:ea typeface="Calibri" panose="020F0502020204030204" pitchFamily="34" charset="0"/>
                <a:cs typeface="Calibri" panose="020F0502020204030204" pitchFamily="34" charset="0"/>
              </a:rPr>
              <a:t>Case 3 — Russia-Ukraine Body Exchange  |  2025–2026</a:t>
            </a:r>
            <a:endParaRPr lang="en-US" sz="1100" dirty="0"/>
          </a:p>
        </p:txBody>
      </p:sp>
      <p:sp>
        <p:nvSpPr>
          <p:cNvPr id="12" name="Shape 10"/>
          <p:cNvSpPr/>
          <p:nvPr/>
        </p:nvSpPr>
        <p:spPr>
          <a:xfrm>
            <a:off x="2971800" y="1261872"/>
            <a:ext cx="5897880" cy="960120"/>
          </a:xfrm>
          <a:prstGeom prst="rect">
            <a:avLst/>
          </a:prstGeom>
          <a:solidFill>
            <a:srgbClr val="922B21"/>
          </a:solidFill>
          <a:ln w="12700">
            <a:solidFill>
              <a:srgbClr val="922B21"/>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3" name="Text 11"/>
          <p:cNvSpPr/>
          <p:nvPr/>
        </p:nvSpPr>
        <p:spPr>
          <a:xfrm>
            <a:off x="3127248" y="1298448"/>
            <a:ext cx="5577840" cy="274320"/>
          </a:xfrm>
          <a:prstGeom prst="rect">
            <a:avLst/>
          </a:prstGeom>
          <a:noFill/>
        </p:spPr>
        <p:txBody>
          <a:bodyPr wrap="square" lIns="0" tIns="0" rIns="0" bIns="0" rtlCol="0" anchor="ctr"/>
          <a:lstStyle/>
          <a:p>
            <a:pPr marL="0" indent="0">
              <a:buNone/>
            </a:pPr>
            <a:r>
              <a:rPr lang="en-US" sz="1200" b="1" dirty="0">
                <a:solidFill>
                  <a:srgbClr val="C9A84C"/>
                </a:solidFill>
                <a:latin typeface="Georgia" panose="02040502050405020303" pitchFamily="34" charset="0"/>
                <a:ea typeface="Georgia" panose="02040502050405020303" pitchFamily="34" charset="0"/>
                <a:cs typeface="Georgia" panose="02040502050405020303" pitchFamily="34" charset="0"/>
              </a:rPr>
              <a:t>Key Facts</a:t>
            </a:r>
            <a:endParaRPr lang="en-US" sz="1200" dirty="0"/>
          </a:p>
        </p:txBody>
      </p:sp>
      <p:sp>
        <p:nvSpPr>
          <p:cNvPr id="14" name="Text 12"/>
          <p:cNvSpPr/>
          <p:nvPr/>
        </p:nvSpPr>
        <p:spPr>
          <a:xfrm>
            <a:off x="3127248" y="1572768"/>
            <a:ext cx="5577840" cy="530352"/>
          </a:xfrm>
          <a:prstGeom prst="rect">
            <a:avLst/>
          </a:prstGeom>
          <a:noFill/>
        </p:spPr>
        <p:txBody>
          <a:bodyPr wrap="square" lIns="0" tIns="0" rIns="0" bIns="0" rtlCol="0" anchor="ctr"/>
          <a:lstStyle/>
          <a:p>
            <a:pPr marL="0" indent="0">
              <a:buNone/>
            </a:pPr>
            <a:r>
              <a:rPr lang="en-US" sz="1150" dirty="0">
                <a:solidFill>
                  <a:srgbClr val="FFFFFF"/>
                </a:solidFill>
                <a:latin typeface="Calibri" panose="020F0502020204030204" pitchFamily="34" charset="0"/>
                <a:ea typeface="Calibri" panose="020F0502020204030204" pitchFamily="34" charset="0"/>
                <a:cs typeface="Calibri" panose="020F0502020204030204" pitchFamily="34" charset="0"/>
              </a:rPr>
              <a:t>Since June 2025: Russia transferred 12,000+ bodies to Ukraine.</a:t>
            </a:r>
            <a:endParaRPr lang="en-US" sz="1150" dirty="0"/>
          </a:p>
          <a:p>
            <a:pPr marL="0" indent="0">
              <a:buNone/>
            </a:pPr>
            <a:r>
              <a:rPr lang="en-US" sz="1150" dirty="0">
                <a:solidFill>
                  <a:srgbClr val="FFFFFF"/>
                </a:solidFill>
                <a:latin typeface="Calibri" panose="020F0502020204030204" pitchFamily="34" charset="0"/>
                <a:ea typeface="Calibri" panose="020F0502020204030204" pitchFamily="34" charset="0"/>
                <a:cs typeface="Calibri" panose="020F0502020204030204" pitchFamily="34" charset="0"/>
              </a:rPr>
              <a:t>April 2026 exchange: 1,000 Russian remains returned for 41 Ukrainian.</a:t>
            </a:r>
            <a:endParaRPr lang="en-US" sz="1150" dirty="0"/>
          </a:p>
        </p:txBody>
      </p:sp>
      <p:sp>
        <p:nvSpPr>
          <p:cNvPr id="15" name="Shape 13"/>
          <p:cNvSpPr/>
          <p:nvPr/>
        </p:nvSpPr>
        <p:spPr>
          <a:xfrm>
            <a:off x="2971800" y="2359152"/>
            <a:ext cx="502920" cy="475488"/>
          </a:xfrm>
          <a:prstGeom prst="rect">
            <a:avLst/>
          </a:prstGeom>
          <a:solidFill>
            <a:srgbClr val="FADBD8"/>
          </a:solidFill>
          <a:ln w="12700">
            <a:solidFill>
              <a:srgbClr val="C0392B"/>
            </a:solidFill>
            <a:prstDash val="solid"/>
          </a:ln>
        </p:spPr>
        <p:txBody>
          <a:bodyPr/>
          <a:lstStyle/>
          <a:p>
            <a:endParaRPr lang="zh-CN" altLang="en-US"/>
          </a:p>
        </p:txBody>
      </p:sp>
      <p:sp>
        <p:nvSpPr>
          <p:cNvPr id="16" name="Text 14"/>
          <p:cNvSpPr/>
          <p:nvPr/>
        </p:nvSpPr>
        <p:spPr>
          <a:xfrm>
            <a:off x="2971800" y="2359152"/>
            <a:ext cx="502920" cy="475488"/>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3566160" y="2377440"/>
            <a:ext cx="2011680" cy="219456"/>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Purpose</a:t>
            </a:r>
            <a:endParaRPr lang="en-US" sz="1200" dirty="0"/>
          </a:p>
        </p:txBody>
      </p:sp>
      <p:sp>
        <p:nvSpPr>
          <p:cNvPr id="18" name="Text 16"/>
          <p:cNvSpPr/>
          <p:nvPr/>
        </p:nvSpPr>
        <p:spPr>
          <a:xfrm>
            <a:off x="3566160" y="2606040"/>
            <a:ext cx="5303520" cy="256032"/>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The only goal: allow families to bury their loved ones. Completely separate from military objectives.</a:t>
            </a:r>
            <a:endParaRPr lang="en-US" sz="1100" dirty="0"/>
          </a:p>
        </p:txBody>
      </p:sp>
      <p:sp>
        <p:nvSpPr>
          <p:cNvPr id="19" name="Shape 17"/>
          <p:cNvSpPr/>
          <p:nvPr/>
        </p:nvSpPr>
        <p:spPr>
          <a:xfrm>
            <a:off x="2971800" y="2944368"/>
            <a:ext cx="502920" cy="475488"/>
          </a:xfrm>
          <a:prstGeom prst="rect">
            <a:avLst/>
          </a:prstGeom>
          <a:solidFill>
            <a:srgbClr val="FADBD8"/>
          </a:solidFill>
          <a:ln w="12700">
            <a:solidFill>
              <a:srgbClr val="C0392B"/>
            </a:solidFill>
            <a:prstDash val="solid"/>
          </a:ln>
        </p:spPr>
        <p:txBody>
          <a:bodyPr/>
          <a:lstStyle/>
          <a:p>
            <a:endParaRPr lang="zh-CN" altLang="en-US"/>
          </a:p>
        </p:txBody>
      </p:sp>
      <p:sp>
        <p:nvSpPr>
          <p:cNvPr id="20" name="Text 18"/>
          <p:cNvSpPr/>
          <p:nvPr/>
        </p:nvSpPr>
        <p:spPr>
          <a:xfrm>
            <a:off x="2971800" y="2944368"/>
            <a:ext cx="502920" cy="475488"/>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3566160" y="2962656"/>
            <a:ext cx="2011680" cy="219456"/>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What Rén recognises</a:t>
            </a:r>
            <a:endParaRPr lang="en-US" sz="1200" dirty="0"/>
          </a:p>
        </p:txBody>
      </p:sp>
      <p:sp>
        <p:nvSpPr>
          <p:cNvPr id="22" name="Text 20"/>
          <p:cNvSpPr/>
          <p:nvPr/>
        </p:nvSpPr>
        <p:spPr>
          <a:xfrm>
            <a:off x="3566160" y="3191256"/>
            <a:ext cx="5303520" cy="256032"/>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Enemy soldiers are still sons, fathers, husbands. Their families' grief is no different from ours.</a:t>
            </a:r>
            <a:endParaRPr lang="en-US" sz="1100" dirty="0"/>
          </a:p>
        </p:txBody>
      </p:sp>
      <p:sp>
        <p:nvSpPr>
          <p:cNvPr id="23" name="Shape 21"/>
          <p:cNvSpPr/>
          <p:nvPr/>
        </p:nvSpPr>
        <p:spPr>
          <a:xfrm>
            <a:off x="2971800" y="3529584"/>
            <a:ext cx="502920" cy="475488"/>
          </a:xfrm>
          <a:prstGeom prst="rect">
            <a:avLst/>
          </a:prstGeom>
          <a:solidFill>
            <a:srgbClr val="FADBD8"/>
          </a:solidFill>
          <a:ln w="12700">
            <a:solidFill>
              <a:srgbClr val="C0392B"/>
            </a:solidFill>
            <a:prstDash val="solid"/>
          </a:ln>
        </p:spPr>
        <p:txBody>
          <a:bodyPr/>
          <a:lstStyle/>
          <a:p>
            <a:endParaRPr lang="zh-CN" altLang="en-US"/>
          </a:p>
        </p:txBody>
      </p:sp>
      <p:sp>
        <p:nvSpPr>
          <p:cNvPr id="24" name="Text 22"/>
          <p:cNvSpPr/>
          <p:nvPr/>
        </p:nvSpPr>
        <p:spPr>
          <a:xfrm>
            <a:off x="2971800" y="3529584"/>
            <a:ext cx="502920" cy="475488"/>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3566160" y="3547872"/>
            <a:ext cx="2011680" cy="219456"/>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Rén in violence</a:t>
            </a:r>
            <a:endParaRPr lang="en-US" sz="1200" dirty="0"/>
          </a:p>
        </p:txBody>
      </p:sp>
      <p:sp>
        <p:nvSpPr>
          <p:cNvPr id="26" name="Text 24"/>
          <p:cNvSpPr/>
          <p:nvPr/>
        </p:nvSpPr>
        <p:spPr>
          <a:xfrm>
            <a:off x="3566160" y="3776472"/>
            <a:ext cx="5303520" cy="256032"/>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Even in war, there is a moral floor below which we must not fall. This exchange holds that floor.</a:t>
            </a:r>
            <a:endParaRPr lang="en-US" sz="1100" dirty="0"/>
          </a:p>
        </p:txBody>
      </p:sp>
      <p:sp>
        <p:nvSpPr>
          <p:cNvPr id="27" name="Shape 25"/>
          <p:cNvSpPr/>
          <p:nvPr/>
        </p:nvSpPr>
        <p:spPr>
          <a:xfrm>
            <a:off x="2971800" y="4114800"/>
            <a:ext cx="502920" cy="475488"/>
          </a:xfrm>
          <a:prstGeom prst="rect">
            <a:avLst/>
          </a:prstGeom>
          <a:solidFill>
            <a:srgbClr val="FADBD8"/>
          </a:solidFill>
          <a:ln w="12700">
            <a:solidFill>
              <a:srgbClr val="C0392B"/>
            </a:solidFill>
            <a:prstDash val="solid"/>
          </a:ln>
        </p:spPr>
        <p:txBody>
          <a:bodyPr/>
          <a:lstStyle/>
          <a:p>
            <a:endParaRPr lang="zh-CN" altLang="en-US"/>
          </a:p>
        </p:txBody>
      </p:sp>
      <p:sp>
        <p:nvSpPr>
          <p:cNvPr id="28" name="Text 26"/>
          <p:cNvSpPr/>
          <p:nvPr/>
        </p:nvSpPr>
        <p:spPr>
          <a:xfrm>
            <a:off x="2971800" y="4114800"/>
            <a:ext cx="502920" cy="475488"/>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9" name="Text 27"/>
          <p:cNvSpPr/>
          <p:nvPr/>
        </p:nvSpPr>
        <p:spPr>
          <a:xfrm>
            <a:off x="3566160" y="4133088"/>
            <a:ext cx="2011680" cy="219456"/>
          </a:xfrm>
          <a:prstGeom prst="rect">
            <a:avLst/>
          </a:prstGeom>
          <a:noFill/>
        </p:spPr>
        <p:txBody>
          <a:bodyPr wrap="square" lIns="0" tIns="0" rIns="0" bIns="0" rtlCol="0" anchor="ctr"/>
          <a:lstStyle/>
          <a:p>
            <a:pPr marL="0" indent="0">
              <a:buNone/>
            </a:pPr>
            <a:r>
              <a:rPr lang="en-US" sz="1200" b="1" dirty="0">
                <a:solidFill>
                  <a:srgbClr val="922B21"/>
                </a:solidFill>
                <a:latin typeface="Georgia" panose="02040502050405020303" pitchFamily="34" charset="0"/>
                <a:ea typeface="Georgia" panose="02040502050405020303" pitchFamily="34" charset="0"/>
                <a:cs typeface="Georgia" panose="02040502050405020303" pitchFamily="34" charset="0"/>
              </a:rPr>
              <a:t>For the living</a:t>
            </a:r>
            <a:endParaRPr lang="en-US" sz="1200" dirty="0"/>
          </a:p>
        </p:txBody>
      </p:sp>
      <p:sp>
        <p:nvSpPr>
          <p:cNvPr id="30" name="Text 28"/>
          <p:cNvSpPr/>
          <p:nvPr/>
        </p:nvSpPr>
        <p:spPr>
          <a:xfrm>
            <a:off x="3566160" y="4361688"/>
            <a:ext cx="5303520" cy="256032"/>
          </a:xfrm>
          <a:prstGeom prst="rect">
            <a:avLst/>
          </a:prstGeom>
          <a:noFill/>
        </p:spPr>
        <p:txBody>
          <a:bodyPr wrap="square" lIns="0" tIns="0" rIns="0" bIns="0" rtlCol="0" anchor="ctr"/>
          <a:lstStyle/>
          <a:p>
            <a:pPr marL="0" indent="0">
              <a:buNone/>
            </a:pPr>
            <a:r>
              <a:rPr lang="en-US" sz="1100" dirty="0">
                <a:solidFill>
                  <a:srgbClr val="2C2C2C"/>
                </a:solidFill>
                <a:latin typeface="Calibri" panose="020F0502020204030204" pitchFamily="34" charset="0"/>
                <a:ea typeface="Calibri" panose="020F0502020204030204" pitchFamily="34" charset="0"/>
                <a:cs typeface="Calibri" panose="020F0502020204030204" pitchFamily="34" charset="0"/>
              </a:rPr>
              <a:t>Returning bodies is an act of accountability — to the families left behind on both sides.</a:t>
            </a:r>
            <a:endParaRPr lang="en-US" sz="1100" dirty="0"/>
          </a:p>
        </p:txBody>
      </p:sp>
      <p:sp>
        <p:nvSpPr>
          <p:cNvPr id="31" name="Shape 29"/>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32" name="Text 30"/>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0392B"/>
          </a:solidFill>
          <a:ln w="12700">
            <a:solidFill>
              <a:srgbClr val="C0392B"/>
            </a:solidFill>
            <a:prstDash val="solid"/>
          </a:ln>
        </p:spPr>
        <p:txBody>
          <a:bodyPr/>
          <a:lstStyle/>
          <a:p>
            <a:endParaRPr lang="zh-CN" altLang="en-US"/>
          </a:p>
        </p:txBody>
      </p:sp>
      <p:sp>
        <p:nvSpPr>
          <p:cNvPr id="3" name="Shape 1"/>
          <p:cNvSpPr/>
          <p:nvPr/>
        </p:nvSpPr>
        <p:spPr>
          <a:xfrm>
            <a:off x="-822960" y="-457200"/>
            <a:ext cx="3840480" cy="3840480"/>
          </a:xfrm>
          <a:prstGeom prst="ellipse">
            <a:avLst/>
          </a:prstGeom>
          <a:solidFill>
            <a:srgbClr val="922B21">
              <a:alpha val="26000"/>
            </a:srgbClr>
          </a:solidFill>
          <a:ln w="12700">
            <a:solidFill>
              <a:srgbClr val="922B21"/>
            </a:solidFill>
            <a:prstDash val="solid"/>
          </a:ln>
        </p:spPr>
        <p:txBody>
          <a:bodyPr/>
          <a:lstStyle/>
          <a:p>
            <a:endParaRPr lang="zh-CN" altLang="en-US"/>
          </a:p>
        </p:txBody>
      </p:sp>
      <p:sp>
        <p:nvSpPr>
          <p:cNvPr id="4" name="Shape 2"/>
          <p:cNvSpPr/>
          <p:nvPr/>
        </p:nvSpPr>
        <p:spPr>
          <a:xfrm>
            <a:off x="274320" y="2926080"/>
            <a:ext cx="2560320" cy="2560320"/>
          </a:xfrm>
          <a:prstGeom prst="ellipse">
            <a:avLst/>
          </a:prstGeom>
          <a:solidFill>
            <a:srgbClr val="6B0000">
              <a:alpha val="23000"/>
            </a:srgbClr>
          </a:solidFill>
          <a:ln w="12700">
            <a:solidFill>
              <a:srgbClr val="6B0000"/>
            </a:solidFill>
            <a:prstDash val="solid"/>
          </a:ln>
        </p:spPr>
        <p:txBody>
          <a:bodyPr/>
          <a:lstStyle/>
          <a:p>
            <a:endParaRPr lang="zh-CN" altLang="en-US"/>
          </a:p>
        </p:txBody>
      </p:sp>
      <p:sp>
        <p:nvSpPr>
          <p:cNvPr id="5" name="Text 3"/>
          <p:cNvSpPr/>
          <p:nvPr/>
        </p:nvSpPr>
        <p:spPr>
          <a:xfrm>
            <a:off x="0" y="182880"/>
            <a:ext cx="2743200" cy="3108960"/>
          </a:xfrm>
          <a:prstGeom prst="rect">
            <a:avLst/>
          </a:prstGeom>
          <a:noFill/>
        </p:spPr>
        <p:txBody>
          <a:bodyPr wrap="square" lIns="0" tIns="0" rIns="0" bIns="0" rtlCol="0" anchor="ctr"/>
          <a:lstStyle/>
          <a:p>
            <a:pPr marL="0" indent="0" algn="ctr">
              <a:buNone/>
            </a:pPr>
            <a:r>
              <a:rPr lang="en-US" sz="16000" dirty="0">
                <a:solidFill>
                  <a:srgbClr val="FFFFFF">
                    <a:alpha val="82000"/>
                  </a:srgbClr>
                </a:solidFill>
                <a:latin typeface="Georgia" panose="02040502050405020303" pitchFamily="34" charset="0"/>
                <a:ea typeface="Georgia" panose="02040502050405020303" pitchFamily="34" charset="0"/>
                <a:cs typeface="Georgia" panose="02040502050405020303" pitchFamily="34" charset="0"/>
              </a:rPr>
              <a:t>治</a:t>
            </a:r>
            <a:endParaRPr lang="en-US" sz="16000" dirty="0"/>
          </a:p>
        </p:txBody>
      </p:sp>
      <p:sp>
        <p:nvSpPr>
          <p:cNvPr id="6" name="Text 4"/>
          <p:cNvSpPr/>
          <p:nvPr/>
        </p:nvSpPr>
        <p:spPr>
          <a:xfrm>
            <a:off x="91440" y="3977640"/>
            <a:ext cx="2560320" cy="274320"/>
          </a:xfrm>
          <a:prstGeom prst="rect">
            <a:avLst/>
          </a:prstGeom>
          <a:noFill/>
        </p:spPr>
        <p:txBody>
          <a:bodyPr wrap="square" lIns="0" tIns="0" rIns="0" bIns="0" rtlCol="0" anchor="ctr"/>
          <a:lstStyle/>
          <a:p>
            <a:pPr marL="0" indent="0" algn="ctr">
              <a:buNone/>
            </a:pPr>
            <a:r>
              <a:rPr lang="en-US" sz="1000" kern="0" spc="400" dirty="0">
                <a:solidFill>
                  <a:srgbClr val="FFFFFF"/>
                </a:solidFill>
                <a:latin typeface="Calibri" panose="020F0502020204030204" pitchFamily="34" charset="0"/>
                <a:ea typeface="Calibri" panose="020F0502020204030204" pitchFamily="34" charset="0"/>
                <a:cs typeface="Calibri" panose="020F0502020204030204" pitchFamily="34" charset="0"/>
              </a:rPr>
              <a:t>SPEAKER 4</a:t>
            </a:r>
            <a:endParaRPr lang="en-US" sz="1000" dirty="0"/>
          </a:p>
        </p:txBody>
      </p:sp>
      <p:sp>
        <p:nvSpPr>
          <p:cNvPr id="7" name="Shape 5"/>
          <p:cNvSpPr/>
          <p:nvPr/>
        </p:nvSpPr>
        <p:spPr>
          <a:xfrm>
            <a:off x="274320" y="4279392"/>
            <a:ext cx="2194560" cy="0"/>
          </a:xfrm>
          <a:prstGeom prst="line">
            <a:avLst/>
          </a:prstGeom>
          <a:noFill/>
          <a:ln w="8890">
            <a:solidFill>
              <a:srgbClr val="FFFFFF">
                <a:alpha val="50000"/>
              </a:srgbClr>
            </a:solidFill>
            <a:prstDash val="solid"/>
          </a:ln>
        </p:spPr>
        <p:txBody>
          <a:bodyPr/>
          <a:lstStyle/>
          <a:p>
            <a:endParaRPr lang="zh-CN" altLang="en-US"/>
          </a:p>
        </p:txBody>
      </p:sp>
      <p:sp>
        <p:nvSpPr>
          <p:cNvPr id="8" name="Text 6"/>
          <p:cNvSpPr/>
          <p:nvPr/>
        </p:nvSpPr>
        <p:spPr>
          <a:xfrm>
            <a:off x="91440" y="4343400"/>
            <a:ext cx="2560320" cy="274320"/>
          </a:xfrm>
          <a:prstGeom prst="rect">
            <a:avLst/>
          </a:prstGeom>
          <a:noFill/>
        </p:spPr>
        <p:txBody>
          <a:bodyPr wrap="square" lIns="0" tIns="0" rIns="0" bIns="0" rtlCol="0" anchor="ctr"/>
          <a:lstStyle/>
          <a:p>
            <a:pPr marL="0" indent="0" algn="ctr">
              <a:buNone/>
            </a:pPr>
            <a:r>
              <a:rPr lang="en-US" sz="1000" i="1" dirty="0">
                <a:solidFill>
                  <a:srgbClr val="FFFFFF"/>
                </a:solidFill>
                <a:latin typeface="Calibri" panose="020F0502020204030204" pitchFamily="34" charset="0"/>
                <a:ea typeface="Calibri" panose="020F0502020204030204" pitchFamily="34" charset="0"/>
                <a:cs typeface="Calibri" panose="020F0502020204030204" pitchFamily="34" charset="0"/>
              </a:rPr>
              <a:t>Global Governance</a:t>
            </a:r>
            <a:endParaRPr lang="en-US" sz="1000" dirty="0"/>
          </a:p>
        </p:txBody>
      </p:sp>
      <p:sp>
        <p:nvSpPr>
          <p:cNvPr id="9" name="Text 7"/>
          <p:cNvSpPr/>
          <p:nvPr/>
        </p:nvSpPr>
        <p:spPr>
          <a:xfrm>
            <a:off x="2971800" y="137160"/>
            <a:ext cx="5897880" cy="749808"/>
          </a:xfrm>
          <a:prstGeom prst="rect">
            <a:avLst/>
          </a:prstGeom>
          <a:noFill/>
        </p:spPr>
        <p:txBody>
          <a:bodyPr wrap="square" lIns="0" tIns="0" rIns="0" bIns="0" rtlCol="0" anchor="ctr"/>
          <a:lstStyle/>
          <a:p>
            <a:pPr marL="0" indent="0">
              <a:buNone/>
            </a:pPr>
            <a:r>
              <a:rPr lang="en-US" sz="2200" b="1" dirty="0">
                <a:solidFill>
                  <a:srgbClr val="922B21"/>
                </a:solidFill>
                <a:latin typeface="Georgia" panose="02040502050405020303" pitchFamily="34" charset="0"/>
                <a:ea typeface="Georgia" panose="02040502050405020303" pitchFamily="34" charset="0"/>
                <a:cs typeface="Georgia" panose="02040502050405020303" pitchFamily="34" charset="0"/>
              </a:rPr>
              <a:t>From Interest Politics to Shared Responsibility</a:t>
            </a:r>
            <a:endParaRPr lang="en-US" sz="2200" dirty="0"/>
          </a:p>
        </p:txBody>
      </p:sp>
      <p:sp>
        <p:nvSpPr>
          <p:cNvPr id="10" name="Shape 8"/>
          <p:cNvSpPr/>
          <p:nvPr/>
        </p:nvSpPr>
        <p:spPr>
          <a:xfrm>
            <a:off x="2971800" y="822960"/>
            <a:ext cx="5897880" cy="0"/>
          </a:xfrm>
          <a:prstGeom prst="line">
            <a:avLst/>
          </a:prstGeom>
          <a:noFill/>
          <a:ln w="12700">
            <a:solidFill>
              <a:srgbClr val="C0392B"/>
            </a:solidFill>
            <a:prstDash val="solid"/>
          </a:ln>
        </p:spPr>
        <p:txBody>
          <a:bodyPr/>
          <a:lstStyle/>
          <a:p>
            <a:endParaRPr lang="zh-CN" altLang="en-US"/>
          </a:p>
        </p:txBody>
      </p:sp>
      <p:sp>
        <p:nvSpPr>
          <p:cNvPr id="11" name="Shape 9"/>
          <p:cNvSpPr/>
          <p:nvPr/>
        </p:nvSpPr>
        <p:spPr>
          <a:xfrm>
            <a:off x="2971800" y="960120"/>
            <a:ext cx="5897880" cy="138988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2" name="Shape 10"/>
          <p:cNvSpPr/>
          <p:nvPr/>
        </p:nvSpPr>
        <p:spPr>
          <a:xfrm>
            <a:off x="2971800" y="960120"/>
            <a:ext cx="5897880" cy="329184"/>
          </a:xfrm>
          <a:prstGeom prst="rect">
            <a:avLst/>
          </a:prstGeom>
          <a:solidFill>
            <a:srgbClr val="C0392B"/>
          </a:solidFill>
          <a:ln w="12700">
            <a:solidFill>
              <a:srgbClr val="C0392B"/>
            </a:solidFill>
            <a:prstDash val="solid"/>
          </a:ln>
        </p:spPr>
        <p:txBody>
          <a:bodyPr/>
          <a:lstStyle/>
          <a:p>
            <a:endParaRPr lang="zh-CN" altLang="en-US"/>
          </a:p>
        </p:txBody>
      </p:sp>
      <p:sp>
        <p:nvSpPr>
          <p:cNvPr id="13" name="Text 11"/>
          <p:cNvSpPr/>
          <p:nvPr/>
        </p:nvSpPr>
        <p:spPr>
          <a:xfrm>
            <a:off x="3063240" y="987552"/>
            <a:ext cx="5715000"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忠恕之道 — The Greatest Common Denominator</a:t>
            </a:r>
            <a:endParaRPr lang="en-US" sz="1200" dirty="0"/>
          </a:p>
        </p:txBody>
      </p:sp>
      <p:sp>
        <p:nvSpPr>
          <p:cNvPr id="14" name="Text 12"/>
          <p:cNvSpPr/>
          <p:nvPr/>
        </p:nvSpPr>
        <p:spPr>
          <a:xfrm>
            <a:off x="3063240" y="1362456"/>
            <a:ext cx="5715000" cy="896112"/>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'Do not impose on others what you do not want for yourself.' This is not a Chinese rule — it is the minimum moral grammar shared across all civilisations. A foundation for global governance ethics.</a:t>
            </a:r>
            <a:endParaRPr lang="en-US" sz="1150" dirty="0"/>
          </a:p>
        </p:txBody>
      </p:sp>
      <p:sp>
        <p:nvSpPr>
          <p:cNvPr id="15" name="Shape 13"/>
          <p:cNvSpPr/>
          <p:nvPr/>
        </p:nvSpPr>
        <p:spPr>
          <a:xfrm>
            <a:off x="2971800" y="2450592"/>
            <a:ext cx="5897880" cy="1389888"/>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6" name="Shape 14"/>
          <p:cNvSpPr/>
          <p:nvPr/>
        </p:nvSpPr>
        <p:spPr>
          <a:xfrm>
            <a:off x="2971800" y="2450592"/>
            <a:ext cx="5897880" cy="329184"/>
          </a:xfrm>
          <a:prstGeom prst="rect">
            <a:avLst/>
          </a:prstGeom>
          <a:solidFill>
            <a:srgbClr val="922B21"/>
          </a:solidFill>
          <a:ln w="12700">
            <a:solidFill>
              <a:srgbClr val="922B21"/>
            </a:solidFill>
            <a:prstDash val="solid"/>
          </a:ln>
        </p:spPr>
        <p:txBody>
          <a:bodyPr/>
          <a:lstStyle/>
          <a:p>
            <a:endParaRPr lang="zh-CN" altLang="en-US"/>
          </a:p>
        </p:txBody>
      </p:sp>
      <p:sp>
        <p:nvSpPr>
          <p:cNvPr id="17" name="Text 15"/>
          <p:cNvSpPr/>
          <p:nvPr/>
        </p:nvSpPr>
        <p:spPr>
          <a:xfrm>
            <a:off x="3063240" y="2478024"/>
            <a:ext cx="5715000" cy="27432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20303" pitchFamily="34" charset="0"/>
                <a:ea typeface="Georgia" panose="02040502050405020303" pitchFamily="34" charset="0"/>
                <a:cs typeface="Georgia" panose="02040502050405020303" pitchFamily="34" charset="0"/>
              </a:rPr>
              <a:t>Rights Politics → Responsibility Politics</a:t>
            </a:r>
            <a:endParaRPr lang="en-US" sz="1200" dirty="0"/>
          </a:p>
        </p:txBody>
      </p:sp>
      <p:sp>
        <p:nvSpPr>
          <p:cNvPr id="18" name="Text 16"/>
          <p:cNvSpPr/>
          <p:nvPr/>
        </p:nvSpPr>
        <p:spPr>
          <a:xfrm>
            <a:off x="3063240" y="2852928"/>
            <a:ext cx="5715000" cy="896112"/>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Current global governance focuses on asserting rights. Rén asks: what are our obligations to those affected by our decisions? Introduce 'externality empathy' — assess how a policy harms vulnerable nations abroad.</a:t>
            </a:r>
            <a:endParaRPr lang="en-US" sz="1150" dirty="0"/>
          </a:p>
        </p:txBody>
      </p:sp>
      <p:sp>
        <p:nvSpPr>
          <p:cNvPr id="19" name="Shape 17"/>
          <p:cNvSpPr/>
          <p:nvPr/>
        </p:nvSpPr>
        <p:spPr>
          <a:xfrm>
            <a:off x="2971800" y="3931920"/>
            <a:ext cx="5897880" cy="777240"/>
          </a:xfrm>
          <a:prstGeom prst="rect">
            <a:avLst/>
          </a:prstGeom>
          <a:solidFill>
            <a:srgbClr val="FADBD8"/>
          </a:solidFill>
          <a:ln w="12700">
            <a:solidFill>
              <a:srgbClr val="C0392B"/>
            </a:solidFill>
            <a:prstDash val="solid"/>
          </a:ln>
        </p:spPr>
        <p:txBody>
          <a:bodyPr/>
          <a:lstStyle/>
          <a:p>
            <a:endParaRPr lang="zh-CN" altLang="en-US"/>
          </a:p>
        </p:txBody>
      </p:sp>
      <p:sp>
        <p:nvSpPr>
          <p:cNvPr id="20" name="Shape 18"/>
          <p:cNvSpPr/>
          <p:nvPr/>
        </p:nvSpPr>
        <p:spPr>
          <a:xfrm>
            <a:off x="2971800" y="3931920"/>
            <a:ext cx="64008" cy="777240"/>
          </a:xfrm>
          <a:prstGeom prst="rect">
            <a:avLst/>
          </a:prstGeom>
          <a:solidFill>
            <a:srgbClr val="C0392B"/>
          </a:solidFill>
          <a:ln w="12700">
            <a:solidFill>
              <a:srgbClr val="C0392B"/>
            </a:solidFill>
            <a:prstDash val="solid"/>
          </a:ln>
        </p:spPr>
        <p:txBody>
          <a:bodyPr/>
          <a:lstStyle/>
          <a:p>
            <a:endParaRPr lang="zh-CN" altLang="en-US"/>
          </a:p>
        </p:txBody>
      </p:sp>
      <p:sp>
        <p:nvSpPr>
          <p:cNvPr id="21" name="Text 19"/>
          <p:cNvSpPr/>
          <p:nvPr/>
        </p:nvSpPr>
        <p:spPr>
          <a:xfrm>
            <a:off x="3127248" y="4005072"/>
            <a:ext cx="5650992" cy="621792"/>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Reform of international institutions needs 不忍人之心 — a conscience that cannot bear to see others suffer — as its moral baseline, not only procedural fairness.</a:t>
            </a:r>
            <a:endParaRPr lang="en-US" sz="1150" dirty="0"/>
          </a:p>
        </p:txBody>
      </p:sp>
      <p:sp>
        <p:nvSpPr>
          <p:cNvPr id="22" name="Shape 20"/>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3" name="Text 21"/>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23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3" name="Text 1"/>
          <p:cNvSpPr/>
          <p:nvPr/>
        </p:nvSpPr>
        <p:spPr>
          <a:xfrm>
            <a:off x="7406640" y="155448"/>
            <a:ext cx="1554480" cy="256032"/>
          </a:xfrm>
          <a:prstGeom prst="rect">
            <a:avLst/>
          </a:prstGeom>
          <a:noFill/>
        </p:spPr>
        <p:txBody>
          <a:bodyPr wrap="square" lIns="0" tIns="0" rIns="0" bIns="0" rtlCol="0" anchor="ctr"/>
          <a:lstStyle/>
          <a:p>
            <a:pPr marL="0" indent="0" algn="r">
              <a:buNone/>
            </a:pPr>
            <a:r>
              <a:rPr lang="en-US" sz="900" i="1" kern="0" spc="200" dirty="0">
                <a:solidFill>
                  <a:srgbClr val="C0392B"/>
                </a:solidFill>
                <a:latin typeface="Calibri" panose="020F0502020204030204" pitchFamily="34" charset="0"/>
                <a:ea typeface="Calibri" panose="020F0502020204030204" pitchFamily="34" charset="0"/>
                <a:cs typeface="Calibri" panose="020F0502020204030204" pitchFamily="34" charset="0"/>
              </a:rPr>
              <a:t>SPEAKER 4</a:t>
            </a:r>
            <a:endParaRPr lang="en-US" sz="900" dirty="0"/>
          </a:p>
        </p:txBody>
      </p:sp>
      <p:sp>
        <p:nvSpPr>
          <p:cNvPr id="4" name="Shape 2"/>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5" name="Text 3"/>
          <p:cNvSpPr/>
          <p:nvPr/>
        </p:nvSpPr>
        <p:spPr>
          <a:xfrm>
            <a:off x="457200" y="128016"/>
            <a:ext cx="7132320" cy="621792"/>
          </a:xfrm>
          <a:prstGeom prst="rect">
            <a:avLst/>
          </a:prstGeom>
          <a:noFill/>
        </p:spPr>
        <p:txBody>
          <a:bodyPr wrap="square" lIns="0" tIns="0" rIns="0" bIns="0" rtlCol="0" anchor="ctr"/>
          <a:lstStyle/>
          <a:p>
            <a:pPr marL="0" indent="0">
              <a:buNone/>
            </a:pPr>
            <a:r>
              <a:rPr lang="en-US" sz="2800" b="1" dirty="0">
                <a:solidFill>
                  <a:srgbClr val="922B21"/>
                </a:solidFill>
                <a:latin typeface="Georgia" panose="02040502050405020303" pitchFamily="34" charset="0"/>
                <a:ea typeface="Georgia" panose="02040502050405020303" pitchFamily="34" charset="0"/>
                <a:cs typeface="Georgia" panose="02040502050405020303" pitchFamily="34" charset="0"/>
              </a:rPr>
              <a:t>Original Argument: Empathic Global Development</a:t>
            </a:r>
            <a:endParaRPr lang="en-US" sz="2800" dirty="0"/>
          </a:p>
        </p:txBody>
      </p:sp>
      <p:sp>
        <p:nvSpPr>
          <p:cNvPr id="6" name="Shape 4"/>
          <p:cNvSpPr/>
          <p:nvPr/>
        </p:nvSpPr>
        <p:spPr>
          <a:xfrm>
            <a:off x="457200" y="795528"/>
            <a:ext cx="8229600" cy="0"/>
          </a:xfrm>
          <a:prstGeom prst="line">
            <a:avLst/>
          </a:prstGeom>
          <a:noFill/>
          <a:ln w="12700">
            <a:solidFill>
              <a:srgbClr val="C0392B"/>
            </a:solidFill>
            <a:prstDash val="solid"/>
          </a:ln>
        </p:spPr>
        <p:txBody>
          <a:bodyPr/>
          <a:lstStyle/>
          <a:p>
            <a:endParaRPr lang="zh-CN" altLang="en-US"/>
          </a:p>
        </p:txBody>
      </p:sp>
      <p:sp>
        <p:nvSpPr>
          <p:cNvPr id="7" name="Text 5"/>
          <p:cNvSpPr/>
          <p:nvPr/>
        </p:nvSpPr>
        <p:spPr>
          <a:xfrm>
            <a:off x="457200" y="932688"/>
            <a:ext cx="8229600" cy="475488"/>
          </a:xfrm>
          <a:prstGeom prst="rect">
            <a:avLst/>
          </a:prstGeom>
          <a:noFill/>
        </p:spPr>
        <p:txBody>
          <a:bodyPr wrap="square" lIns="0" tIns="0" rIns="0" bIns="0" rtlCol="0" anchor="ctr"/>
          <a:lstStyle/>
          <a:p>
            <a:pPr marL="0" indent="0">
              <a:buNone/>
            </a:pPr>
            <a:r>
              <a:rPr lang="en-US" sz="1250" dirty="0">
                <a:solidFill>
                  <a:srgbClr val="2C2C2C"/>
                </a:solidFill>
                <a:latin typeface="Calibri" panose="020F0502020204030204" pitchFamily="34" charset="0"/>
                <a:ea typeface="Calibri" panose="020F0502020204030204" pitchFamily="34" charset="0"/>
                <a:cs typeface="Calibri" panose="020F0502020204030204" pitchFamily="34" charset="0"/>
              </a:rPr>
              <a:t>Solving global crises requires not only technical solutions, but decision-makers with the ability to 能近取譬 — to reason from nearby experience to distant suffering.</a:t>
            </a:r>
            <a:endParaRPr lang="en-US" sz="1250" dirty="0"/>
          </a:p>
        </p:txBody>
      </p:sp>
      <p:sp>
        <p:nvSpPr>
          <p:cNvPr id="8" name="Shape 6"/>
          <p:cNvSpPr/>
          <p:nvPr/>
        </p:nvSpPr>
        <p:spPr>
          <a:xfrm>
            <a:off x="365760" y="1536192"/>
            <a:ext cx="8412480" cy="89611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9" name="Shape 7"/>
          <p:cNvSpPr/>
          <p:nvPr/>
        </p:nvSpPr>
        <p:spPr>
          <a:xfrm>
            <a:off x="365760" y="1536192"/>
            <a:ext cx="64008" cy="896112"/>
          </a:xfrm>
          <a:prstGeom prst="rect">
            <a:avLst/>
          </a:prstGeom>
          <a:solidFill>
            <a:srgbClr val="C0392B"/>
          </a:solidFill>
          <a:ln w="12700">
            <a:solidFill>
              <a:srgbClr val="C0392B"/>
            </a:solidFill>
            <a:prstDash val="solid"/>
          </a:ln>
        </p:spPr>
        <p:txBody>
          <a:bodyPr/>
          <a:lstStyle/>
          <a:p>
            <a:endParaRPr lang="zh-CN" altLang="en-US"/>
          </a:p>
        </p:txBody>
      </p:sp>
      <p:sp>
        <p:nvSpPr>
          <p:cNvPr id="10" name="Text 8"/>
          <p:cNvSpPr/>
          <p:nvPr/>
        </p:nvSpPr>
        <p:spPr>
          <a:xfrm>
            <a:off x="502920" y="1737360"/>
            <a:ext cx="475488" cy="475488"/>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11" name="Text 9"/>
          <p:cNvSpPr/>
          <p:nvPr/>
        </p:nvSpPr>
        <p:spPr>
          <a:xfrm>
            <a:off x="1051560" y="1627632"/>
            <a:ext cx="4114800" cy="292608"/>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Global Policy Externality Assessment</a:t>
            </a:r>
            <a:endParaRPr lang="en-US" sz="1300" dirty="0"/>
          </a:p>
        </p:txBody>
      </p:sp>
      <p:sp>
        <p:nvSpPr>
          <p:cNvPr id="12" name="Text 10"/>
          <p:cNvSpPr/>
          <p:nvPr/>
        </p:nvSpPr>
        <p:spPr>
          <a:xfrm>
            <a:off x="1051560" y="1956816"/>
            <a:ext cx="7589520" cy="384048"/>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Establish a mechanism to quantify how one country's domestic and foreign decisions impact the poorest people in other nations. Make the invisible visible.</a:t>
            </a:r>
            <a:endParaRPr lang="en-US" sz="1150" dirty="0"/>
          </a:p>
        </p:txBody>
      </p:sp>
      <p:sp>
        <p:nvSpPr>
          <p:cNvPr id="13" name="Shape 11"/>
          <p:cNvSpPr/>
          <p:nvPr/>
        </p:nvSpPr>
        <p:spPr>
          <a:xfrm>
            <a:off x="365760" y="2560320"/>
            <a:ext cx="8412480" cy="89611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4" name="Shape 12"/>
          <p:cNvSpPr/>
          <p:nvPr/>
        </p:nvSpPr>
        <p:spPr>
          <a:xfrm>
            <a:off x="365760" y="2560320"/>
            <a:ext cx="64008" cy="896112"/>
          </a:xfrm>
          <a:prstGeom prst="rect">
            <a:avLst/>
          </a:prstGeom>
          <a:solidFill>
            <a:srgbClr val="C0392B"/>
          </a:solidFill>
          <a:ln w="12700">
            <a:solidFill>
              <a:srgbClr val="C0392B"/>
            </a:solidFill>
            <a:prstDash val="solid"/>
          </a:ln>
        </p:spPr>
        <p:txBody>
          <a:bodyPr/>
          <a:lstStyle/>
          <a:p>
            <a:endParaRPr lang="zh-CN" altLang="en-US"/>
          </a:p>
        </p:txBody>
      </p:sp>
      <p:sp>
        <p:nvSpPr>
          <p:cNvPr id="15" name="Text 13"/>
          <p:cNvSpPr/>
          <p:nvPr/>
        </p:nvSpPr>
        <p:spPr>
          <a:xfrm>
            <a:off x="502920" y="2761488"/>
            <a:ext cx="475488" cy="475488"/>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16" name="Text 14"/>
          <p:cNvSpPr/>
          <p:nvPr/>
        </p:nvSpPr>
        <p:spPr>
          <a:xfrm>
            <a:off x="1051560" y="2651760"/>
            <a:ext cx="4114800" cy="292608"/>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City Diplomacy &amp; Civic Empathy</a:t>
            </a:r>
            <a:endParaRPr lang="en-US" sz="1300" dirty="0"/>
          </a:p>
        </p:txBody>
      </p:sp>
      <p:sp>
        <p:nvSpPr>
          <p:cNvPr id="17" name="Text 15"/>
          <p:cNvSpPr/>
          <p:nvPr/>
        </p:nvSpPr>
        <p:spPr>
          <a:xfrm>
            <a:off x="1051560" y="2980944"/>
            <a:ext cx="7589520" cy="384048"/>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Urban networks and civil society should become supplementary channels for global governance — connecting people across borders at a human level, not just a state level.</a:t>
            </a:r>
            <a:endParaRPr lang="en-US" sz="1150" dirty="0"/>
          </a:p>
        </p:txBody>
      </p:sp>
      <p:sp>
        <p:nvSpPr>
          <p:cNvPr id="18" name="Shape 16"/>
          <p:cNvSpPr/>
          <p:nvPr/>
        </p:nvSpPr>
        <p:spPr>
          <a:xfrm>
            <a:off x="365760" y="3584448"/>
            <a:ext cx="8412480" cy="896112"/>
          </a:xfrm>
          <a:prstGeom prst="rect">
            <a:avLst/>
          </a:prstGeom>
          <a:solidFill>
            <a:srgbClr val="FFFFFF"/>
          </a:solidFill>
          <a:ln w="12700">
            <a:solidFill>
              <a:srgbClr val="E0D0C0"/>
            </a:solidFill>
            <a:prstDash val="solid"/>
          </a:ln>
          <a:effectLst>
            <a:outerShdw blurRad="88900" dist="25400" dir="8100000" algn="bl" rotWithShape="0">
              <a:srgbClr val="000000">
                <a:alpha val="9000"/>
              </a:srgbClr>
            </a:outerShdw>
          </a:effectLst>
        </p:spPr>
        <p:txBody>
          <a:bodyPr/>
          <a:lstStyle/>
          <a:p>
            <a:endParaRPr lang="zh-CN" altLang="en-US"/>
          </a:p>
        </p:txBody>
      </p:sp>
      <p:sp>
        <p:nvSpPr>
          <p:cNvPr id="19" name="Shape 17"/>
          <p:cNvSpPr/>
          <p:nvPr/>
        </p:nvSpPr>
        <p:spPr>
          <a:xfrm>
            <a:off x="365760" y="3584448"/>
            <a:ext cx="64008" cy="896112"/>
          </a:xfrm>
          <a:prstGeom prst="rect">
            <a:avLst/>
          </a:prstGeom>
          <a:solidFill>
            <a:srgbClr val="C0392B"/>
          </a:solidFill>
          <a:ln w="12700">
            <a:solidFill>
              <a:srgbClr val="C0392B"/>
            </a:solidFill>
            <a:prstDash val="solid"/>
          </a:ln>
        </p:spPr>
        <p:txBody>
          <a:bodyPr/>
          <a:lstStyle/>
          <a:p>
            <a:endParaRPr lang="zh-CN" altLang="en-US"/>
          </a:p>
        </p:txBody>
      </p:sp>
      <p:sp>
        <p:nvSpPr>
          <p:cNvPr id="20" name="Text 18"/>
          <p:cNvSpPr/>
          <p:nvPr/>
        </p:nvSpPr>
        <p:spPr>
          <a:xfrm>
            <a:off x="502920" y="3785616"/>
            <a:ext cx="475488" cy="475488"/>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21" name="Text 19"/>
          <p:cNvSpPr/>
          <p:nvPr/>
        </p:nvSpPr>
        <p:spPr>
          <a:xfrm>
            <a:off x="1051560" y="3675888"/>
            <a:ext cx="4114800" cy="292608"/>
          </a:xfrm>
          <a:prstGeom prst="rect">
            <a:avLst/>
          </a:prstGeom>
          <a:noFill/>
        </p:spPr>
        <p:txBody>
          <a:bodyPr wrap="square" lIns="0" tIns="0" rIns="0" bIns="0" rtlCol="0" anchor="ctr"/>
          <a:lstStyle/>
          <a:p>
            <a:pPr marL="0" indent="0">
              <a:buNone/>
            </a:pPr>
            <a:r>
              <a:rPr lang="en-US" sz="1300" b="1" dirty="0">
                <a:solidFill>
                  <a:srgbClr val="922B21"/>
                </a:solidFill>
                <a:latin typeface="Georgia" panose="02040502050405020303" pitchFamily="34" charset="0"/>
                <a:ea typeface="Georgia" panose="02040502050405020303" pitchFamily="34" charset="0"/>
                <a:cs typeface="Georgia" panose="02040502050405020303" pitchFamily="34" charset="0"/>
              </a:rPr>
              <a:t>Restore sensitivity to distant suffering</a:t>
            </a:r>
            <a:endParaRPr lang="en-US" sz="1300" dirty="0"/>
          </a:p>
        </p:txBody>
      </p:sp>
      <p:sp>
        <p:nvSpPr>
          <p:cNvPr id="22" name="Text 20"/>
          <p:cNvSpPr/>
          <p:nvPr/>
        </p:nvSpPr>
        <p:spPr>
          <a:xfrm>
            <a:off x="1051560" y="4005072"/>
            <a:ext cx="7589520" cy="384048"/>
          </a:xfrm>
          <a:prstGeom prst="rect">
            <a:avLst/>
          </a:prstGeom>
          <a:noFill/>
        </p:spPr>
        <p:txBody>
          <a:bodyPr wrap="square" lIns="0" tIns="0" rIns="0" bIns="0" rtlCol="0" anchor="ctr"/>
          <a:lstStyle/>
          <a:p>
            <a:pPr marL="0" indent="0">
              <a:buNone/>
            </a:pPr>
            <a:r>
              <a:rPr lang="en-US" sz="1150" dirty="0">
                <a:solidFill>
                  <a:srgbClr val="2C2C2C"/>
                </a:solidFill>
                <a:latin typeface="Calibri" panose="020F0502020204030204" pitchFamily="34" charset="0"/>
                <a:ea typeface="Calibri" panose="020F0502020204030204" pitchFamily="34" charset="0"/>
                <a:cs typeface="Calibri" panose="020F0502020204030204" pitchFamily="34" charset="0"/>
              </a:rPr>
              <a:t>Leaders must cultivate the capacity to feel what others feel across borders. Rén is not a foreign policy strategy — it is a precondition for any genuine strategy.</a:t>
            </a:r>
            <a:endParaRPr lang="en-US" sz="1150" dirty="0"/>
          </a:p>
        </p:txBody>
      </p:sp>
      <p:sp>
        <p:nvSpPr>
          <p:cNvPr id="23" name="Shape 21"/>
          <p:cNvSpPr/>
          <p:nvPr/>
        </p:nvSpPr>
        <p:spPr>
          <a:xfrm>
            <a:off x="0" y="4846320"/>
            <a:ext cx="9144000" cy="292608"/>
          </a:xfrm>
          <a:prstGeom prst="rect">
            <a:avLst/>
          </a:prstGeom>
          <a:solidFill>
            <a:srgbClr val="F0E8E0"/>
          </a:solidFill>
          <a:ln w="12700">
            <a:solidFill>
              <a:srgbClr val="E0D0C0"/>
            </a:solidFill>
            <a:prstDash val="solid"/>
          </a:ln>
        </p:spPr>
        <p:txBody>
          <a:bodyPr/>
          <a:lstStyle/>
          <a:p>
            <a:endParaRPr lang="zh-CN" altLang="en-US"/>
          </a:p>
        </p:txBody>
      </p:sp>
      <p:sp>
        <p:nvSpPr>
          <p:cNvPr id="24" name="Text 22"/>
          <p:cNvSpPr/>
          <p:nvPr/>
        </p:nvSpPr>
        <p:spPr>
          <a:xfrm>
            <a:off x="7772400" y="4873752"/>
            <a:ext cx="1188720" cy="228600"/>
          </a:xfrm>
          <a:prstGeom prst="rect">
            <a:avLst/>
          </a:prstGeom>
          <a:noFill/>
        </p:spPr>
        <p:txBody>
          <a:bodyPr wrap="square" lIns="0" tIns="0" rIns="0" bIns="0" rtlCol="0" anchor="ctr"/>
          <a:lstStyle/>
          <a:p>
            <a:pPr marL="0" indent="0" algn="r">
              <a:buNone/>
            </a:pPr>
            <a:r>
              <a:rPr lang="en-US" sz="900" dirty="0">
                <a:solidFill>
                  <a:srgbClr val="7F8C8D"/>
                </a:solidFill>
                <a:latin typeface="Calibri" panose="020F0502020204030204" pitchFamily="34" charset="0"/>
                <a:ea typeface="Calibri" panose="020F0502020204030204" pitchFamily="34" charset="0"/>
                <a:cs typeface="Calibri" panose="020F0502020204030204" pitchFamily="34" charset="0"/>
              </a:rPr>
              <a:t>24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0A0A"/>
        </a:solidFill>
        <a:effectLst/>
      </p:bgPr>
    </p:bg>
    <p:spTree>
      <p:nvGrpSpPr>
        <p:cNvPr id="1" name=""/>
        <p:cNvGrpSpPr/>
        <p:nvPr/>
      </p:nvGrpSpPr>
      <p:grpSpPr>
        <a:xfrm>
          <a:off x="0" y="0"/>
          <a:ext cx="0" cy="0"/>
          <a:chOff x="0" y="0"/>
          <a:chExt cx="0" cy="0"/>
        </a:xfrm>
      </p:grpSpPr>
      <p:sp>
        <p:nvSpPr>
          <p:cNvPr id="2" name="Shape 0"/>
          <p:cNvSpPr/>
          <p:nvPr/>
        </p:nvSpPr>
        <p:spPr>
          <a:xfrm>
            <a:off x="-1097280" y="-914400"/>
            <a:ext cx="5943600" cy="5943600"/>
          </a:xfrm>
          <a:prstGeom prst="ellipse">
            <a:avLst/>
          </a:prstGeom>
          <a:solidFill>
            <a:srgbClr val="C0392B">
              <a:alpha val="22000"/>
            </a:srgbClr>
          </a:solidFill>
          <a:ln w="12700">
            <a:solidFill>
              <a:srgbClr val="C0392B"/>
            </a:solidFill>
            <a:prstDash val="solid"/>
          </a:ln>
        </p:spPr>
        <p:txBody>
          <a:bodyPr/>
          <a:lstStyle/>
          <a:p>
            <a:endParaRPr lang="zh-CN" altLang="en-US"/>
          </a:p>
        </p:txBody>
      </p:sp>
      <p:sp>
        <p:nvSpPr>
          <p:cNvPr id="3" name="Shape 1"/>
          <p:cNvSpPr/>
          <p:nvPr/>
        </p:nvSpPr>
        <p:spPr>
          <a:xfrm>
            <a:off x="5029200" y="914400"/>
            <a:ext cx="5669280" cy="5669280"/>
          </a:xfrm>
          <a:prstGeom prst="ellipse">
            <a:avLst/>
          </a:prstGeom>
          <a:solidFill>
            <a:srgbClr val="7B0000">
              <a:alpha val="20000"/>
            </a:srgbClr>
          </a:solidFill>
          <a:ln w="12700">
            <a:solidFill>
              <a:srgbClr val="7B0000"/>
            </a:solidFill>
            <a:prstDash val="solid"/>
          </a:ln>
        </p:spPr>
        <p:txBody>
          <a:bodyPr/>
          <a:lstStyle/>
          <a:p>
            <a:endParaRPr lang="zh-CN" altLang="en-US"/>
          </a:p>
        </p:txBody>
      </p:sp>
      <p:sp>
        <p:nvSpPr>
          <p:cNvPr id="4" name="Shape 2"/>
          <p:cNvSpPr/>
          <p:nvPr/>
        </p:nvSpPr>
        <p:spPr>
          <a:xfrm>
            <a:off x="6858000" y="-457200"/>
            <a:ext cx="3200400" cy="3200400"/>
          </a:xfrm>
          <a:prstGeom prst="ellipse">
            <a:avLst/>
          </a:prstGeom>
          <a:solidFill>
            <a:srgbClr val="C0392B">
              <a:alpha val="15000"/>
            </a:srgbClr>
          </a:solidFill>
          <a:ln w="12700">
            <a:solidFill>
              <a:srgbClr val="C0392B"/>
            </a:solidFill>
            <a:prstDash val="solid"/>
          </a:ln>
        </p:spPr>
        <p:txBody>
          <a:bodyPr/>
          <a:lstStyle/>
          <a:p>
            <a:endParaRPr lang="zh-CN" altLang="en-US"/>
          </a:p>
        </p:txBody>
      </p:sp>
      <p:sp>
        <p:nvSpPr>
          <p:cNvPr id="5" name="Shape 3"/>
          <p:cNvSpPr/>
          <p:nvPr/>
        </p:nvSpPr>
        <p:spPr>
          <a:xfrm>
            <a:off x="0" y="0"/>
            <a:ext cx="9144000" cy="64008"/>
          </a:xfrm>
          <a:prstGeom prst="rect">
            <a:avLst/>
          </a:prstGeom>
          <a:solidFill>
            <a:srgbClr val="C0392B"/>
          </a:solidFill>
          <a:ln w="12700">
            <a:solidFill>
              <a:srgbClr val="C0392B"/>
            </a:solidFill>
            <a:prstDash val="solid"/>
          </a:ln>
        </p:spPr>
        <p:txBody>
          <a:bodyPr/>
          <a:lstStyle/>
          <a:p>
            <a:endParaRPr lang="zh-CN" altLang="en-US"/>
          </a:p>
        </p:txBody>
      </p:sp>
      <p:sp>
        <p:nvSpPr>
          <p:cNvPr id="6" name="Text 4"/>
          <p:cNvSpPr/>
          <p:nvPr/>
        </p:nvSpPr>
        <p:spPr>
          <a:xfrm>
            <a:off x="182880" y="137160"/>
            <a:ext cx="3474720" cy="4663440"/>
          </a:xfrm>
          <a:prstGeom prst="rect">
            <a:avLst/>
          </a:prstGeom>
          <a:noFill/>
        </p:spPr>
        <p:txBody>
          <a:bodyPr wrap="square" lIns="0" tIns="0" rIns="0" bIns="0" rtlCol="0" anchor="ctr"/>
          <a:lstStyle/>
          <a:p>
            <a:pPr marL="0" indent="0" algn="ctr">
              <a:buNone/>
            </a:pPr>
            <a:r>
              <a:rPr lang="en-US" sz="21500" dirty="0">
                <a:solidFill>
                  <a:srgbClr val="C0392B">
                    <a:alpha val="88000"/>
                  </a:srgbClr>
                </a:solidFill>
                <a:latin typeface="Georgia" panose="02040502050405020303" pitchFamily="34" charset="0"/>
                <a:ea typeface="Georgia" panose="02040502050405020303" pitchFamily="34" charset="0"/>
                <a:cs typeface="Georgia" panose="02040502050405020303" pitchFamily="34" charset="0"/>
              </a:rPr>
              <a:t>仁</a:t>
            </a:r>
            <a:endParaRPr lang="en-US" sz="21500" dirty="0"/>
          </a:p>
        </p:txBody>
      </p:sp>
      <p:sp>
        <p:nvSpPr>
          <p:cNvPr id="7" name="Text 5"/>
          <p:cNvSpPr/>
          <p:nvPr/>
        </p:nvSpPr>
        <p:spPr>
          <a:xfrm>
            <a:off x="3749040" y="594360"/>
            <a:ext cx="5120640" cy="548640"/>
          </a:xfrm>
          <a:prstGeom prst="rect">
            <a:avLst/>
          </a:prstGeom>
          <a:noFill/>
        </p:spPr>
        <p:txBody>
          <a:bodyPr wrap="square" lIns="0" tIns="0" rIns="0" bIns="0" rtlCol="0" anchor="ctr"/>
          <a:lstStyle/>
          <a:p>
            <a:pPr marL="0" indent="0">
              <a:buNone/>
            </a:pPr>
            <a:r>
              <a:rPr lang="en-US" sz="2400" b="1" dirty="0">
                <a:solidFill>
                  <a:srgbClr val="FFFFFF"/>
                </a:solidFill>
                <a:latin typeface="Georgia" panose="02040502050405020303" pitchFamily="34" charset="0"/>
                <a:ea typeface="Georgia" panose="02040502050405020303" pitchFamily="34" charset="0"/>
                <a:cs typeface="Georgia" panose="02040502050405020303" pitchFamily="34" charset="0"/>
              </a:rPr>
              <a:t>Rén in Political Civilisation</a:t>
            </a:r>
            <a:endParaRPr lang="en-US" sz="2400" dirty="0"/>
          </a:p>
        </p:txBody>
      </p:sp>
      <p:sp>
        <p:nvSpPr>
          <p:cNvPr id="8" name="Shape 6"/>
          <p:cNvSpPr/>
          <p:nvPr/>
        </p:nvSpPr>
        <p:spPr>
          <a:xfrm>
            <a:off x="3749040" y="1234440"/>
            <a:ext cx="5029200" cy="0"/>
          </a:xfrm>
          <a:prstGeom prst="line">
            <a:avLst/>
          </a:prstGeom>
          <a:noFill/>
          <a:ln w="19050">
            <a:solidFill>
              <a:srgbClr val="C9A84C"/>
            </a:solidFill>
            <a:prstDash val="solid"/>
          </a:ln>
        </p:spPr>
        <p:txBody>
          <a:bodyPr/>
          <a:lstStyle/>
          <a:p>
            <a:endParaRPr lang="zh-CN" altLang="en-US"/>
          </a:p>
        </p:txBody>
      </p:sp>
      <p:sp>
        <p:nvSpPr>
          <p:cNvPr id="9" name="Shape 7"/>
          <p:cNvSpPr/>
          <p:nvPr/>
        </p:nvSpPr>
        <p:spPr>
          <a:xfrm>
            <a:off x="3749040" y="1389888"/>
            <a:ext cx="54864" cy="658368"/>
          </a:xfrm>
          <a:prstGeom prst="rect">
            <a:avLst/>
          </a:prstGeom>
          <a:solidFill>
            <a:srgbClr val="C9A84C"/>
          </a:solidFill>
          <a:ln w="12700">
            <a:solidFill>
              <a:srgbClr val="C9A84C"/>
            </a:solidFill>
            <a:prstDash val="solid"/>
          </a:ln>
        </p:spPr>
        <p:txBody>
          <a:bodyPr/>
          <a:lstStyle/>
          <a:p>
            <a:endParaRPr lang="zh-CN" altLang="en-US"/>
          </a:p>
        </p:txBody>
      </p:sp>
      <p:sp>
        <p:nvSpPr>
          <p:cNvPr id="10" name="Text 8"/>
          <p:cNvSpPr/>
          <p:nvPr/>
        </p:nvSpPr>
        <p:spPr>
          <a:xfrm>
            <a:off x="3895344" y="1444752"/>
            <a:ext cx="4974336" cy="502920"/>
          </a:xfrm>
          <a:prstGeom prst="rect">
            <a:avLst/>
          </a:prstGeom>
          <a:noFill/>
        </p:spPr>
        <p:txBody>
          <a:bodyPr wrap="square" lIns="0" tIns="0" rIns="0" bIns="0" rtlCol="0" anchor="ctr"/>
          <a:lstStyle/>
          <a:p>
            <a:pPr marL="0" indent="0">
              <a:buNone/>
            </a:pPr>
            <a:r>
              <a:rPr lang="en-US" sz="1400" dirty="0">
                <a:solidFill>
                  <a:srgbClr val="FFFFFF"/>
                </a:solidFill>
                <a:latin typeface="Georgia" panose="02040502050405020303" pitchFamily="34" charset="0"/>
                <a:ea typeface="Georgia" panose="02040502050405020303" pitchFamily="34" charset="0"/>
                <a:cs typeface="Georgia" panose="02040502050405020303" pitchFamily="34" charset="0"/>
              </a:rPr>
              <a:t>From campus to community — Rén is the hand that institutions extend.</a:t>
            </a:r>
            <a:endParaRPr lang="en-US" sz="1400" dirty="0"/>
          </a:p>
        </p:txBody>
      </p:sp>
      <p:sp>
        <p:nvSpPr>
          <p:cNvPr id="11" name="Shape 9"/>
          <p:cNvSpPr/>
          <p:nvPr/>
        </p:nvSpPr>
        <p:spPr>
          <a:xfrm>
            <a:off x="3749040" y="2304288"/>
            <a:ext cx="54864" cy="658368"/>
          </a:xfrm>
          <a:prstGeom prst="rect">
            <a:avLst/>
          </a:prstGeom>
          <a:solidFill>
            <a:srgbClr val="C9A84C"/>
          </a:solidFill>
          <a:ln w="12700">
            <a:solidFill>
              <a:srgbClr val="C9A84C"/>
            </a:solidFill>
            <a:prstDash val="solid"/>
          </a:ln>
        </p:spPr>
        <p:txBody>
          <a:bodyPr/>
          <a:lstStyle/>
          <a:p>
            <a:endParaRPr lang="zh-CN" altLang="en-US"/>
          </a:p>
        </p:txBody>
      </p:sp>
      <p:sp>
        <p:nvSpPr>
          <p:cNvPr id="12" name="Text 10"/>
          <p:cNvSpPr/>
          <p:nvPr/>
        </p:nvSpPr>
        <p:spPr>
          <a:xfrm>
            <a:off x="3895344" y="2359152"/>
            <a:ext cx="4974336" cy="502920"/>
          </a:xfrm>
          <a:prstGeom prst="rect">
            <a:avLst/>
          </a:prstGeom>
          <a:noFill/>
        </p:spPr>
        <p:txBody>
          <a:bodyPr wrap="square" lIns="0" tIns="0" rIns="0" bIns="0" rtlCol="0" anchor="ctr"/>
          <a:lstStyle/>
          <a:p>
            <a:pPr marL="0" indent="0">
              <a:buNone/>
            </a:pPr>
            <a:r>
              <a:rPr lang="en-US" sz="1400" dirty="0">
                <a:solidFill>
                  <a:srgbClr val="FFFFFF"/>
                </a:solidFill>
                <a:latin typeface="Georgia" panose="02040502050405020303" pitchFamily="34" charset="0"/>
                <a:ea typeface="Georgia" panose="02040502050405020303" pitchFamily="34" charset="0"/>
                <a:cs typeface="Georgia" panose="02040502050405020303" pitchFamily="34" charset="0"/>
              </a:rPr>
              <a:t>From borders to the global — Rén is the moral floor that survives even in war.</a:t>
            </a:r>
            <a:endParaRPr lang="en-US" sz="1400" dirty="0"/>
          </a:p>
        </p:txBody>
      </p:sp>
      <p:sp>
        <p:nvSpPr>
          <p:cNvPr id="13" name="Shape 11"/>
          <p:cNvSpPr/>
          <p:nvPr/>
        </p:nvSpPr>
        <p:spPr>
          <a:xfrm>
            <a:off x="3749040" y="3218688"/>
            <a:ext cx="54864" cy="658368"/>
          </a:xfrm>
          <a:prstGeom prst="rect">
            <a:avLst/>
          </a:prstGeom>
          <a:solidFill>
            <a:srgbClr val="C9A84C"/>
          </a:solidFill>
          <a:ln w="12700">
            <a:solidFill>
              <a:srgbClr val="C9A84C"/>
            </a:solidFill>
            <a:prstDash val="solid"/>
          </a:ln>
        </p:spPr>
        <p:txBody>
          <a:bodyPr/>
          <a:lstStyle/>
          <a:p>
            <a:endParaRPr lang="zh-CN" altLang="en-US"/>
          </a:p>
        </p:txBody>
      </p:sp>
      <p:sp>
        <p:nvSpPr>
          <p:cNvPr id="14" name="Text 12"/>
          <p:cNvSpPr/>
          <p:nvPr/>
        </p:nvSpPr>
        <p:spPr>
          <a:xfrm>
            <a:off x="3895344" y="3273552"/>
            <a:ext cx="4974336" cy="502920"/>
          </a:xfrm>
          <a:prstGeom prst="rect">
            <a:avLst/>
          </a:prstGeom>
          <a:noFill/>
        </p:spPr>
        <p:txBody>
          <a:bodyPr wrap="square" lIns="0" tIns="0" rIns="0" bIns="0" rtlCol="0" anchor="ctr"/>
          <a:lstStyle/>
          <a:p>
            <a:pPr marL="0" indent="0">
              <a:buNone/>
            </a:pPr>
            <a:r>
              <a:rPr lang="en-US" sz="1400" dirty="0">
                <a:solidFill>
                  <a:srgbClr val="FFFFFF"/>
                </a:solidFill>
                <a:latin typeface="Georgia" panose="02040502050405020303" pitchFamily="34" charset="0"/>
                <a:ea typeface="Georgia" panose="02040502050405020303" pitchFamily="34" charset="0"/>
                <a:cs typeface="Georgia" panose="02040502050405020303" pitchFamily="34" charset="0"/>
              </a:rPr>
              <a:t>Across species — Rén begins with people, but does not end there.</a:t>
            </a:r>
            <a:endParaRPr lang="en-US" sz="1400" dirty="0"/>
          </a:p>
        </p:txBody>
      </p:sp>
      <p:sp>
        <p:nvSpPr>
          <p:cNvPr id="15" name="Text 13"/>
          <p:cNvSpPr/>
          <p:nvPr/>
        </p:nvSpPr>
        <p:spPr>
          <a:xfrm>
            <a:off x="3749040" y="4315968"/>
            <a:ext cx="5120640" cy="347472"/>
          </a:xfrm>
          <a:prstGeom prst="rect">
            <a:avLst/>
          </a:prstGeom>
          <a:noFill/>
        </p:spPr>
        <p:txBody>
          <a:bodyPr wrap="square" lIns="0" tIns="0" rIns="0" bIns="0" rtlCol="0" anchor="ctr"/>
          <a:lstStyle/>
          <a:p>
            <a:pPr marL="0" indent="0">
              <a:buNone/>
            </a:pPr>
            <a:r>
              <a:rPr lang="en-US" sz="1300" dirty="0">
                <a:solidFill>
                  <a:srgbClr val="C9A84C"/>
                </a:solidFill>
                <a:latin typeface="Calibri" panose="020F0502020204030204" pitchFamily="34" charset="0"/>
                <a:ea typeface="Calibri" panose="020F0502020204030204" pitchFamily="34" charset="0"/>
                <a:cs typeface="Calibri" panose="020F0502020204030204" pitchFamily="34" charset="0"/>
              </a:rPr>
              <a:t>谢谢聆听  ·  Thank You  ·  Questions Welcome</a:t>
            </a:r>
            <a:endParaRPr lang="en-US" sz="1300" dirty="0"/>
          </a:p>
        </p:txBody>
      </p:sp>
      <p:sp>
        <p:nvSpPr>
          <p:cNvPr id="16" name="Shape 14"/>
          <p:cNvSpPr/>
          <p:nvPr/>
        </p:nvSpPr>
        <p:spPr>
          <a:xfrm>
            <a:off x="0" y="4846320"/>
            <a:ext cx="9144000" cy="292608"/>
          </a:xfrm>
          <a:prstGeom prst="rect">
            <a:avLst/>
          </a:prstGeom>
          <a:solidFill>
            <a:srgbClr val="C0392B">
              <a:alpha val="65000"/>
            </a:srgbClr>
          </a:solidFill>
          <a:ln w="12700">
            <a:solidFill>
              <a:srgbClr val="C0392B"/>
            </a:solidFill>
            <a:prstDash val="solid"/>
          </a:ln>
        </p:spPr>
        <p:txBody>
          <a:bodyPr/>
          <a:lstStyle/>
          <a:p>
            <a:endParaRPr lang="zh-CN" altLang="en-US"/>
          </a:p>
        </p:txBody>
      </p:sp>
      <p:sp>
        <p:nvSpPr>
          <p:cNvPr id="17" name="Text 15"/>
          <p:cNvSpPr/>
          <p:nvPr/>
        </p:nvSpPr>
        <p:spPr>
          <a:xfrm>
            <a:off x="0" y="4864608"/>
            <a:ext cx="9144000" cy="237744"/>
          </a:xfrm>
          <a:prstGeom prst="rect">
            <a:avLst/>
          </a:prstGeom>
          <a:noFill/>
        </p:spPr>
        <p:txBody>
          <a:bodyPr wrap="square" lIns="0" tIns="0" rIns="0" bIns="0" rtlCol="0" anchor="ctr"/>
          <a:lstStyle/>
          <a:p>
            <a:pPr marL="0" indent="0" algn="ctr">
              <a:buNone/>
            </a:pPr>
            <a:r>
              <a:rPr lang="en-US" sz="1200" kern="0" spc="300" dirty="0">
                <a:solidFill>
                  <a:srgbClr val="FFFFFF"/>
                </a:solidFill>
                <a:latin typeface="Calibri" panose="020F0502020204030204" pitchFamily="34" charset="0"/>
                <a:ea typeface="Calibri" panose="020F0502020204030204" pitchFamily="34" charset="0"/>
                <a:cs typeface="Calibri" panose="020F0502020204030204" pitchFamily="34" charset="0"/>
              </a:rPr>
              <a:t>T h a n k   y o 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10239</Words>
  <Application>WPS 演示</Application>
  <PresentationFormat>全屏显示(16:9)</PresentationFormat>
  <Paragraphs>567</Paragraphs>
  <Slides>24</Slides>
  <Notes>26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Arial</vt:lpstr>
      <vt:lpstr>宋体</vt:lpstr>
      <vt:lpstr>Wingdings</vt:lpstr>
      <vt:lpstr>Georgia</vt:lpstr>
      <vt:lpstr>Calibri</vt:lpstr>
      <vt:lpstr>等线</vt:lpstr>
      <vt:lpstr>微软雅黑</vt:lpstr>
      <vt:lpstr>Arial Unicode MS</vt:lpstr>
      <vt:lpstr>BatangChe</vt:lpstr>
      <vt:lpstr>Segoe Print</vt:lpstr>
      <vt:lpstr>Nirmala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WPS_1668859312</cp:lastModifiedBy>
  <cp:revision>3</cp:revision>
  <dcterms:created xsi:type="dcterms:W3CDTF">1900-01-01T00:00:00Z</dcterms:created>
  <dcterms:modified xsi:type="dcterms:W3CDTF">2026-04-25T14:32:13Z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9B92ABBF2E734D4E84FC6AD2BE443FC1_13</vt:lpwstr>
  </property>
  <property fmtid="{D5CDD505-2E9C-101B-9397-08002B2CF9AE}" pid="3" name="KSOProductBuildVer">
    <vt:lpwstr>2052-12.1.0.25865</vt:lpwstr>
  </property>
</Properties>
</file>